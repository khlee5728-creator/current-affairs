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79" r:id="rId3"/>
    <p:sldId id="261" r:id="rId4"/>
    <p:sldId id="475" r:id="rId5"/>
    <p:sldId id="476" r:id="rId6"/>
    <p:sldId id="499" r:id="rId7"/>
    <p:sldId id="498" r:id="rId8"/>
    <p:sldId id="378" r:id="rId9"/>
    <p:sldId id="420" r:id="rId10"/>
    <p:sldId id="478" r:id="rId11"/>
    <p:sldId id="479" r:id="rId12"/>
    <p:sldId id="463" r:id="rId13"/>
    <p:sldId id="481" r:id="rId14"/>
    <p:sldId id="491" r:id="rId15"/>
    <p:sldId id="496" r:id="rId16"/>
    <p:sldId id="493" r:id="rId17"/>
    <p:sldId id="494" r:id="rId18"/>
    <p:sldId id="495" r:id="rId19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Righteous" panose="020B0600000101010101" charset="0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9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 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사회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다이어트 </a:t>
            </a:r>
            <a:r>
              <a:rPr lang="en-US" altLang="ko-KR" b="1" dirty="0"/>
              <a:t>/ </a:t>
            </a:r>
            <a:r>
              <a:rPr lang="ko-KR" altLang="en-US" b="1" dirty="0"/>
              <a:t>아동학대</a:t>
            </a:r>
            <a:r>
              <a:rPr lang="en-US" altLang="ko-KR" b="1" dirty="0"/>
              <a:t>, </a:t>
            </a:r>
            <a:r>
              <a:rPr lang="ko-KR" altLang="en-US" b="1" dirty="0"/>
              <a:t>아동 성범죄 </a:t>
            </a:r>
            <a:r>
              <a:rPr lang="en-US" altLang="ko-KR" b="1" dirty="0"/>
              <a:t>/ </a:t>
            </a:r>
            <a:r>
              <a:rPr lang="ko-KR" altLang="en-US" b="1" dirty="0"/>
              <a:t>청소년 게임중독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 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재귀대명사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사회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5144372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다이어트 </a:t>
            </a:r>
            <a:r>
              <a:rPr lang="en-US" altLang="ko-KR" dirty="0"/>
              <a:t>/ </a:t>
            </a:r>
            <a:r>
              <a:rPr lang="ko-KR" altLang="en-US" dirty="0"/>
              <a:t>아동학대</a:t>
            </a:r>
            <a:r>
              <a:rPr lang="en-US" altLang="ko-KR" dirty="0"/>
              <a:t>, </a:t>
            </a:r>
            <a:r>
              <a:rPr lang="ko-KR" altLang="en-US" dirty="0"/>
              <a:t>아동 성범죄 </a:t>
            </a:r>
            <a:r>
              <a:rPr lang="en-US" altLang="ko-KR" dirty="0"/>
              <a:t>/ </a:t>
            </a:r>
            <a:r>
              <a:rPr lang="ko-KR" altLang="en-US" dirty="0"/>
              <a:t>청소년 게임중독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12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girlfriend is so thin, but she constantly worries about being fat.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Korean society is making young women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obsessive</a:t>
                      </a:r>
                      <a:r>
                        <a:rPr lang="en-US" altLang="ko-KR" sz="1000" dirty="0"/>
                        <a:t> over weight loss.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체중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감량에 집착한다고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society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making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women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much about weight loss.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society is making young women become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obsessive</a:t>
                      </a:r>
                      <a:r>
                        <a:rPr lang="en-US" altLang="ko-KR" sz="1000" dirty="0"/>
                        <a:t> over weight loss.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My friend loves eating and eats more than I do, but she’s so slim.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 people just have a high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metabolism</a:t>
                      </a:r>
                      <a:r>
                        <a:rPr lang="en-US" altLang="ko-KR" sz="1000" dirty="0"/>
                        <a:t>. They don’t put on much weight as they consume more energy than they save.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에너지 소모가 많다고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 consume more energy than they save.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 people just have a high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metabolism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다이어트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2E9FB-1F70-79E6-FF0F-531670BE82B4}"/>
              </a:ext>
            </a:extLst>
          </p:cNvPr>
          <p:cNvSpPr txBox="1"/>
          <p:nvPr/>
        </p:nvSpPr>
        <p:spPr>
          <a:xfrm>
            <a:off x="314107" y="4886107"/>
            <a:ext cx="88298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high/ fast metabolism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신진대사가 높아 살이 잘 찌지는 않는 사람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&lt;-&gt; low/slow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metabolism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2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545179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149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innocent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was found to have been brutally assaulted by a local resident who was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known sex offender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 did the government do? How can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known sex offender </a:t>
                      </a:r>
                      <a:r>
                        <a:rPr lang="en-US" altLang="ko-KR" sz="1000" dirty="0"/>
                        <a:t>run around a neighborhood and commit a crime without being monitored?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성범죄 전과자를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innocent child was brutally assaulted by a local resident who committed a sex crime before.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innocent child was brutally assaulted by a local resident who was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known sex offender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molestation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 most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heinous</a:t>
                      </a:r>
                      <a:r>
                        <a:rPr lang="en-US" altLang="ko-KR" sz="1000" dirty="0"/>
                        <a:t> crimes we hear about.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Perpetrators of such horrible crimes should be severely punished.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끔찍한 범죄라고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molestation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one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worst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crime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hear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about.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 molestation is one of the most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heinous</a:t>
                      </a:r>
                      <a:r>
                        <a:rPr lang="en-US" altLang="ko-KR" sz="1000" dirty="0"/>
                        <a:t> crimes we hear about.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72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아동학대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 성범죄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0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450425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punishment for child abuse is far too lenient. We should give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more than a slap on the wrist </a:t>
                      </a:r>
                      <a:r>
                        <a:rPr lang="en-US" altLang="ko-KR" sz="1000" dirty="0"/>
                        <a:t>to those who are guilty of child abuse.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Do you really think cases of child abuse will fall just by making strict regulations?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강하게 처벌한다고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should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punish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strictly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guilty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abuse.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should give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more than a slap on the wrist </a:t>
                      </a:r>
                      <a:r>
                        <a:rPr lang="en-US" altLang="ko-KR" sz="1000" dirty="0"/>
                        <a:t>to those who are guilty of child abuse.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729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아동학대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 성범죄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9D683F-DDC9-46C3-81F0-C021775F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28E2E-0150-99F8-4048-4C7387AC6140}"/>
              </a:ext>
            </a:extLst>
          </p:cNvPr>
          <p:cNvSpPr txBox="1"/>
          <p:nvPr/>
        </p:nvSpPr>
        <p:spPr>
          <a:xfrm>
            <a:off x="314107" y="4886107"/>
            <a:ext cx="88298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slap on the wrist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손목을 살짝 때리는 것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솜방망이 처벌 </a:t>
            </a: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435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14169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think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parents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who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aren’t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ready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childrearing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actually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abusing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their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children.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Parenthood</a:t>
                      </a:r>
                      <a:r>
                        <a:rPr lang="en-US" altLang="ko-KR" sz="1000" dirty="0"/>
                        <a:t> demands a high level of responsibility. Anyone who wants kids should examine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themselves</a:t>
                      </a:r>
                      <a:r>
                        <a:rPr lang="en-US" altLang="ko-KR" sz="1000" dirty="0"/>
                        <a:t> to see if they’re prepared to raise them, and with a loving hand.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부모가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Becoming a parent demands a high level of responsibility.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Parenthood</a:t>
                      </a:r>
                      <a:r>
                        <a:rPr lang="en-US" altLang="ko-KR" sz="1000" dirty="0"/>
                        <a:t> demands a high level of responsibility.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child abuse can be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hereditary</a:t>
                      </a:r>
                      <a:r>
                        <a:rPr lang="en-US" altLang="ko-KR" sz="1000" dirty="0"/>
                        <a:t>. Children who are abused or abandoned are more likely to abuse their own children when they become parents.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sad to see stories of child abuse being passed down.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아동학대가 대물림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Child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abuse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passed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down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next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generation.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Child abuse can be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hereditary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2610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아동학대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아동 성범죄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81B05-91C5-D6D3-4D4A-340CCC98D3BE}"/>
              </a:ext>
            </a:extLst>
          </p:cNvPr>
          <p:cNvSpPr txBox="1"/>
          <p:nvPr/>
        </p:nvSpPr>
        <p:spPr>
          <a:xfrm>
            <a:off x="495590" y="4874227"/>
            <a:ext cx="7945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Hereditary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는 유전을 의미하는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heredity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의 형용사형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생물학적으로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유전이된다는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의미 이외에 대물림 된다는 의미도 가짐</a:t>
            </a:r>
          </a:p>
        </p:txBody>
      </p:sp>
    </p:spTree>
    <p:extLst>
      <p:ext uri="{BB962C8B-B14F-4D97-AF65-F5344CB8AC3E}">
        <p14:creationId xmlns:p14="http://schemas.microsoft.com/office/powerpoint/2010/main" val="247436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280411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understandably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worried about their children’s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overexposure</a:t>
                      </a:r>
                      <a:r>
                        <a:rPr lang="en-US" altLang="ko-KR" sz="1000" dirty="0"/>
                        <a:t> to video games.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 say that they’ll eventually outgrow the games so we should allow them to do what they want, but I disagree.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게임을 지나치게 많이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Parents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worried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their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children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playing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video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games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much.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Parents are worried about their children’s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overexposure</a:t>
                      </a:r>
                      <a:r>
                        <a:rPr lang="en-US" altLang="ko-KR" sz="1000" dirty="0"/>
                        <a:t> to video games.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Also, the explicit content of video games can make teenagers more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prone to violence</a:t>
                      </a:r>
                      <a:r>
                        <a:rPr lang="en-US" altLang="ko-KR" sz="1000" dirty="0"/>
                        <a:t>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a lot of researches that say video games are responsible for making today’s teenagers more violent.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폭력적인 성향을 지니게 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Video games can make teenagers more likely to be violent.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Video games can make teenagers more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prone to violence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청소년 게임중독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81B05-91C5-D6D3-4D4A-340CCC98D3BE}"/>
              </a:ext>
            </a:extLst>
          </p:cNvPr>
          <p:cNvSpPr txBox="1"/>
          <p:nvPr/>
        </p:nvSpPr>
        <p:spPr>
          <a:xfrm>
            <a:off x="495590" y="4874227"/>
            <a:ext cx="5011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prone</a:t>
            </a:r>
            <a:r>
              <a:rPr lang="ko-KR" altLang="en-US" sz="1000" dirty="0"/>
              <a:t> </a:t>
            </a:r>
            <a:r>
              <a:rPr lang="en-US" altLang="ko-KR" sz="1000" dirty="0"/>
              <a:t>to</a:t>
            </a:r>
            <a:r>
              <a:rPr lang="ko-KR" altLang="en-US" sz="1000" dirty="0"/>
              <a:t> </a:t>
            </a:r>
            <a:r>
              <a:rPr lang="en-US" altLang="ko-KR" sz="1000" dirty="0"/>
              <a:t>~</a:t>
            </a:r>
            <a:r>
              <a:rPr lang="ko-KR" altLang="en-US" sz="1000" dirty="0"/>
              <a:t>한 성향을 지니게 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06043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Hours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hours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playing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violent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video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games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make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desensitized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violence.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Playing violent games as an adult, I also find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myself</a:t>
                      </a:r>
                      <a:r>
                        <a:rPr lang="en-US" altLang="ko-KR" sz="1000" dirty="0"/>
                        <a:t> becoming numb to violence. So, how much more severe would it be for children?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폭력에 </a:t>
                      </a:r>
                      <a:r>
                        <a:rPr lang="ko-KR" altLang="en-US" sz="1000" dirty="0" err="1"/>
                        <a:t>둔감해진다고</a:t>
                      </a:r>
                      <a:r>
                        <a:rPr lang="ko-KR" altLang="en-US" sz="1000" dirty="0"/>
                        <a:t>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Violent video games make you numb to violence.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Violent video games make you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desensitized</a:t>
                      </a:r>
                      <a:r>
                        <a:rPr lang="en-US" altLang="ko-KR" sz="1000" dirty="0"/>
                        <a:t> to violence.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D5806-B2F5-1B08-BEFE-6AC43CA982A3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청소년 게임중독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C6F477-27FF-4177-8077-B08467F9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8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E873025-E3B7-3686-FC76-04E4AE88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1248A5-71D6-C938-2733-80279B4355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34" r="50000"/>
          <a:stretch/>
        </p:blipFill>
        <p:spPr>
          <a:xfrm>
            <a:off x="172868" y="1095645"/>
            <a:ext cx="2919517" cy="206885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2841C8D-47A4-1D54-F499-0BEF802DCD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462405" y="3052627"/>
            <a:ext cx="3590087" cy="15588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CCFCAE-BE17-8F89-AC25-69299A2C18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6361" b="45739"/>
          <a:stretch/>
        </p:blipFill>
        <p:spPr>
          <a:xfrm>
            <a:off x="178067" y="3252320"/>
            <a:ext cx="2941233" cy="17596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3E61BA3-8E25-D3B7-AE66-153EE9D16C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059" r="46361"/>
          <a:stretch/>
        </p:blipFill>
        <p:spPr>
          <a:xfrm>
            <a:off x="4493600" y="1074947"/>
            <a:ext cx="3558892" cy="192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9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735CE3-3951-F1D9-BDDF-49741BAC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34F888-C24A-1582-7276-D369DD6380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160454" y="1072048"/>
            <a:ext cx="3689884" cy="388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1F5832-A93A-D2EE-2DA0-48379E6E45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729536" y="1106243"/>
            <a:ext cx="2715611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5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9058B07-D4C1-0147-F440-F14E7C83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9C02C44-9677-E4F6-179E-F55FF5291A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79190" y="1085303"/>
            <a:ext cx="2768458" cy="1836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4F4FD2-6039-88DD-C472-132934EA98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369089" y="1088512"/>
            <a:ext cx="2730926" cy="396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D31C5A1-1C00-DF21-D829-8BF3F0D626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5162" r="60711" b="51777"/>
          <a:stretch/>
        </p:blipFill>
        <p:spPr>
          <a:xfrm>
            <a:off x="251271" y="2988881"/>
            <a:ext cx="2796378" cy="117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82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63817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형태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945652"/>
            <a:ext cx="8638073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재귀대명사는 인칭대명사 소유격에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self(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복수면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selves)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붙힌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형태입니다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인칭대명사 소유격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(my) + self = myself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인칭대명사 소유격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(our) + selves = ourselves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33884-1A6C-B6B3-DA64-FF0DAF17B16B}"/>
              </a:ext>
            </a:extLst>
          </p:cNvPr>
          <p:cNvSpPr txBox="1"/>
          <p:nvPr/>
        </p:nvSpPr>
        <p:spPr>
          <a:xfrm>
            <a:off x="247545" y="1096534"/>
            <a:ext cx="8638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(reflexive pronoun)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는 인칭대명사에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self(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복수면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selves)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를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붙힌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형태를 말하며 주어와 목적어가 같을 때 목적어로 사용되는 대명사입니다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8692AB6-6501-8D24-E8CA-62219B77860D}"/>
              </a:ext>
            </a:extLst>
          </p:cNvPr>
          <p:cNvGraphicFramePr>
            <a:graphicFrameLocks noGrp="1"/>
          </p:cNvGraphicFramePr>
          <p:nvPr/>
        </p:nvGraphicFramePr>
        <p:xfrm>
          <a:off x="258381" y="3079641"/>
          <a:ext cx="8521701" cy="131064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309515293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5667843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837440728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단수</a:t>
                      </a:r>
                      <a:r>
                        <a:rPr lang="en-US" altLang="ko-KR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(~</a:t>
                      </a:r>
                      <a:r>
                        <a:rPr 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self)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복수</a:t>
                      </a:r>
                      <a:r>
                        <a:rPr lang="en-US" altLang="ko-KR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selves)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80806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인칭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myself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ourselves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49556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인칭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yourself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yourselves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456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인칭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himself / herself /  itself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themselves 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320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550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기본용법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 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)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260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재귀대명사의 기본용법은 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2B394A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 또는 전치사의 목적어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로 사용되는 것입니다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보통 한 문장에서 주어와 목적어는 일치하지 않습니다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thought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her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 genius.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그녀가 천재라고 생각했다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(thought)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(her) +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목적격보어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 genius)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와 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(her)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는 다르다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만일 주어와 목적어가 일치한다면 목적어를 재귀대명사로 사용해야 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thought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himself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 genius.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그는 자기 자신이 천재라고 생각했다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(thought)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(himself) +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목적격보어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 genius)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(He) =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(himself)</a:t>
            </a:r>
          </a:p>
        </p:txBody>
      </p:sp>
    </p:spTree>
    <p:extLst>
      <p:ext uri="{BB962C8B-B14F-4D97-AF65-F5344CB8AC3E}">
        <p14:creationId xmlns:p14="http://schemas.microsoft.com/office/powerpoint/2010/main" val="2631837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기본용법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 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)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285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God helps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those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who help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themselves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하늘은 스스로 돕는 자를 돕는다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선행사인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those)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(help)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(themselves)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선행사인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those) =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(themselves)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전치사의 목적어인 경우에도 마찬가지입니다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8B451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They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had to cook for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themselves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그들은 스스로 요리해야 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(They)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(had to cook)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(for)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전치사의 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(themselves)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(They) =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전치사의 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(themselves)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She likes to talk about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herself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그녀는 자신에 대해 이야기하는 것을 좋아한다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주어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(She)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동사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(likes to talk) 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(about)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전치사의 목적어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(herself)</a:t>
            </a:r>
          </a:p>
        </p:txBody>
      </p:sp>
    </p:spTree>
    <p:extLst>
      <p:ext uri="{BB962C8B-B14F-4D97-AF65-F5344CB8AC3E}">
        <p14:creationId xmlns:p14="http://schemas.microsoft.com/office/powerpoint/2010/main" val="1844672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</a:t>
            </a:r>
            <a:r>
              <a:rPr kumimoji="0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부사적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(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강조 용법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)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02509"/>
            <a:ext cx="8638073" cy="2696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재귀대명사는 강조를 위해서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"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직접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스스로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자체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"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등의 의미로 쓰이기도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이 경우 재귀대명사가 부사처럼 사용되기에 생략해도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I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myself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did it.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내 자신이 직접 그것을 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주어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(I)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수식어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(myself)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동사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(did)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목적어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(it)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4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He wants to write the news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itself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그는 뉴스 자체를 쓰고 싶어한다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주어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(He)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동사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(wants)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목적어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(to write the news)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수식어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(itself)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4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He always washes his car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himself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그는 항상 자신의 차를 직접 세차한다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주어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(He)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동사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(always washes)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목적어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(his car) 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수식어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(himself)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4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They made it 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themselves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그들은 스스로 만들었다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나눔고딕" pitchFamily="2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주어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(They)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동사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(made) 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목적어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(it) +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수식어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(themselves)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재귀적 용법은 재귀대명사가 목적어 역할이기 때문에 생략 불가입니다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하지만 강조를 위한 재귀대명사는 부사처럼 쓰이기에 생략 가능합니다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나눔고딕" pitchFamily="2" charset="-127"/>
                <a:cs typeface="Arial"/>
                <a:sym typeface="Arial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0C2ED90-4306-FF62-5478-255F8487F347}"/>
              </a:ext>
            </a:extLst>
          </p:cNvPr>
          <p:cNvGraphicFramePr>
            <a:graphicFrameLocks noGrp="1"/>
          </p:cNvGraphicFramePr>
          <p:nvPr/>
        </p:nvGraphicFramePr>
        <p:xfrm>
          <a:off x="263666" y="4200172"/>
          <a:ext cx="8521701" cy="80010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1291219749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30677247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140628518"/>
                    </a:ext>
                  </a:extLst>
                </a:gridCol>
              </a:tblGrid>
              <a:tr h="17759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문장에서 역할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해석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529909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재귀용법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주어 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= 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목적어</a:t>
                      </a:r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자기 자신을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45966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강조용법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부사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생략 가능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스스로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자체</a:t>
                      </a:r>
                    </a:p>
                  </a:txBody>
                  <a:tcPr marL="76200" marR="47625" marT="66675" marB="47625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116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135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관용적 표현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336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재귀대명사가 전치사와 함께 쓰이면서 다양한 관용적 의미를 나타낼 수 있습니다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Help yourself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to the dishes.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음식을 마음껏 드세요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help +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+ to: 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음식물 등을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)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마음대로 집어먹다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자유로이 먹다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을 자유로이 쓰다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 door opened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of itself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문이 저절로 열렸다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of 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: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저절로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제 스스로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 went there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by myself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나는 혼자 그곳에 갔다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by 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: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혼자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스스로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도움을 받지 않고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8B451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Between ourselves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I don’t like him. 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우리끼리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이야기지만 난 그를 좋아하지 않는다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Between ourselves: 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우리끼리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이야기지만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이것은 비밀이지만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5028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재귀대명사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재귀대명사의 관용적 표현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20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The boy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applied himself to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studying English.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그 소년은 영어 공부에 전념했다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apply 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+ to: 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에 전념하다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It'll take time for me to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accustom myself to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the changes.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내가 변화에 익숙해지기 까지는 시간이 걸릴 것이다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accustom 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+ to: 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에 익숙해지다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654321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You should 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avail yourself of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654321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 every opportunity to learn.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 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배울 수 있는 모든 기회를 활용해야 한다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.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Symbol" panose="05050102010706020507" pitchFamily="18" charset="2"/>
              </a:rPr>
              <a:t>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avail + 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재귀대명사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+ of: ~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을 이용하다</a:t>
            </a:r>
          </a:p>
        </p:txBody>
      </p: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FAF48C09-5DA1-2240-D409-C96B23787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0B3E6D-E570-E5D5-39D6-CFFC41601D18}"/>
              </a:ext>
            </a:extLst>
          </p:cNvPr>
          <p:cNvSpPr txBox="1"/>
          <p:nvPr/>
        </p:nvSpPr>
        <p:spPr>
          <a:xfrm>
            <a:off x="6072731" y="4846013"/>
            <a:ext cx="31236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https://www.englishcube.net/grammar_exam.php?category2=92</a:t>
            </a:r>
          </a:p>
        </p:txBody>
      </p:sp>
    </p:spTree>
    <p:extLst>
      <p:ext uri="{BB962C8B-B14F-4D97-AF65-F5344CB8AC3E}">
        <p14:creationId xmlns:p14="http://schemas.microsoft.com/office/powerpoint/2010/main" val="2169291325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15995</TotalTime>
  <Words>1638</Words>
  <Application>Microsoft Office PowerPoint</Application>
  <PresentationFormat>화면 슬라이드 쇼(16:9)</PresentationFormat>
  <Paragraphs>224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Wingdings</vt:lpstr>
      <vt:lpstr>Calibri</vt:lpstr>
      <vt:lpstr>맑은 고딕</vt:lpstr>
      <vt:lpstr>Open Sans</vt:lpstr>
      <vt:lpstr>Righteous</vt:lpstr>
      <vt:lpstr>HY헤드라인M</vt:lpstr>
      <vt:lpstr>Arial</vt:lpstr>
      <vt:lpstr>TOWN HALL BUSINESS PLAN</vt:lpstr>
      <vt:lpstr>외국어시험 대체 강좌 – 시사영어 </vt:lpstr>
      <vt:lpstr>Table of Contents</vt:lpstr>
      <vt:lpstr>사회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3.1 Grammar: 재귀대명사</vt:lpstr>
      <vt:lpstr>3.1 Grammar: 재귀대명사</vt:lpstr>
      <vt:lpstr>3.1 Grammar: 재귀대명사</vt:lpstr>
      <vt:lpstr>3.1 Grammar: 재귀대명사</vt:lpstr>
      <vt:lpstr>3.1 Grammar: 재귀대명사</vt:lpstr>
      <vt:lpstr>3.1 Grammar: 재귀대명사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200</cp:revision>
  <dcterms:modified xsi:type="dcterms:W3CDTF">2024-02-01T11:49:15Z</dcterms:modified>
</cp:coreProperties>
</file>