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21"/>
  </p:notesMasterIdLst>
  <p:sldIdLst>
    <p:sldId id="256" r:id="rId2"/>
    <p:sldId id="279" r:id="rId3"/>
    <p:sldId id="261" r:id="rId4"/>
    <p:sldId id="378" r:id="rId5"/>
    <p:sldId id="420" r:id="rId6"/>
    <p:sldId id="421" r:id="rId7"/>
    <p:sldId id="438" r:id="rId8"/>
    <p:sldId id="437" r:id="rId9"/>
    <p:sldId id="454" r:id="rId10"/>
    <p:sldId id="455" r:id="rId11"/>
    <p:sldId id="450" r:id="rId12"/>
    <p:sldId id="434" r:id="rId13"/>
    <p:sldId id="309" r:id="rId14"/>
    <p:sldId id="451" r:id="rId15"/>
    <p:sldId id="456" r:id="rId16"/>
    <p:sldId id="389" r:id="rId17"/>
    <p:sldId id="412" r:id="rId18"/>
    <p:sldId id="441" r:id="rId19"/>
    <p:sldId id="442" r:id="rId20"/>
  </p:sldIdLst>
  <p:sldSz cx="9144000" cy="5143500" type="screen16x9"/>
  <p:notesSz cx="6797675" cy="9926638"/>
  <p:embeddedFontLst>
    <p:embeddedFont>
      <p:font typeface="HY헤드라인M" panose="02030600000101010101" pitchFamily="18" charset="-127"/>
      <p:regular r:id="rId22"/>
    </p:embeddedFont>
    <p:embeddedFont>
      <p:font typeface="Open Sans" panose="020B0606030504020204" pitchFamily="34" charset="0"/>
      <p:regular r:id="rId23"/>
      <p:bold r:id="rId24"/>
      <p:italic r:id="rId25"/>
      <p:boldItalic r:id="rId26"/>
    </p:embeddedFont>
    <p:embeddedFont>
      <p:font typeface="Righteous" panose="020B0600000101010101" charset="0"/>
      <p:regular r:id="rId27"/>
    </p:embeddedFont>
    <p:embeddedFont>
      <p:font typeface="맑은 고딕" panose="020B0503020000020004" pitchFamily="50" charset="-127"/>
      <p:regular r:id="rId28"/>
      <p:bold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DCAE"/>
    <a:srgbClr val="A3CAF7"/>
    <a:srgbClr val="F8C379"/>
    <a:srgbClr val="663DB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A76DC9-9F1E-41F9-AC6C-C94DD4396BF5}">
  <a:tblStyle styleId="{EAA76DC9-9F1E-41F9-AC6C-C94DD4396BF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2" autoAdjust="0"/>
    <p:restoredTop sz="94681" autoAdjust="0"/>
  </p:normalViewPr>
  <p:slideViewPr>
    <p:cSldViewPr snapToGrid="0">
      <p:cViewPr varScale="1">
        <p:scale>
          <a:sx n="137" d="100"/>
          <a:sy n="137" d="100"/>
        </p:scale>
        <p:origin x="53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p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" name="Google Shape;1780;g6b628f12ae_0_158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1" name="Google Shape;1781;g6b628f12ae_0_15816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70bcfaa05b_0_5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70bcfaa05b_0_508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1492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626300" y="1288975"/>
            <a:ext cx="58914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823850" y="1953225"/>
            <a:ext cx="54963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-18775" y="-20375"/>
            <a:ext cx="2771700" cy="51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1176992" y="2560534"/>
            <a:ext cx="3537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1176992" y="945225"/>
            <a:ext cx="2511900" cy="78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1176992" y="3591825"/>
            <a:ext cx="31791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+mn-ea"/>
                <a:ea typeface="+mn-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>
  <p:cSld name="TITLE_AND_TWO_COLUMNS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03775" y="1261200"/>
            <a:ext cx="2877625" cy="29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77800" lvl="0" indent="-177800" rtl="0">
              <a:spcBef>
                <a:spcPts val="0"/>
              </a:spcBef>
              <a:spcAft>
                <a:spcPts val="0"/>
              </a:spcAft>
              <a:buClr>
                <a:schemeClr val="accent4">
                  <a:lumMod val="50000"/>
                  <a:lumOff val="50000"/>
                </a:schemeClr>
              </a:buClr>
              <a:buSzPts val="1200"/>
              <a:buFont typeface="Wingdings" panose="05000000000000000000" pitchFamily="2" charset="2"/>
              <a:buChar char="§"/>
              <a:defRPr sz="1200">
                <a:latin typeface="+mn-ea"/>
                <a:ea typeface="+mn-ea"/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53" name="Google Shape;53;p13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" name="Text Box 13">
            <a:extLst>
              <a:ext uri="{FF2B5EF4-FFF2-40B4-BE49-F238E27FC236}">
                <a16:creationId xmlns:a16="http://schemas.microsoft.com/office/drawing/2014/main" id="{601ED383-4240-451C-AF24-F5BEBCACFF7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753464" y="40307"/>
            <a:ext cx="1326408" cy="20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3951" tIns="41976" rIns="83951" bIns="41976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Page No.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</a:t>
            </a:r>
            <a:fld id="{C1B2BC9E-BD5D-474B-A148-D311938ED256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 preserve="1">
  <p:cSld name="1_Title + Bullet Point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03775" y="1261200"/>
            <a:ext cx="2877625" cy="29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77800" lvl="0" indent="-177800" rtl="0">
              <a:spcBef>
                <a:spcPts val="0"/>
              </a:spcBef>
              <a:spcAft>
                <a:spcPts val="0"/>
              </a:spcAft>
              <a:buClr>
                <a:schemeClr val="accent4">
                  <a:lumMod val="50000"/>
                  <a:lumOff val="50000"/>
                </a:schemeClr>
              </a:buClr>
              <a:buSzPts val="1200"/>
              <a:buFont typeface="Wingdings" panose="05000000000000000000" pitchFamily="2" charset="2"/>
              <a:buChar char="§"/>
              <a:defRPr sz="1200">
                <a:latin typeface="+mn-ea"/>
                <a:ea typeface="+mn-ea"/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53" name="Google Shape;53;p13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90B2C87-6623-7087-CBE0-7109EC4CC4FE}"/>
              </a:ext>
            </a:extLst>
          </p:cNvPr>
          <p:cNvSpPr/>
          <p:nvPr userDrawn="1"/>
        </p:nvSpPr>
        <p:spPr>
          <a:xfrm>
            <a:off x="3758472" y="1320077"/>
            <a:ext cx="5159468" cy="2902423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 Box 13">
            <a:extLst>
              <a:ext uri="{FF2B5EF4-FFF2-40B4-BE49-F238E27FC236}">
                <a16:creationId xmlns:a16="http://schemas.microsoft.com/office/drawing/2014/main" id="{FA2A9844-F7AA-4437-8D4C-790546ED925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753464" y="40307"/>
            <a:ext cx="1326408" cy="20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3951" tIns="41976" rIns="83951" bIns="41976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Page No.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</a:t>
            </a:r>
            <a:fld id="{C1B2BC9E-BD5D-474B-A148-D311938ED256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1922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 preserve="1">
  <p:cSld name="1_Title + Bullet Point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03775" y="1261200"/>
            <a:ext cx="6856800" cy="29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>
                <a:latin typeface="+mn-ea"/>
                <a:ea typeface="+mn-ea"/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E15FA631-D0C2-45C4-B074-C5C35779E85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753464" y="40307"/>
            <a:ext cx="1326408" cy="20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3951" tIns="41976" rIns="83951" bIns="41976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Page No.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</a:t>
            </a:r>
            <a:fld id="{C1B2BC9E-BD5D-474B-A148-D311938ED256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5319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3">
  <p:cSld name="SECTION_HEADER_1_1_1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/>
          <p:nvPr/>
        </p:nvSpPr>
        <p:spPr>
          <a:xfrm>
            <a:off x="-13350" y="1853400"/>
            <a:ext cx="9170700" cy="3345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3"/>
          <p:cNvSpPr txBox="1">
            <a:spLocks noGrp="1"/>
          </p:cNvSpPr>
          <p:nvPr>
            <p:ph type="title"/>
          </p:nvPr>
        </p:nvSpPr>
        <p:spPr>
          <a:xfrm>
            <a:off x="1165031" y="2560525"/>
            <a:ext cx="4387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 dirty="0"/>
          </a:p>
        </p:txBody>
      </p:sp>
      <p:sp>
        <p:nvSpPr>
          <p:cNvPr id="148" name="Google Shape;148;p23"/>
          <p:cNvSpPr txBox="1">
            <a:spLocks noGrp="1"/>
          </p:cNvSpPr>
          <p:nvPr>
            <p:ph type="title" idx="2" hasCustomPrompt="1"/>
          </p:nvPr>
        </p:nvSpPr>
        <p:spPr>
          <a:xfrm>
            <a:off x="1165031" y="945225"/>
            <a:ext cx="2511900" cy="78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49" name="Google Shape;149;p23"/>
          <p:cNvSpPr txBox="1">
            <a:spLocks noGrp="1"/>
          </p:cNvSpPr>
          <p:nvPr>
            <p:ph type="subTitle" idx="1"/>
          </p:nvPr>
        </p:nvSpPr>
        <p:spPr>
          <a:xfrm>
            <a:off x="1165031" y="3591825"/>
            <a:ext cx="31791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+mn-ea"/>
                <a:ea typeface="+mn-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Righteous"/>
              <a:buNone/>
              <a:defRPr sz="2800">
                <a:solidFill>
                  <a:schemeClr val="accent4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Open Sans"/>
              <a:buChar char="●"/>
              <a:defRPr sz="18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○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●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○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●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○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9" r:id="rId3"/>
    <p:sldLayoutId id="2147483680" r:id="rId4"/>
    <p:sldLayoutId id="2147483679" r:id="rId5"/>
    <p:sldLayoutId id="2147483669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+mn-ea"/>
          <a:ea typeface="+mn-ea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glishcube.net/grammar_exam.php?category2=61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2"/>
          <p:cNvSpPr txBox="1">
            <a:spLocks noGrp="1"/>
          </p:cNvSpPr>
          <p:nvPr>
            <p:ph type="ctrTitle"/>
          </p:nvPr>
        </p:nvSpPr>
        <p:spPr>
          <a:xfrm>
            <a:off x="783925" y="1288975"/>
            <a:ext cx="75762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200" b="1" dirty="0">
                <a:solidFill>
                  <a:srgbClr val="A3CAF7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외국어시험 대체 강좌</a:t>
            </a:r>
            <a:r>
              <a:rPr lang="en-US" altLang="ko-KR" sz="3200" b="1" dirty="0">
                <a:solidFill>
                  <a:srgbClr val="A3CAF7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– </a:t>
            </a:r>
            <a:r>
              <a:rPr lang="ko-KR" altLang="en-US" sz="3200" b="1" dirty="0">
                <a:solidFill>
                  <a:srgbClr val="A3CAF7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시사영어 </a:t>
            </a:r>
            <a:endParaRPr sz="3200" b="1" dirty="0">
              <a:solidFill>
                <a:srgbClr val="A3CAF7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56" name="Google Shape;356;p32"/>
          <p:cNvSpPr txBox="1">
            <a:spLocks noGrp="1"/>
          </p:cNvSpPr>
          <p:nvPr>
            <p:ph type="subTitle" idx="1"/>
          </p:nvPr>
        </p:nvSpPr>
        <p:spPr>
          <a:xfrm>
            <a:off x="1639637" y="2081574"/>
            <a:ext cx="5496300" cy="9803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/>
              <a:t>Current English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/>
              <a:t>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p55"/>
          <p:cNvSpPr txBox="1">
            <a:spLocks noGrp="1"/>
          </p:cNvSpPr>
          <p:nvPr>
            <p:ph type="title" idx="2"/>
          </p:nvPr>
        </p:nvSpPr>
        <p:spPr>
          <a:xfrm>
            <a:off x="338557" y="945225"/>
            <a:ext cx="4559285" cy="78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Table of Contents</a:t>
            </a:r>
            <a:endParaRPr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6960D9-03BA-60D3-95A2-F3D5083B510D}"/>
              </a:ext>
            </a:extLst>
          </p:cNvPr>
          <p:cNvSpPr txBox="1"/>
          <p:nvPr/>
        </p:nvSpPr>
        <p:spPr>
          <a:xfrm>
            <a:off x="905047" y="1940420"/>
            <a:ext cx="47488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chemeClr val="accent5">
                    <a:lumMod val="50000"/>
                  </a:schemeClr>
                </a:solidFill>
              </a:rPr>
              <a:t>사회</a:t>
            </a:r>
            <a:endParaRPr lang="en-US" altLang="ko-KR" sz="1600" b="1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ko-KR" altLang="en-US" b="1" dirty="0"/>
              <a:t>낙태</a:t>
            </a:r>
            <a:r>
              <a:rPr lang="en-US" altLang="ko-KR" b="1" dirty="0"/>
              <a:t>/ </a:t>
            </a:r>
            <a:r>
              <a:rPr lang="ko-KR" altLang="en-US" b="1" dirty="0"/>
              <a:t>결혼 </a:t>
            </a:r>
            <a:r>
              <a:rPr lang="en-US" altLang="ko-KR" b="1" dirty="0"/>
              <a:t>/ </a:t>
            </a:r>
            <a:r>
              <a:rPr lang="ko-KR" altLang="en-US" b="1" dirty="0"/>
              <a:t>양성평등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C3B164-1416-E22A-B07D-4ECB67E734D7}"/>
              </a:ext>
            </a:extLst>
          </p:cNvPr>
          <p:cNvSpPr txBox="1"/>
          <p:nvPr/>
        </p:nvSpPr>
        <p:spPr>
          <a:xfrm>
            <a:off x="292156" y="2517335"/>
            <a:ext cx="4089070" cy="1170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  <a:buAutoNum type="arabicPeriod"/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Key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Expressions</a:t>
            </a:r>
          </a:p>
          <a:p>
            <a:pPr marL="180975" indent="-180975">
              <a:lnSpc>
                <a:spcPct val="150000"/>
              </a:lnSpc>
              <a:buAutoNum type="arabicPeriod"/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Word List</a:t>
            </a:r>
          </a:p>
          <a:p>
            <a:pPr marL="180975" indent="-180975">
              <a:lnSpc>
                <a:spcPct val="150000"/>
              </a:lnSpc>
              <a:buAutoNum type="arabicPeriod"/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Grammar: 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ko-K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 3.1 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가정법 과거완료</a:t>
            </a: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9" name="Google Shape;1750;p54">
            <a:extLst>
              <a:ext uri="{FF2B5EF4-FFF2-40B4-BE49-F238E27FC236}">
                <a16:creationId xmlns:a16="http://schemas.microsoft.com/office/drawing/2014/main" id="{F4A99721-B933-49C0-A7D7-C66E2C6BD1BF}"/>
              </a:ext>
            </a:extLst>
          </p:cNvPr>
          <p:cNvSpPr/>
          <p:nvPr/>
        </p:nvSpPr>
        <p:spPr>
          <a:xfrm>
            <a:off x="211075" y="1897666"/>
            <a:ext cx="639505" cy="639505"/>
          </a:xfrm>
          <a:prstGeom prst="ellipse">
            <a:avLst/>
          </a:prstGeom>
          <a:solidFill>
            <a:srgbClr val="FDDCA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FD8B811-C804-4ECD-B30E-8433762C7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850" y="1994778"/>
            <a:ext cx="403953" cy="4039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1750;p54">
            <a:extLst>
              <a:ext uri="{FF2B5EF4-FFF2-40B4-BE49-F238E27FC236}">
                <a16:creationId xmlns:a16="http://schemas.microsoft.com/office/drawing/2014/main" id="{B59FF772-E584-79B9-ECAB-9369D6249537}"/>
              </a:ext>
            </a:extLst>
          </p:cNvPr>
          <p:cNvSpPr/>
          <p:nvPr/>
        </p:nvSpPr>
        <p:spPr>
          <a:xfrm>
            <a:off x="4999220" y="1102495"/>
            <a:ext cx="2938510" cy="293851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37"/>
          <p:cNvSpPr txBox="1">
            <a:spLocks noGrp="1"/>
          </p:cNvSpPr>
          <p:nvPr>
            <p:ph type="title"/>
          </p:nvPr>
        </p:nvSpPr>
        <p:spPr>
          <a:xfrm>
            <a:off x="1177000" y="2560525"/>
            <a:ext cx="3873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+mj-ea"/>
                <a:ea typeface="+mj-ea"/>
              </a:rPr>
              <a:t>사회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730" name="Google Shape;730;p37"/>
          <p:cNvSpPr txBox="1">
            <a:spLocks noGrp="1"/>
          </p:cNvSpPr>
          <p:nvPr>
            <p:ph type="subTitle" idx="1"/>
          </p:nvPr>
        </p:nvSpPr>
        <p:spPr>
          <a:xfrm>
            <a:off x="132623" y="3591825"/>
            <a:ext cx="4802345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낙태 </a:t>
            </a:r>
            <a:r>
              <a:rPr lang="en-US" altLang="ko-KR" dirty="0"/>
              <a:t>/ </a:t>
            </a:r>
            <a:r>
              <a:rPr lang="ko-KR" altLang="en-US" dirty="0"/>
              <a:t>결혼 </a:t>
            </a:r>
            <a:r>
              <a:rPr lang="en-US" altLang="ko-KR" dirty="0"/>
              <a:t>/ </a:t>
            </a:r>
            <a:r>
              <a:rPr lang="ko-KR" altLang="en-US" dirty="0"/>
              <a:t>양성평등 </a:t>
            </a:r>
            <a:r>
              <a:rPr lang="en-US" altLang="ko-KR" dirty="0"/>
              <a:t> 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21" name="제목 2">
            <a:extLst>
              <a:ext uri="{FF2B5EF4-FFF2-40B4-BE49-F238E27FC236}">
                <a16:creationId xmlns:a16="http://schemas.microsoft.com/office/drawing/2014/main" id="{B8CC920F-C452-0ABE-B7D2-CF578CEADACC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1176992" y="945225"/>
            <a:ext cx="2511900" cy="789300"/>
          </a:xfrm>
        </p:spPr>
        <p:txBody>
          <a:bodyPr/>
          <a:lstStyle/>
          <a:p>
            <a:r>
              <a:rPr lang="en-US" altLang="ko-KR" sz="4400" dirty="0"/>
              <a:t>09</a:t>
            </a:r>
            <a:endParaRPr lang="ko-KR" altLang="en-US" sz="44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880B359-9817-41EC-81F1-D42180CDF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258" y="1577098"/>
            <a:ext cx="1856154" cy="18561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F474CDB-9205-9F5F-577C-61A0A37FB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07420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940069C-F7C3-4F96-9764-C222DA00B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1226284"/>
              </p:ext>
            </p:extLst>
          </p:nvPr>
        </p:nvGraphicFramePr>
        <p:xfrm>
          <a:off x="367145" y="1149041"/>
          <a:ext cx="8333511" cy="37338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100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What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do you think about the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candidate’s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position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absolute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prohibition of abortion?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Personally, I’m pro-choice and believe that a woman’s right to choose what to do with her own body should come first.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낙태에 찬성한다고 말할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think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women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should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have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right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abortion.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I’m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pro-choice</a:t>
                      </a:r>
                      <a:r>
                        <a:rPr lang="en-US" altLang="ko-KR" sz="1000" dirty="0"/>
                        <a:t>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101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Abortion is another form of taking away an individual’s life. That’s why I’m against it.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When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pro-lifers</a:t>
                      </a:r>
                      <a:r>
                        <a:rPr lang="en-US" altLang="ko-KR" sz="1000" dirty="0"/>
                        <a:t> say that an embryo is a form of life and abortion is basically murder, it does make sense. But I think we should consider the unfortunate situation the mother and baby would have to be in if abortion is completely banned.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낙태에 반대한다고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Those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who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are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against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abortion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say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that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embryo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form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of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life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and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abortion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basically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murder.</a:t>
                      </a:r>
                      <a:r>
                        <a:rPr lang="ko-KR" altLang="en-US" sz="1000" dirty="0"/>
                        <a:t>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Pro-lifers</a:t>
                      </a:r>
                      <a:r>
                        <a:rPr lang="en-US" altLang="ko-KR" sz="1000" dirty="0"/>
                        <a:t> says that an embryo is a form of life and abortion is basically murder.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7717195-D66E-8CE2-7520-0565B0A5E722}"/>
              </a:ext>
            </a:extLst>
          </p:cNvPr>
          <p:cNvSpPr txBox="1"/>
          <p:nvPr/>
        </p:nvSpPr>
        <p:spPr>
          <a:xfrm>
            <a:off x="3950763" y="621234"/>
            <a:ext cx="1831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낙태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sp>
        <p:nvSpPr>
          <p:cNvPr id="7" name="Google Shape;1750;p54">
            <a:extLst>
              <a:ext uri="{FF2B5EF4-FFF2-40B4-BE49-F238E27FC236}">
                <a16:creationId xmlns:a16="http://schemas.microsoft.com/office/drawing/2014/main" id="{4B604909-6D3B-44ED-9A51-917E7C1FEEA7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CFC31DD-B7D0-41E2-86A7-CE2AD18C5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376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453769"/>
              </p:ext>
            </p:extLst>
          </p:nvPr>
        </p:nvGraphicFramePr>
        <p:xfrm>
          <a:off x="367145" y="1149041"/>
          <a:ext cx="8333511" cy="37338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103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Don’t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you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think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cohabitation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before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marriage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good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way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understand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each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other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better?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Korean are conservative on the issue of cohabitation, probably due to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underlying</a:t>
                      </a:r>
                      <a:r>
                        <a:rPr lang="en-US" altLang="ko-KR" sz="1000" dirty="0"/>
                        <a:t> Confucian beliefs.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유교 사상이 깊이 자리하고 있다고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Koreans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are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conservative on the issue of cohabitation, probably due to deep Confucian beliefs.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Koreans are conservative on the issue of cohabitation, probably due to underlying Confucian beliefs.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104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Premarital cohabitation can’t be our solution to the high divorce rate. We just need to do our best to cultivate marriages rooted in a strong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commitmen</a:t>
                      </a:r>
                      <a:r>
                        <a:rPr lang="en-US" altLang="ko-KR" sz="1000" dirty="0"/>
                        <a:t>t to each other, through thick and thin.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I agree. If you think that you’ll live together first and then decide, it’s like creating an escape route in the back of your mind.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배우자를 신뢰한다고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We need to cultivate marriages rooted in a strong trust to each other.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We need to cultivate marriages rooted in a strong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commitment</a:t>
                      </a:r>
                      <a:r>
                        <a:rPr lang="en-US" altLang="ko-KR" sz="1000" dirty="0"/>
                        <a:t> to each other.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BB6BA8BE-A480-405E-A2CC-C32E36641633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FD5806-B2F5-1B08-BEFE-6AC43CA982A3}"/>
              </a:ext>
            </a:extLst>
          </p:cNvPr>
          <p:cNvSpPr txBox="1"/>
          <p:nvPr/>
        </p:nvSpPr>
        <p:spPr>
          <a:xfrm>
            <a:off x="3950763" y="621234"/>
            <a:ext cx="1831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결혼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7C6F477-27FF-4177-8077-B08467F9C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88D97B-9A18-6AD3-70FF-07C7F4775D9D}"/>
              </a:ext>
            </a:extLst>
          </p:cNvPr>
          <p:cNvSpPr txBox="1"/>
          <p:nvPr/>
        </p:nvSpPr>
        <p:spPr>
          <a:xfrm>
            <a:off x="495590" y="4874227"/>
            <a:ext cx="50117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 through thick and thin </a:t>
            </a:r>
            <a:r>
              <a:rPr lang="ko-KR" altLang="en-US" sz="1000" dirty="0"/>
              <a:t>좋을 때나 안 좋을 때나 언제든</a:t>
            </a:r>
          </a:p>
        </p:txBody>
      </p:sp>
    </p:spTree>
    <p:extLst>
      <p:ext uri="{BB962C8B-B14F-4D97-AF65-F5344CB8AC3E}">
        <p14:creationId xmlns:p14="http://schemas.microsoft.com/office/powerpoint/2010/main" val="3442880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761253"/>
              </p:ext>
            </p:extLst>
          </p:nvPr>
        </p:nvGraphicFramePr>
        <p:xfrm>
          <a:off x="367145" y="1149041"/>
          <a:ext cx="8333511" cy="18542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105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Marriage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isn’t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an</a:t>
                      </a:r>
                      <a:r>
                        <a:rPr lang="ko-KR" altLang="en-US" sz="1000" dirty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easy</a:t>
                      </a:r>
                      <a:r>
                        <a:rPr lang="ko-KR" altLang="en-US" sz="1000" dirty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walk</a:t>
                      </a:r>
                      <a:r>
                        <a:rPr lang="ko-KR" altLang="en-US" sz="1000" dirty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in</a:t>
                      </a:r>
                      <a:r>
                        <a:rPr lang="ko-KR" altLang="en-US" sz="1000" dirty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the</a:t>
                      </a:r>
                      <a:r>
                        <a:rPr lang="ko-KR" altLang="en-US" sz="1000" dirty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park</a:t>
                      </a:r>
                      <a:r>
                        <a:rPr lang="en-US" altLang="ko-KR" sz="1000" dirty="0"/>
                        <a:t>.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You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have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strongly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committed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your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spouse.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younger generation seems to have a different view on that.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만만한 일이 아니라고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Marriage isn’t easy.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Marriage isn’t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a walk in the park</a:t>
                      </a:r>
                      <a:r>
                        <a:rPr lang="en-US" altLang="ko-KR" sz="1000" dirty="0"/>
                        <a:t>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3" y="621234"/>
            <a:ext cx="2228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결혼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BB6BA8BE-A480-405E-A2CC-C32E36641633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2042101-2330-46C5-B1AD-B259A2F61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073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2796119"/>
              </p:ext>
            </p:extLst>
          </p:nvPr>
        </p:nvGraphicFramePr>
        <p:xfrm>
          <a:off x="367145" y="1149041"/>
          <a:ext cx="8333511" cy="37084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106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Korea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still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has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much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room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for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improvement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when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comes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gender</a:t>
                      </a:r>
                      <a:r>
                        <a:rPr lang="ko-KR" altLang="en-US" sz="1000" dirty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gap in household responsibilities</a:t>
                      </a:r>
                      <a:r>
                        <a:rPr lang="en-US" altLang="ko-KR" sz="1000" dirty="0"/>
                        <a:t>.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Yes. Women take up most of the responsibilities even in dual-income households.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부부간 가사일 분담을 말할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Korean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needs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improve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when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comes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sharing housework between husband and wife.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Korean needs to improve when it comes to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gender gap in household responsibilities</a:t>
                      </a:r>
                      <a:r>
                        <a:rPr lang="en-US" altLang="ko-KR" sz="1000" dirty="0"/>
                        <a:t>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107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Why are you against giving incentives to job applicants with military backgrounds?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military incentive program wouldn’t provide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a level playing field </a:t>
                      </a:r>
                      <a:r>
                        <a:rPr lang="en-US" altLang="ko-KR" sz="1000" dirty="0"/>
                        <a:t>between men and women.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공정한 경쟁이 되지 못한다고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The military incentive program wouldn’t ensure fair competition between men and women.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military incentive program wouldn’t provide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a level playing field </a:t>
                      </a:r>
                      <a:r>
                        <a:rPr lang="en-US" altLang="ko-KR" sz="1000" dirty="0"/>
                        <a:t>between men and women.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3" y="621234"/>
            <a:ext cx="2228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양성평등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BB6BA8BE-A480-405E-A2CC-C32E36641633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83314D5-FDC2-4FE2-9944-03A9BF03A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A08B009-48C2-F9D3-7136-CB3FCA167EFF}"/>
              </a:ext>
            </a:extLst>
          </p:cNvPr>
          <p:cNvSpPr txBox="1"/>
          <p:nvPr/>
        </p:nvSpPr>
        <p:spPr>
          <a:xfrm>
            <a:off x="495590" y="4874227"/>
            <a:ext cx="50117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 level playing field </a:t>
            </a:r>
            <a:r>
              <a:rPr lang="ko-KR" altLang="en-US" sz="1000" dirty="0"/>
              <a:t>평평한 운동장</a:t>
            </a:r>
          </a:p>
        </p:txBody>
      </p:sp>
    </p:spTree>
    <p:extLst>
      <p:ext uri="{BB962C8B-B14F-4D97-AF65-F5344CB8AC3E}">
        <p14:creationId xmlns:p14="http://schemas.microsoft.com/office/powerpoint/2010/main" val="1446387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2677181"/>
              </p:ext>
            </p:extLst>
          </p:nvPr>
        </p:nvGraphicFramePr>
        <p:xfrm>
          <a:off x="367145" y="1149041"/>
          <a:ext cx="8333511" cy="37338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108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Women are discriminated against when they take state exams because of the military incentive program.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But don’t you think the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ex-servicemen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should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compensated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for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time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that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could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otherwise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have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been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spent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preparing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for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state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exams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or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making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living?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다른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일을 하면서 보낼 수 있었던 시간을 말할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ex-servicemen should be compensated for the time that could have been spent for other purpose.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ex-servicemen should be compensated for the time that could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otherwise</a:t>
                      </a:r>
                      <a:r>
                        <a:rPr lang="en-US" altLang="ko-KR" sz="1000" dirty="0"/>
                        <a:t> have been spent.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109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Did you hear about the story of a man who murdered a random woman he ran into in a public restroom?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Yes, I did. He seemed to have some form of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misguided</a:t>
                      </a:r>
                      <a:r>
                        <a:rPr lang="en-US" altLang="ko-KR" sz="1000" dirty="0"/>
                        <a:t> hostility toward women.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삐뚤어진 증오심을 말할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seemed to have some hatred toward women.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He seemed to have some form of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misguided </a:t>
                      </a:r>
                      <a:r>
                        <a:rPr lang="en-US" altLang="ko-KR" sz="1000" dirty="0"/>
                        <a:t>hostility toward women.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3" y="621234"/>
            <a:ext cx="2228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양성평등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BB6BA8BE-A480-405E-A2CC-C32E36641633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49D683F-DDC9-46C3-81F0-C021775FD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706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519458"/>
              </p:ext>
            </p:extLst>
          </p:nvPr>
        </p:nvGraphicFramePr>
        <p:xfrm>
          <a:off x="367145" y="1149041"/>
          <a:ext cx="8333511" cy="37084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111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Most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women </a:t>
                      </a:r>
                      <a:r>
                        <a:rPr lang="en-US" altLang="ko-KR" sz="10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identify with </a:t>
                      </a:r>
                      <a:r>
                        <a:rPr lang="en-US" altLang="ko-KR" sz="1000" dirty="0"/>
                        <a:t>the victim and fear that they could become the target of a similar crime.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We have to admit that women are more vulnerable to violent crimes and do something to improve their safety.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남의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일이 아니라고 생각한다고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Most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women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deeply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sympathize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with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victim.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Most women </a:t>
                      </a:r>
                      <a:r>
                        <a:rPr lang="en-US" altLang="ko-KR" sz="10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identify with </a:t>
                      </a:r>
                      <a:r>
                        <a:rPr lang="en-US" altLang="ko-KR" sz="1000" dirty="0"/>
                        <a:t>the victim.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112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More women in Korea are now </a:t>
                      </a:r>
                      <a:r>
                        <a:rPr lang="en-US" altLang="ko-KR" sz="10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fulfilling themselves </a:t>
                      </a:r>
                      <a:r>
                        <a:rPr lang="en-US" altLang="ko-KR" sz="1000" dirty="0"/>
                        <a:t>by working full-time.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Compared to the past, that’s true. But the percentage of female executives is far lower than that of other OECD countries.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자기 실현을 한다고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More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women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Korea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are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now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developing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their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potential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working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full-time.</a:t>
                      </a:r>
                      <a:r>
                        <a:rPr lang="ko-KR" altLang="en-US" sz="1000" dirty="0"/>
                        <a:t>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More women in Korea are now </a:t>
                      </a:r>
                      <a:r>
                        <a:rPr lang="en-US" altLang="ko-KR" sz="10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fulfilling themselves </a:t>
                      </a:r>
                      <a:r>
                        <a:rPr lang="en-US" altLang="ko-KR" sz="1000" dirty="0"/>
                        <a:t>by working full-time.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3" y="621234"/>
            <a:ext cx="2228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[</a:t>
            </a:r>
            <a:r>
              <a:rPr kumimoji="0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양성평등</a:t>
            </a: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]</a:t>
            </a:r>
            <a:endParaRPr kumimoji="0" lang="ko-KR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BB6BA8BE-A480-405E-A2CC-C32E36641633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49D683F-DDC9-46C3-81F0-C021775FD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466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5041204"/>
              </p:ext>
            </p:extLst>
          </p:nvPr>
        </p:nvGraphicFramePr>
        <p:xfrm>
          <a:off x="367145" y="1149041"/>
          <a:ext cx="8333511" cy="37338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113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company has an in-house childcare facility for working moms.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 saw that. It provides great benefits to mothers who want to </a:t>
                      </a:r>
                      <a:r>
                        <a:rPr lang="en-US" altLang="ko-KR" sz="10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balance work and family</a:t>
                      </a:r>
                      <a:r>
                        <a:rPr lang="en-US" altLang="ko-KR" sz="1000" dirty="0"/>
                        <a:t>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일과 육아를 병행한다고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It provides great benefits to mothers who want to work and take care of the family at the same time.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It provides great benefits to mothers who want to </a:t>
                      </a:r>
                      <a:r>
                        <a:rPr lang="en-US" altLang="ko-KR" sz="10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balance work and family</a:t>
                      </a:r>
                      <a:r>
                        <a:rPr lang="en-US" altLang="ko-KR" sz="1000" dirty="0"/>
                        <a:t>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114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Maternity leave is not fully granted in most companies even though it is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legally mandated</a:t>
                      </a:r>
                      <a:r>
                        <a:rPr lang="en-US" altLang="ko-KR" sz="1000" dirty="0"/>
                        <a:t>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Unlike government employees, many mothers working in the private sector are under pressure not to fully use the maternity leave they are eligible for.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법적으로 보장되어 있다고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Maternity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leave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provided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law.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Maternity leave is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legally mandated</a:t>
                      </a:r>
                      <a:r>
                        <a:rPr lang="en-US" altLang="ko-KR" sz="1000" dirty="0"/>
                        <a:t>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3" y="621234"/>
            <a:ext cx="2228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[</a:t>
            </a:r>
            <a:r>
              <a:rPr kumimoji="0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양성평등</a:t>
            </a: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]</a:t>
            </a:r>
            <a:endParaRPr kumimoji="0" lang="ko-KR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BB6BA8BE-A480-405E-A2CC-C32E36641633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49D683F-DDC9-46C3-81F0-C021775FD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944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6868368"/>
              </p:ext>
            </p:extLst>
          </p:nvPr>
        </p:nvGraphicFramePr>
        <p:xfrm>
          <a:off x="367145" y="1149041"/>
          <a:ext cx="8333511" cy="18796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114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Maternity leave is not fully granted in most companies even though it is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legally mandated</a:t>
                      </a:r>
                      <a:r>
                        <a:rPr lang="en-US" altLang="ko-KR" sz="1000" dirty="0"/>
                        <a:t>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Unlike government employees, many mothers working in the private sector are under pressure not to fully use the maternity leave they are eligible for.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법적으로 보장되어 있다고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Maternity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leave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provided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law.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Maternity leave is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legally mandated</a:t>
                      </a:r>
                      <a:r>
                        <a:rPr lang="en-US" altLang="ko-KR" sz="1000" dirty="0"/>
                        <a:t>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3" y="621234"/>
            <a:ext cx="2228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양성평등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BB6BA8BE-A480-405E-A2CC-C32E36641633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2042101-2330-46C5-B1AD-B259A2F61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846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BCE0C26-348A-1EDA-5A80-66D668C8F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Word List </a:t>
            </a:r>
            <a:endParaRPr lang="ko-KR" altLang="en-US" dirty="0"/>
          </a:p>
        </p:txBody>
      </p:sp>
      <p:sp>
        <p:nvSpPr>
          <p:cNvPr id="9" name="Google Shape;1750;p54">
            <a:extLst>
              <a:ext uri="{FF2B5EF4-FFF2-40B4-BE49-F238E27FC236}">
                <a16:creationId xmlns:a16="http://schemas.microsoft.com/office/drawing/2014/main" id="{A0F5263D-0DBF-4364-BB8F-3379A600C685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6B8471E-6887-49FD-A161-93F1B284C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043CCB3-131A-44D2-D53D-4C884F48609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/>
          <a:stretch/>
        </p:blipFill>
        <p:spPr>
          <a:xfrm>
            <a:off x="155049" y="1086287"/>
            <a:ext cx="3017169" cy="386438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131C0F1-2821-AE0F-7643-9BD2304C08C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0000"/>
          <a:stretch/>
        </p:blipFill>
        <p:spPr>
          <a:xfrm>
            <a:off x="4517165" y="1098022"/>
            <a:ext cx="2411020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8634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F474CDB-9205-9F5F-577C-61A0A37FB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Word List </a:t>
            </a:r>
            <a:endParaRPr lang="ko-KR" altLang="en-US" dirty="0"/>
          </a:p>
        </p:txBody>
      </p:sp>
      <p:sp>
        <p:nvSpPr>
          <p:cNvPr id="7" name="Google Shape;1750;p54">
            <a:extLst>
              <a:ext uri="{FF2B5EF4-FFF2-40B4-BE49-F238E27FC236}">
                <a16:creationId xmlns:a16="http://schemas.microsoft.com/office/drawing/2014/main" id="{F772D4A2-52C0-45CF-B0D8-D7B75537912A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FAC07E7-C4CC-4716-A693-7BCFE9FF3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CEEC563-A322-039D-2091-D590C92C23C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0000"/>
          <a:stretch/>
        </p:blipFill>
        <p:spPr>
          <a:xfrm>
            <a:off x="171116" y="1088507"/>
            <a:ext cx="2811653" cy="3996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C50AC6B-E1D9-B79D-2D1D-10537EFFBA8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000"/>
          <a:stretch/>
        </p:blipFill>
        <p:spPr>
          <a:xfrm>
            <a:off x="4530124" y="1088507"/>
            <a:ext cx="2849713" cy="39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2140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7735CE3-3951-F1D9-BDDF-49741BAC2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Word List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54F9E76-0CCC-BA72-26D0-AA2D5F0346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000"/>
          <a:stretch/>
        </p:blipFill>
        <p:spPr>
          <a:xfrm>
            <a:off x="198664" y="1088576"/>
            <a:ext cx="3177385" cy="367832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3C581AF-4B3F-4915-8287-7B6817906ED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/>
          <a:stretch/>
        </p:blipFill>
        <p:spPr>
          <a:xfrm>
            <a:off x="4516160" y="1087525"/>
            <a:ext cx="2724662" cy="38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6844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3178888-D5B5-7D34-04BC-B8903D23E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Word List 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3371D7A-3E07-AD75-9AAB-B6EA4C1D47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r="40870"/>
          <a:stretch/>
        </p:blipFill>
        <p:spPr>
          <a:xfrm>
            <a:off x="198664" y="1087525"/>
            <a:ext cx="3095968" cy="386438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3AF8250-65AB-289E-8AAF-CB9F4586A08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6710"/>
          <a:stretch/>
        </p:blipFill>
        <p:spPr>
          <a:xfrm>
            <a:off x="4494716" y="1076618"/>
            <a:ext cx="2730926" cy="2506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6816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Grammar: </a:t>
            </a:r>
            <a:r>
              <a:rPr lang="ko-KR" altLang="en-US" dirty="0">
                <a:latin typeface="+mj-ea"/>
                <a:ea typeface="+mj-ea"/>
              </a:rPr>
              <a:t>가정법 과거완료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31A44-6418-4F22-04ED-BE8E6840EA7A}"/>
              </a:ext>
            </a:extLst>
          </p:cNvPr>
          <p:cNvSpPr txBox="1"/>
          <p:nvPr/>
        </p:nvSpPr>
        <p:spPr>
          <a:xfrm>
            <a:off x="247545" y="1124267"/>
            <a:ext cx="8664066" cy="3186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가정법은 가정법 과거와 과거완료로 나눠집니다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가정법 과거는 현재에 대한 가정이고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가정법 과거완료는 과거에 대한 가정입니다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0FCDD8ED-C4BD-4EA1-B886-28F7D01B4321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375D97D-E582-4533-960F-D65DB02CD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E633552-9C64-790F-F518-0A2EFBDF4B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097324"/>
              </p:ext>
            </p:extLst>
          </p:nvPr>
        </p:nvGraphicFramePr>
        <p:xfrm>
          <a:off x="311150" y="1458746"/>
          <a:ext cx="8521700" cy="1409700"/>
        </p:xfrm>
        <a:graphic>
          <a:graphicData uri="http://schemas.openxmlformats.org/drawingml/2006/table">
            <a:tbl>
              <a:tblPr/>
              <a:tblGrid>
                <a:gridCol w="1343146">
                  <a:extLst>
                    <a:ext uri="{9D8B030D-6E8A-4147-A177-3AD203B41FA5}">
                      <a16:colId xmlns:a16="http://schemas.microsoft.com/office/drawing/2014/main" val="3854409752"/>
                    </a:ext>
                  </a:extLst>
                </a:gridCol>
                <a:gridCol w="2526815">
                  <a:extLst>
                    <a:ext uri="{9D8B030D-6E8A-4147-A177-3AD203B41FA5}">
                      <a16:colId xmlns:a16="http://schemas.microsoft.com/office/drawing/2014/main" val="1074849169"/>
                    </a:ext>
                  </a:extLst>
                </a:gridCol>
                <a:gridCol w="2521314">
                  <a:extLst>
                    <a:ext uri="{9D8B030D-6E8A-4147-A177-3AD203B41FA5}">
                      <a16:colId xmlns:a16="http://schemas.microsoft.com/office/drawing/2014/main" val="3869337668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16540354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 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if </a:t>
                      </a:r>
                      <a:r>
                        <a:rPr lang="ko-KR" altLang="en-US" sz="11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부사절</a:t>
                      </a:r>
                      <a:r>
                        <a:rPr lang="en-US" altLang="ko-KR" sz="11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조건</a:t>
                      </a:r>
                      <a:r>
                        <a:rPr lang="en-US" altLang="ko-KR" sz="11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가정</a:t>
                      </a:r>
                      <a:r>
                        <a:rPr lang="en-US" altLang="ko-KR" sz="11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주절</a:t>
                      </a:r>
                      <a:r>
                        <a:rPr lang="en-US" altLang="ko-KR" sz="11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결과</a:t>
                      </a:r>
                      <a:r>
                        <a:rPr lang="en-US" altLang="ko-KR" sz="11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해석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5772679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11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조건</a:t>
                      </a:r>
                      <a:br>
                        <a:rPr lang="ko-KR" altLang="en-US" sz="11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직설법</a:t>
                      </a:r>
                      <a:r>
                        <a:rPr lang="en-US" altLang="ko-KR" sz="11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단순현재</a:t>
                      </a:r>
                    </a:p>
                  </a:txBody>
                  <a:tcPr marL="76200" marR="47625" marT="66675" marB="47625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단순현재</a:t>
                      </a:r>
                    </a:p>
                  </a:txBody>
                  <a:tcPr marL="76200" marR="47625" marT="66675" marB="47625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1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~</a:t>
                      </a:r>
                      <a:r>
                        <a:rPr lang="ko-KR" altLang="en-US" sz="11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하면 </a:t>
                      </a:r>
                      <a:r>
                        <a:rPr lang="en-US" altLang="ko-KR" sz="11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~</a:t>
                      </a:r>
                      <a:r>
                        <a:rPr lang="ko-KR" altLang="en-US" sz="11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이다</a:t>
                      </a:r>
                    </a:p>
                  </a:txBody>
                  <a:tcPr marL="76200" marR="47625" marT="66675" marB="47625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53046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단순현재</a:t>
                      </a:r>
                    </a:p>
                  </a:txBody>
                  <a:tcPr marL="76200" marR="47625" marT="66675" marB="47625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미래</a:t>
                      </a:r>
                    </a:p>
                  </a:txBody>
                  <a:tcPr marL="76200" marR="47625" marT="66675" marB="47625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1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~</a:t>
                      </a:r>
                      <a:r>
                        <a:rPr lang="ko-KR" altLang="en-US" sz="11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하면 </a:t>
                      </a:r>
                      <a:r>
                        <a:rPr lang="en-US" altLang="ko-KR" sz="11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~</a:t>
                      </a:r>
                      <a:r>
                        <a:rPr lang="ko-KR" altLang="en-US" sz="11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일 것이다</a:t>
                      </a:r>
                    </a:p>
                  </a:txBody>
                  <a:tcPr marL="76200" marR="47625" marT="66675" marB="47625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676029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11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가정</a:t>
                      </a:r>
                      <a:br>
                        <a:rPr lang="ko-KR" altLang="en-US" sz="11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가정법</a:t>
                      </a:r>
                      <a:r>
                        <a:rPr lang="en-US" altLang="ko-KR" sz="11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과거</a:t>
                      </a:r>
                    </a:p>
                  </a:txBody>
                  <a:tcPr marL="76200" marR="47625" marT="66675" marB="47625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would + </a:t>
                      </a:r>
                      <a:r>
                        <a:rPr lang="ko-KR" altLang="en-US" sz="11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동사원형</a:t>
                      </a:r>
                    </a:p>
                  </a:txBody>
                  <a:tcPr marL="76200" marR="47625" marT="66675" marB="47625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만약 </a:t>
                      </a:r>
                      <a:r>
                        <a:rPr lang="en-US" altLang="ko-KR" sz="11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~</a:t>
                      </a:r>
                      <a:r>
                        <a:rPr lang="ko-KR" altLang="en-US" sz="11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하면 </a:t>
                      </a:r>
                      <a:r>
                        <a:rPr lang="en-US" altLang="ko-KR" sz="11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~</a:t>
                      </a:r>
                      <a:r>
                        <a:rPr lang="ko-KR" altLang="en-US" sz="11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할 텐데</a:t>
                      </a:r>
                    </a:p>
                  </a:txBody>
                  <a:tcPr marL="76200" marR="47625" marT="66675" marB="47625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446471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1" baseline="0" dirty="0">
                          <a:solidFill>
                            <a:srgbClr val="2B394A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과거완료</a:t>
                      </a:r>
                      <a:endParaRPr lang="ko-KR" altLang="en-US" sz="1100" b="0" baseline="0" dirty="0">
                        <a:solidFill>
                          <a:srgbClr val="40404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0" marR="47625" marT="66675" marB="47625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baseline="0">
                          <a:solidFill>
                            <a:srgbClr val="2B394A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would + have + </a:t>
                      </a:r>
                      <a:r>
                        <a:rPr lang="ko-KR" altLang="en-US" sz="1100" b="1" baseline="0">
                          <a:solidFill>
                            <a:srgbClr val="2B394A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과거분사</a:t>
                      </a:r>
                      <a:endParaRPr lang="ko-KR" altLang="en-US" sz="1100" b="0" baseline="0">
                        <a:solidFill>
                          <a:srgbClr val="40404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0" marR="47625" marT="66675" marB="47625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1" baseline="0" dirty="0">
                          <a:solidFill>
                            <a:srgbClr val="2B394A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만약 </a:t>
                      </a:r>
                      <a:r>
                        <a:rPr lang="en-US" altLang="ko-KR" sz="1100" b="1" baseline="0" dirty="0">
                          <a:solidFill>
                            <a:srgbClr val="2B394A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~</a:t>
                      </a:r>
                      <a:r>
                        <a:rPr lang="ko-KR" altLang="en-US" sz="1100" b="1" baseline="0" dirty="0">
                          <a:solidFill>
                            <a:srgbClr val="2B394A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였더라면 </a:t>
                      </a:r>
                      <a:r>
                        <a:rPr lang="en-US" altLang="ko-KR" sz="1100" b="1" baseline="0" dirty="0">
                          <a:solidFill>
                            <a:srgbClr val="2B394A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~</a:t>
                      </a:r>
                      <a:r>
                        <a:rPr lang="ko-KR" altLang="en-US" sz="1100" b="1" baseline="0" dirty="0">
                          <a:solidFill>
                            <a:srgbClr val="2B394A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했을 텐데</a:t>
                      </a:r>
                      <a:endParaRPr lang="ko-KR" altLang="en-US" sz="1100" b="0" baseline="0" dirty="0">
                        <a:solidFill>
                          <a:srgbClr val="40404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0" marR="47625" marT="66675" marB="47625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943053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8FB34C4-1BF5-0A13-2967-92F922E5E627}"/>
              </a:ext>
            </a:extLst>
          </p:cNvPr>
          <p:cNvSpPr txBox="1"/>
          <p:nvPr/>
        </p:nvSpPr>
        <p:spPr>
          <a:xfrm>
            <a:off x="168784" y="2993662"/>
            <a:ext cx="8664066" cy="2096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가정법 과거완료는 과거에 대해서 가정하는 것입니다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 </a:t>
            </a: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As it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snowed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yesterday, we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didn’t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go out.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어제 눈이 내렸기 때문에 우리는 외출하지 못했다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부사절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: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과거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(snowed)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주절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: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과거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(didn’t)</a:t>
            </a: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위와 같은 과거 시제 문장을 가정법으로 </a:t>
            </a:r>
            <a:r>
              <a:rPr lang="ko-KR" altLang="en-US" sz="1100" b="0" i="0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바꿀려면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 가정법 과거완료로 표현해야 합니다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 it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had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not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snowed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yesterday, we</a:t>
            </a:r>
            <a:r>
              <a:rPr lang="ko-KR" altLang="en-US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would have gone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out.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만일 어제 눈이 내리지 않았더라면 우리는 외출 </a:t>
            </a:r>
            <a:r>
              <a:rPr lang="ko-KR" altLang="en-US" sz="1100" b="0" i="0" dirty="0" err="1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했었을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 텐데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부사절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: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과거완료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(had not snowed)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주절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: would + have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과거분사</a:t>
            </a:r>
          </a:p>
        </p:txBody>
      </p:sp>
    </p:spTree>
    <p:extLst>
      <p:ext uri="{BB962C8B-B14F-4D97-AF65-F5344CB8AC3E}">
        <p14:creationId xmlns:p14="http://schemas.microsoft.com/office/powerpoint/2010/main" val="18975931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Grammar: </a:t>
            </a:r>
            <a:r>
              <a:rPr lang="ko-KR" altLang="en-US" dirty="0">
                <a:latin typeface="+mj-ea"/>
                <a:ea typeface="+mj-ea"/>
              </a:rPr>
              <a:t>가정법 과거완료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가정법 과거완료의 공식과 의미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31A44-6418-4F22-04ED-BE8E6840EA7A}"/>
              </a:ext>
            </a:extLst>
          </p:cNvPr>
          <p:cNvSpPr txBox="1"/>
          <p:nvPr/>
        </p:nvSpPr>
        <p:spPr>
          <a:xfrm>
            <a:off x="239967" y="1531579"/>
            <a:ext cx="8664066" cy="3186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가정법 과거완료 문장의 구조를 주절과 종속절로 나눠서 보면 다음과 같이 정리할 수 있습니다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1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5EFC9552-1E21-4B17-A336-736421E0D8BC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88D052A-0B33-4569-9CAF-1A06647A2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BCC39BC-8F2F-9E09-B44C-773F5BADFD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2305667"/>
              </p:ext>
            </p:extLst>
          </p:nvPr>
        </p:nvGraphicFramePr>
        <p:xfrm>
          <a:off x="524192" y="1978705"/>
          <a:ext cx="8095616" cy="1409700"/>
        </p:xfrm>
        <a:graphic>
          <a:graphicData uri="http://schemas.openxmlformats.org/drawingml/2006/table">
            <a:tbl>
              <a:tblPr/>
              <a:tblGrid>
                <a:gridCol w="4047808">
                  <a:extLst>
                    <a:ext uri="{9D8B030D-6E8A-4147-A177-3AD203B41FA5}">
                      <a16:colId xmlns:a16="http://schemas.microsoft.com/office/drawing/2014/main" val="1222217220"/>
                    </a:ext>
                  </a:extLst>
                </a:gridCol>
                <a:gridCol w="4047808">
                  <a:extLst>
                    <a:ext uri="{9D8B030D-6E8A-4147-A177-3AD203B41FA5}">
                      <a16:colId xmlns:a16="http://schemas.microsoft.com/office/drawing/2014/main" val="12756529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 b="1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if</a:t>
                      </a:r>
                      <a:r>
                        <a:rPr lang="ko-KR" altLang="en-US" sz="1100" b="1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절</a:t>
                      </a:r>
                      <a:r>
                        <a:rPr lang="en-US" altLang="ko-KR" sz="1100" b="1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1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부사절</a:t>
                      </a:r>
                      <a:r>
                        <a:rPr lang="en-US" altLang="ko-KR" sz="1100" b="1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주절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6697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100" b="0" baseline="0">
                          <a:solidFill>
                            <a:srgbClr val="65432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If it </a:t>
                      </a:r>
                      <a:r>
                        <a:rPr lang="en-US" sz="1100" b="1" baseline="0">
                          <a:solidFill>
                            <a:srgbClr val="8B451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had</a:t>
                      </a:r>
                      <a:r>
                        <a:rPr lang="en-US" sz="1100" b="0" baseline="0">
                          <a:solidFill>
                            <a:srgbClr val="65432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 not </a:t>
                      </a:r>
                      <a:r>
                        <a:rPr lang="en-US" sz="1100" b="1" baseline="0">
                          <a:solidFill>
                            <a:srgbClr val="8B451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snowed</a:t>
                      </a:r>
                      <a:r>
                        <a:rPr lang="en-US" sz="1100" b="0" baseline="0">
                          <a:solidFill>
                            <a:srgbClr val="65432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 yesterday,</a:t>
                      </a:r>
                      <a:endParaRPr lang="en-US" sz="1100" b="0" baseline="0">
                        <a:solidFill>
                          <a:srgbClr val="40404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baseline="0">
                          <a:solidFill>
                            <a:srgbClr val="65432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we</a:t>
                      </a:r>
                      <a:r>
                        <a:rPr lang="en-US" sz="1100" b="1" baseline="0">
                          <a:solidFill>
                            <a:srgbClr val="8B451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 would have gone</a:t>
                      </a:r>
                      <a:r>
                        <a:rPr lang="en-US" sz="1100" b="0" baseline="0">
                          <a:solidFill>
                            <a:srgbClr val="65432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 out.</a:t>
                      </a:r>
                      <a:endParaRPr lang="en-US" sz="1100" b="0" baseline="0">
                        <a:solidFill>
                          <a:srgbClr val="40404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0010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과거완료 시제</a:t>
                      </a:r>
                      <a:r>
                        <a:rPr lang="en-US" altLang="ko-KR" sz="11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(had + </a:t>
                      </a:r>
                      <a:r>
                        <a:rPr lang="ko-KR" altLang="en-US" sz="11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과거분사</a:t>
                      </a:r>
                      <a:r>
                        <a:rPr lang="en-US" altLang="ko-KR" sz="11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조동사 과거 </a:t>
                      </a:r>
                      <a:r>
                        <a:rPr lang="en-US" altLang="ko-KR" sz="11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 have + </a:t>
                      </a:r>
                      <a:r>
                        <a:rPr lang="ko-KR" altLang="en-US" sz="11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과거분사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400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과거 사실과 다른 가정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과거에 대한 아쉬움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3472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만약 </a:t>
                      </a:r>
                      <a:r>
                        <a:rPr lang="en-US" altLang="ko-KR" sz="11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~</a:t>
                      </a:r>
                      <a:r>
                        <a:rPr lang="ko-KR" altLang="en-US" sz="11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였더라면</a:t>
                      </a:r>
                      <a:r>
                        <a:rPr lang="en-US" altLang="ko-KR" sz="11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했더라면</a:t>
                      </a:r>
                      <a:r>
                        <a:rPr lang="en-US" altLang="ko-KR" sz="11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1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~</a:t>
                      </a:r>
                      <a:r>
                        <a:rPr lang="ko-KR" altLang="en-US" sz="11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했을 텐데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145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1E5CD78-E156-ECF9-BC81-58D508663ABC}"/>
              </a:ext>
            </a:extLst>
          </p:cNvPr>
          <p:cNvSpPr txBox="1"/>
          <p:nvPr/>
        </p:nvSpPr>
        <p:spPr>
          <a:xfrm>
            <a:off x="239968" y="3490080"/>
            <a:ext cx="8664066" cy="1583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>
                <a:latin typeface="+mn-ea"/>
                <a:ea typeface="+mn-ea"/>
              </a:rPr>
              <a:t>if</a:t>
            </a:r>
            <a:r>
              <a:rPr lang="ko-KR" altLang="en-US" sz="1100" dirty="0">
                <a:latin typeface="+mn-ea"/>
                <a:ea typeface="+mn-ea"/>
              </a:rPr>
              <a:t>절에서 과거에 대한 가정을 하기 위해서 과거완료 시제를 쓴다는 점에 유의해야 합니다</a:t>
            </a:r>
            <a:r>
              <a:rPr lang="en-US" altLang="ko-KR" sz="1100" dirty="0">
                <a:latin typeface="+mn-ea"/>
                <a:ea typeface="+mn-ea"/>
              </a:rPr>
              <a:t>. </a:t>
            </a:r>
            <a:r>
              <a:rPr lang="ko-KR" altLang="en-US" sz="1100" dirty="0">
                <a:latin typeface="+mn-ea"/>
                <a:ea typeface="+mn-ea"/>
              </a:rPr>
              <a:t>가정을 하기 위해서 시제 왜곡이 필요하기 때문입니다</a:t>
            </a:r>
            <a:r>
              <a:rPr lang="en-US" altLang="ko-KR" sz="1100" dirty="0">
                <a:latin typeface="+mn-ea"/>
                <a:ea typeface="+mn-ea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1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+mn-ea"/>
                <a:ea typeface="+mn-ea"/>
              </a:rPr>
              <a:t>과거를 나타냄</a:t>
            </a:r>
            <a:r>
              <a:rPr lang="en-US" altLang="ko-KR" sz="1100" dirty="0">
                <a:latin typeface="+mn-ea"/>
                <a:ea typeface="+mn-ea"/>
              </a:rPr>
              <a:t>(</a:t>
            </a:r>
            <a:r>
              <a:rPr lang="ko-KR" altLang="en-US" sz="1100" dirty="0">
                <a:latin typeface="+mn-ea"/>
                <a:ea typeface="+mn-ea"/>
              </a:rPr>
              <a:t>직설법</a:t>
            </a:r>
            <a:r>
              <a:rPr lang="en-US" altLang="ko-KR" sz="1100" dirty="0">
                <a:latin typeface="+mn-ea"/>
                <a:ea typeface="+mn-ea"/>
              </a:rPr>
              <a:t>)  </a:t>
            </a:r>
            <a:r>
              <a:rPr lang="ko-KR" altLang="en-US" sz="1100" dirty="0">
                <a:latin typeface="+mn-ea"/>
                <a:ea typeface="+mn-ea"/>
              </a:rPr>
              <a:t>과거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+mn-ea"/>
                <a:ea typeface="+mn-ea"/>
              </a:rPr>
              <a:t>과거를 가정함</a:t>
            </a:r>
            <a:r>
              <a:rPr lang="en-US" altLang="ko-KR" sz="1100" dirty="0">
                <a:latin typeface="+mn-ea"/>
                <a:ea typeface="+mn-ea"/>
              </a:rPr>
              <a:t>(</a:t>
            </a:r>
            <a:r>
              <a:rPr lang="ko-KR" altLang="en-US" sz="1100" dirty="0">
                <a:latin typeface="+mn-ea"/>
                <a:ea typeface="+mn-ea"/>
              </a:rPr>
              <a:t>가정법</a:t>
            </a:r>
            <a:r>
              <a:rPr lang="en-US" altLang="ko-KR" sz="1100" dirty="0">
                <a:latin typeface="+mn-ea"/>
                <a:ea typeface="+mn-ea"/>
              </a:rPr>
              <a:t>)  </a:t>
            </a:r>
            <a:r>
              <a:rPr lang="ko-KR" altLang="en-US" sz="1100" dirty="0">
                <a:latin typeface="+mn-ea"/>
                <a:ea typeface="+mn-ea"/>
              </a:rPr>
              <a:t>시제 왜곡 필요  과거완료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+mn-ea"/>
                <a:ea typeface="+mn-ea"/>
              </a:rPr>
              <a:t>주절에서는 조동사 과거 </a:t>
            </a:r>
            <a:r>
              <a:rPr lang="en-US" altLang="ko-KR" sz="1100" dirty="0">
                <a:latin typeface="+mn-ea"/>
                <a:ea typeface="+mn-ea"/>
              </a:rPr>
              <a:t>+ </a:t>
            </a:r>
            <a:r>
              <a:rPr lang="ko-KR" altLang="en-US" sz="1100" dirty="0">
                <a:latin typeface="+mn-ea"/>
                <a:ea typeface="+mn-ea"/>
              </a:rPr>
              <a:t>현재완료 형태로 사용되는데</a:t>
            </a:r>
            <a:r>
              <a:rPr lang="en-US" altLang="ko-KR" sz="1100" dirty="0">
                <a:latin typeface="+mn-ea"/>
                <a:ea typeface="+mn-ea"/>
              </a:rPr>
              <a:t>, </a:t>
            </a:r>
            <a:r>
              <a:rPr lang="ko-KR" altLang="en-US" sz="1100" dirty="0">
                <a:latin typeface="+mn-ea"/>
                <a:ea typeface="+mn-ea"/>
              </a:rPr>
              <a:t>조동사 때문에 </a:t>
            </a:r>
            <a:r>
              <a:rPr lang="en-US" altLang="ko-KR" sz="1100" dirty="0">
                <a:latin typeface="+mn-ea"/>
                <a:ea typeface="+mn-ea"/>
              </a:rPr>
              <a:t>had(</a:t>
            </a:r>
            <a:r>
              <a:rPr lang="ko-KR" altLang="en-US" sz="1100" dirty="0">
                <a:latin typeface="+mn-ea"/>
                <a:ea typeface="+mn-ea"/>
              </a:rPr>
              <a:t>과거완료</a:t>
            </a:r>
            <a:r>
              <a:rPr lang="en-US" altLang="ko-KR" sz="1100" dirty="0">
                <a:latin typeface="+mn-ea"/>
                <a:ea typeface="+mn-ea"/>
              </a:rPr>
              <a:t>)</a:t>
            </a:r>
            <a:r>
              <a:rPr lang="ko-KR" altLang="en-US" sz="1100" dirty="0">
                <a:latin typeface="+mn-ea"/>
                <a:ea typeface="+mn-ea"/>
              </a:rPr>
              <a:t>가 </a:t>
            </a:r>
            <a:r>
              <a:rPr lang="en-US" altLang="ko-KR" sz="1100" dirty="0">
                <a:latin typeface="+mn-ea"/>
                <a:ea typeface="+mn-ea"/>
              </a:rPr>
              <a:t>have(</a:t>
            </a:r>
            <a:r>
              <a:rPr lang="ko-KR" altLang="en-US" sz="1100" dirty="0">
                <a:latin typeface="+mn-ea"/>
                <a:ea typeface="+mn-ea"/>
              </a:rPr>
              <a:t>현재완료</a:t>
            </a:r>
            <a:r>
              <a:rPr lang="en-US" altLang="ko-KR" sz="1100" dirty="0">
                <a:latin typeface="+mn-ea"/>
                <a:ea typeface="+mn-ea"/>
              </a:rPr>
              <a:t>)</a:t>
            </a:r>
            <a:r>
              <a:rPr lang="ko-KR" altLang="en-US" sz="1100" dirty="0">
                <a:latin typeface="+mn-ea"/>
                <a:ea typeface="+mn-ea"/>
              </a:rPr>
              <a:t>로 바뀐 것 뿐입니다</a:t>
            </a:r>
            <a:r>
              <a:rPr lang="en-US" altLang="ko-KR" sz="1100" dirty="0">
                <a:latin typeface="+mn-ea"/>
                <a:ea typeface="+mn-ea"/>
              </a:rPr>
              <a:t>. </a:t>
            </a:r>
            <a:endParaRPr lang="ko-KR" altLang="en-US" sz="11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423483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Grammar: </a:t>
            </a:r>
            <a:r>
              <a:rPr lang="ko-KR" altLang="en-US" dirty="0">
                <a:latin typeface="+mj-ea"/>
                <a:ea typeface="+mj-ea"/>
              </a:rPr>
              <a:t>가정법 과거완료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가정법 과거완료 예문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31A44-6418-4F22-04ED-BE8E6840EA7A}"/>
              </a:ext>
            </a:extLst>
          </p:cNvPr>
          <p:cNvSpPr txBox="1"/>
          <p:nvPr/>
        </p:nvSpPr>
        <p:spPr>
          <a:xfrm>
            <a:off x="247545" y="1491264"/>
            <a:ext cx="8664066" cy="35297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 I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had studied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harder, I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would have passed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the exam.</a:t>
            </a:r>
            <a:r>
              <a:rPr lang="en-US" altLang="ko-KR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더 열심히 공부했다면 시험에 합격했을 텐데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 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과거완료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(had studied):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과거 사실과 다른 가정</a:t>
            </a:r>
            <a:endParaRPr lang="en-US" altLang="ko-KR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조동사 과거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(would) + have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과거분사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(passed):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과거 사실에 대한 아쉬움이나 소망</a:t>
            </a:r>
          </a:p>
          <a:p>
            <a:pPr algn="l">
              <a:lnSpc>
                <a:spcPct val="150000"/>
              </a:lnSpc>
            </a:pPr>
            <a:endParaRPr lang="en-US" altLang="ko-KR" sz="10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would have been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happy if you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had invited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me to the party.</a:t>
            </a:r>
            <a:r>
              <a:rPr lang="en-US" altLang="ko-KR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네가 나를 파티에 초대했다면 기뻤을 텐데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조동사 과거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(would) + have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과거분사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(been):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과거 사실에 대한 아쉬움이나 소망</a:t>
            </a:r>
            <a:endParaRPr lang="en-US" altLang="ko-KR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 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과거완료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(had invited):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과거 사실과 다른 가정</a:t>
            </a:r>
          </a:p>
          <a:p>
            <a:pPr algn="l">
              <a:lnSpc>
                <a:spcPct val="150000"/>
              </a:lnSpc>
            </a:pPr>
            <a:endParaRPr lang="en-US" altLang="ko-KR" sz="10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He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would have become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a teacher if he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had gone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to university.</a:t>
            </a:r>
            <a:r>
              <a:rPr lang="en-US" altLang="ko-KR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그는 대학에 갔다면 교사가 되었을 텐데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조동사 과거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(would) + have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과거분사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(become):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과거 사실에 대한 아쉬움이나 소망</a:t>
            </a:r>
            <a:endParaRPr lang="en-US" altLang="ko-KR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 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과거완료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(had gone):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과거 사실과 다른 가정</a:t>
            </a:r>
          </a:p>
          <a:p>
            <a:pPr algn="l">
              <a:lnSpc>
                <a:spcPct val="150000"/>
              </a:lnSpc>
            </a:pPr>
            <a:endParaRPr lang="en-US" altLang="ko-KR" sz="10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 he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had saved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enough money, he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would have bought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a new car.</a:t>
            </a:r>
            <a:r>
              <a:rPr lang="en-US" altLang="ko-KR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그가 돈을 충분히 모았다면 새 차를 샀을 텐데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 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과거완료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(had saved):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과거 사실과 다른 가정</a:t>
            </a:r>
            <a:endParaRPr lang="en-US" altLang="ko-KR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조동사 과거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(would) + have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과거분사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(bought):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과거 사실에 대한 아쉬움이나 소망</a:t>
            </a: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5EFC9552-1E21-4B17-A336-736421E0D8BC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0289BDC-58C9-4320-9C74-5216D2DDA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1472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Grammar: </a:t>
            </a:r>
            <a:r>
              <a:rPr lang="ko-KR" altLang="en-US" dirty="0">
                <a:latin typeface="+mj-ea"/>
                <a:ea typeface="+mj-ea"/>
              </a:rPr>
              <a:t>가정법 과거완료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가정법 과거완료 예문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31A44-6418-4F22-04ED-BE8E6840EA7A}"/>
              </a:ext>
            </a:extLst>
          </p:cNvPr>
          <p:cNvSpPr txBox="1"/>
          <p:nvPr/>
        </p:nvSpPr>
        <p:spPr>
          <a:xfrm>
            <a:off x="247545" y="1516510"/>
            <a:ext cx="8664066" cy="3113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 I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had had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time, I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could have made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it more simple.</a:t>
            </a:r>
            <a:r>
              <a:rPr lang="en-US" altLang="ko-KR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내가 만약 시간이 있었다면 더 간단하게 만들 수 있었을 텐데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 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과거완료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(had had):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과거 사실과 다른 가정</a:t>
            </a:r>
            <a:endParaRPr lang="en-US" altLang="ko-KR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조동사 과거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(could) + have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과거분사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(made):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과거 사실에 대한 아쉬움이나 소망</a:t>
            </a:r>
          </a:p>
          <a:p>
            <a:pPr algn="l">
              <a:lnSpc>
                <a:spcPct val="150000"/>
              </a:lnSpc>
            </a:pPr>
            <a:endParaRPr lang="en-US" altLang="ko-KR" sz="11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 I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had taken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a taxi, I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wouldn't have missed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the train.</a:t>
            </a:r>
            <a:r>
              <a:rPr lang="en-US" altLang="ko-KR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택시를 탔다면 기차를 놓치지 않았을 텐데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 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과거완료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(had taken):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과거 사실과 다른 가정</a:t>
            </a:r>
            <a:endParaRPr lang="en-US" altLang="ko-KR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조동사 과거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(wouldn't) + have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과거분사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(missed):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과거 사실에 대한 아쉬움이나 소망</a:t>
            </a:r>
          </a:p>
          <a:p>
            <a:pPr algn="l">
              <a:lnSpc>
                <a:spcPct val="150000"/>
              </a:lnSpc>
            </a:pPr>
            <a:endParaRPr lang="en-US" altLang="ko-KR" sz="11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 there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hadn't been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so much traffic he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wouldn't have missed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his flight.</a:t>
            </a:r>
            <a:r>
              <a:rPr lang="en-US" altLang="ko-KR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교통체증이 없었더라면 그는 비행기를 놓치지 않았을 텐데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 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과거완료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(hadn't been):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과거 사실과 다른 가정</a:t>
            </a:r>
            <a:endParaRPr lang="en-US" altLang="ko-KR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조동사 과거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(wouldn't) + have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과거분사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(missed):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과거 사실에 대한 아쉬움이나 소망</a:t>
            </a: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endParaRPr lang="en-US" altLang="ko-KR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5EFC9552-1E21-4B17-A336-736421E0D8BC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B3F6C00-243E-45BE-B51E-4A2996365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pic>
        <p:nvPicPr>
          <p:cNvPr id="2" name="그림 1">
            <a:hlinkClick r:id="rId3"/>
            <a:extLst>
              <a:ext uri="{FF2B5EF4-FFF2-40B4-BE49-F238E27FC236}">
                <a16:creationId xmlns:a16="http://schemas.microsoft.com/office/drawing/2014/main" id="{9BD18537-005D-199F-4052-EBAFEC1CC7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2362" y="4680967"/>
            <a:ext cx="1511939" cy="4389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2A34E6-52D7-3E4F-C9F3-FC4F289ED622}"/>
              </a:ext>
            </a:extLst>
          </p:cNvPr>
          <p:cNvSpPr txBox="1"/>
          <p:nvPr/>
        </p:nvSpPr>
        <p:spPr>
          <a:xfrm>
            <a:off x="6062521" y="4904473"/>
            <a:ext cx="308147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/>
              <a:t>https://www.englishcube.net/grammar_exam.php?category2=61</a:t>
            </a:r>
          </a:p>
        </p:txBody>
      </p:sp>
    </p:spTree>
    <p:extLst>
      <p:ext uri="{BB962C8B-B14F-4D97-AF65-F5344CB8AC3E}">
        <p14:creationId xmlns:p14="http://schemas.microsoft.com/office/powerpoint/2010/main" val="1769618372"/>
      </p:ext>
    </p:extLst>
  </p:cSld>
  <p:clrMapOvr>
    <a:masterClrMapping/>
  </p:clrMapOvr>
</p:sld>
</file>

<file path=ppt/theme/theme1.xml><?xml version="1.0" encoding="utf-8"?>
<a:theme xmlns:a="http://schemas.openxmlformats.org/drawingml/2006/main" name="TOWN HALL BUSINESS PLAN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A3CAF7"/>
      </a:accent1>
      <a:accent2>
        <a:srgbClr val="EB573D"/>
      </a:accent2>
      <a:accent3>
        <a:srgbClr val="5FA4AB"/>
      </a:accent3>
      <a:accent4>
        <a:srgbClr val="051934"/>
      </a:accent4>
      <a:accent5>
        <a:srgbClr val="F8C379"/>
      </a:accent5>
      <a:accent6>
        <a:srgbClr val="FA9778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11813</TotalTime>
  <Words>1839</Words>
  <Application>Microsoft Office PowerPoint</Application>
  <PresentationFormat>화면 슬라이드 쇼(16:9)</PresentationFormat>
  <Paragraphs>252</Paragraphs>
  <Slides>19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8" baseType="lpstr">
      <vt:lpstr>Wingdings</vt:lpstr>
      <vt:lpstr>Symbol</vt:lpstr>
      <vt:lpstr>Open Sans</vt:lpstr>
      <vt:lpstr>Calibri</vt:lpstr>
      <vt:lpstr>맑은 고딕</vt:lpstr>
      <vt:lpstr>HY헤드라인M</vt:lpstr>
      <vt:lpstr>Righteous</vt:lpstr>
      <vt:lpstr>Arial</vt:lpstr>
      <vt:lpstr>TOWN HALL BUSINESS PLAN</vt:lpstr>
      <vt:lpstr>외국어시험 대체 강좌 – 시사영어 </vt:lpstr>
      <vt:lpstr>Table of Contents</vt:lpstr>
      <vt:lpstr>사회</vt:lpstr>
      <vt:lpstr>1. Key Expressions </vt:lpstr>
      <vt:lpstr>1. Key Expressions </vt:lpstr>
      <vt:lpstr>1. Key Expressions </vt:lpstr>
      <vt:lpstr>1. Key Expressions </vt:lpstr>
      <vt:lpstr>1. Key Expressions </vt:lpstr>
      <vt:lpstr>1. Key Expressions </vt:lpstr>
      <vt:lpstr>1. Key Expressions </vt:lpstr>
      <vt:lpstr>1. Key Expressions </vt:lpstr>
      <vt:lpstr>2. Word List </vt:lpstr>
      <vt:lpstr>2. Word List </vt:lpstr>
      <vt:lpstr>2. Word List </vt:lpstr>
      <vt:lpstr>2. Word List </vt:lpstr>
      <vt:lpstr>3. Grammar: 가정법 과거완료</vt:lpstr>
      <vt:lpstr>3.1 Grammar: 가정법 과거완료</vt:lpstr>
      <vt:lpstr>3.1 Grammar: 가정법 과거완료</vt:lpstr>
      <vt:lpstr>3.1 Grammar: 가정법 과거완료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솔루션 소개 및 시연</dc:title>
  <dc:creator>Kyunghee</dc:creator>
  <cp:lastModifiedBy>Kyunghee Lee</cp:lastModifiedBy>
  <cp:revision>162</cp:revision>
  <dcterms:modified xsi:type="dcterms:W3CDTF">2024-01-21T10:55:57Z</dcterms:modified>
</cp:coreProperties>
</file>