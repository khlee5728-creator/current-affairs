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7"/>
  </p:notesMasterIdLst>
  <p:sldIdLst>
    <p:sldId id="256" r:id="rId2"/>
    <p:sldId id="279" r:id="rId3"/>
    <p:sldId id="261" r:id="rId4"/>
    <p:sldId id="378" r:id="rId5"/>
    <p:sldId id="390" r:id="rId6"/>
    <p:sldId id="420" r:id="rId7"/>
    <p:sldId id="421" r:id="rId8"/>
    <p:sldId id="435" r:id="rId9"/>
    <p:sldId id="438" r:id="rId10"/>
    <p:sldId id="437" r:id="rId11"/>
    <p:sldId id="439" r:id="rId12"/>
    <p:sldId id="434" r:id="rId13"/>
    <p:sldId id="309" r:id="rId14"/>
    <p:sldId id="440" r:id="rId15"/>
    <p:sldId id="389" r:id="rId16"/>
    <p:sldId id="412" r:id="rId17"/>
    <p:sldId id="441" r:id="rId18"/>
    <p:sldId id="442" r:id="rId19"/>
    <p:sldId id="423" r:id="rId20"/>
    <p:sldId id="443" r:id="rId21"/>
    <p:sldId id="444" r:id="rId22"/>
    <p:sldId id="426" r:id="rId23"/>
    <p:sldId id="413" r:id="rId24"/>
    <p:sldId id="445" r:id="rId25"/>
    <p:sldId id="427" r:id="rId26"/>
  </p:sldIdLst>
  <p:sldSz cx="9144000" cy="5143500" type="screen16x9"/>
  <p:notesSz cx="6797675" cy="9926638"/>
  <p:embeddedFontLst>
    <p:embeddedFont>
      <p:font typeface="HY헤드라인M" panose="02030600000101010101" pitchFamily="18" charset="-127"/>
      <p:regular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Righteous" panose="020B0600000101010101" charset="0"/>
      <p:regular r:id="rId33"/>
    </p:embeddedFont>
    <p:embeddedFont>
      <p:font typeface="맑은 고딕" panose="020B0503020000020004" pitchFamily="50" charset="-127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2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2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englishcube.net/grammar_view.php?category2=24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www.englishcube.net/grammar_exam.php?category2=59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6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 대체 강좌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정치 외교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한미관계</a:t>
            </a:r>
            <a:r>
              <a:rPr lang="en-US" altLang="ko-KR" b="1" dirty="0"/>
              <a:t>/ </a:t>
            </a:r>
            <a:r>
              <a:rPr lang="ko-KR" altLang="en-US" b="1" dirty="0"/>
              <a:t>한중관계 </a:t>
            </a:r>
            <a:r>
              <a:rPr lang="en-US" altLang="ko-KR" b="1" dirty="0"/>
              <a:t>/ </a:t>
            </a:r>
            <a:r>
              <a:rPr lang="ko-KR" altLang="en-US" b="1" dirty="0"/>
              <a:t>한일관계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4089070" cy="172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3.1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가정법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3.2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가정법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생략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FF67903-1780-4677-B503-79E03CBE74B0}"/>
              </a:ext>
            </a:extLst>
          </p:cNvPr>
          <p:cNvGrpSpPr/>
          <p:nvPr/>
        </p:nvGrpSpPr>
        <p:grpSpPr>
          <a:xfrm>
            <a:off x="211075" y="1897666"/>
            <a:ext cx="639505" cy="639505"/>
            <a:chOff x="8343693" y="377904"/>
            <a:chExt cx="639505" cy="639505"/>
          </a:xfrm>
        </p:grpSpPr>
        <p:sp>
          <p:nvSpPr>
            <p:cNvPr id="9" name="Google Shape;1750;p54">
              <a:extLst>
                <a:ext uri="{FF2B5EF4-FFF2-40B4-BE49-F238E27FC236}">
                  <a16:creationId xmlns:a16="http://schemas.microsoft.com/office/drawing/2014/main" id="{F4A99721-B933-49C0-A7D7-C66E2C6BD1BF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rgbClr val="FDDC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8A518E3-1A49-4116-A41E-338E20EF7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999220" y="1102495"/>
            <a:ext cx="2938510" cy="29385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정치 외교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4802345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한미관계 </a:t>
            </a:r>
            <a:r>
              <a:rPr lang="en-US" altLang="ko-KR" dirty="0"/>
              <a:t>/ </a:t>
            </a:r>
            <a:r>
              <a:rPr lang="ko-KR" altLang="en-US" dirty="0"/>
              <a:t>한중관계 </a:t>
            </a:r>
            <a:r>
              <a:rPr lang="en-US" altLang="ko-KR" dirty="0"/>
              <a:t>/ </a:t>
            </a:r>
            <a:r>
              <a:rPr lang="ko-KR" altLang="en-US" dirty="0"/>
              <a:t>한일관계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06</a:t>
            </a:r>
            <a:endParaRPr lang="ko-KR" altLang="en-US" sz="4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83AAD3-62F1-4ADE-B84F-F16934531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609" y="1716819"/>
            <a:ext cx="1687413" cy="1687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869982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073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now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able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stand on our own </a:t>
                      </a:r>
                      <a:r>
                        <a:rPr lang="en-US" altLang="ko-KR" sz="1000" dirty="0"/>
                        <a:t>rather than turn to the U.S. for national security.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Yeah, you’re right. The thing is North Korea’s military threat is too strong for South Korea alone to deal with.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스스로 결정해야 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 become independent rather than turn to the U.S. for national security.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should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stand on our own </a:t>
                      </a:r>
                      <a:r>
                        <a:rPr lang="en-US" altLang="ko-KR" sz="1000" dirty="0"/>
                        <a:t>rather than turn to the U.S. for national security.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074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 we need to have Wartime Operational Control handed over to us? Wouldn’t it better for the U.S. to hold it?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time we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took matters into our own hands </a:t>
                      </a:r>
                      <a:r>
                        <a:rPr lang="en-US" altLang="ko-KR" sz="1000" dirty="0"/>
                        <a:t>to defend our country.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스스로 결정한다고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make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own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decisions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defend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country.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should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take matters into our own hands </a:t>
                      </a:r>
                      <a:r>
                        <a:rPr lang="en-US" altLang="ko-KR" sz="1000" dirty="0"/>
                        <a:t>to defend our country.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한미관계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070BE19-8CA9-4CB7-AC6E-6EC0FF175078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7" name="Google Shape;1750;p54">
              <a:extLst>
                <a:ext uri="{FF2B5EF4-FFF2-40B4-BE49-F238E27FC236}">
                  <a16:creationId xmlns:a16="http://schemas.microsoft.com/office/drawing/2014/main" id="{4B604909-6D3B-44ED-9A51-917E7C1FEEA7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EC20688-F53D-4ADB-9934-41F6C9801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FBB80C5-A96A-8276-FA1F-C598EDCB85A4}"/>
              </a:ext>
            </a:extLst>
          </p:cNvPr>
          <p:cNvSpPr txBox="1"/>
          <p:nvPr/>
        </p:nvSpPr>
        <p:spPr>
          <a:xfrm>
            <a:off x="414440" y="4857441"/>
            <a:ext cx="8568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* Stand</a:t>
            </a:r>
            <a:r>
              <a:rPr lang="ko-KR" altLang="en-US" sz="900" dirty="0"/>
              <a:t> </a:t>
            </a:r>
            <a:r>
              <a:rPr lang="en-US" altLang="ko-KR" sz="900" dirty="0"/>
              <a:t>on our own (two feet) </a:t>
            </a:r>
            <a:r>
              <a:rPr lang="ko-KR" altLang="en-US" sz="900" dirty="0"/>
              <a:t>스스로 </a:t>
            </a:r>
            <a:r>
              <a:rPr lang="en-US" altLang="ko-KR" sz="900" dirty="0"/>
              <a:t>(</a:t>
            </a:r>
            <a:r>
              <a:rPr lang="ko-KR" altLang="en-US" sz="900" dirty="0"/>
              <a:t>두 발로</a:t>
            </a:r>
            <a:r>
              <a:rPr lang="en-US" altLang="ko-KR" sz="900" dirty="0"/>
              <a:t>) </a:t>
            </a:r>
            <a:r>
              <a:rPr lang="ko-KR" altLang="en-US" sz="900" dirty="0"/>
              <a:t>일어선다</a:t>
            </a:r>
            <a:r>
              <a:rPr lang="en-US" altLang="ko-KR" sz="900" dirty="0"/>
              <a:t>. / take</a:t>
            </a:r>
            <a:r>
              <a:rPr lang="ko-KR" altLang="en-US" sz="900" dirty="0"/>
              <a:t> </a:t>
            </a:r>
            <a:r>
              <a:rPr lang="en-US" altLang="ko-KR" sz="900" dirty="0"/>
              <a:t>matters</a:t>
            </a:r>
            <a:r>
              <a:rPr lang="ko-KR" altLang="en-US" sz="900" dirty="0"/>
              <a:t> </a:t>
            </a:r>
            <a:r>
              <a:rPr lang="en-US" altLang="ko-KR" sz="900" dirty="0"/>
              <a:t>into</a:t>
            </a:r>
            <a:r>
              <a:rPr lang="ko-KR" altLang="en-US" sz="900" dirty="0"/>
              <a:t> </a:t>
            </a:r>
            <a:r>
              <a:rPr lang="en-US" altLang="ko-KR" sz="900" dirty="0"/>
              <a:t>our</a:t>
            </a:r>
            <a:r>
              <a:rPr lang="ko-KR" altLang="en-US" sz="900" dirty="0"/>
              <a:t> </a:t>
            </a:r>
            <a:r>
              <a:rPr lang="en-US" altLang="ko-KR" sz="900" dirty="0"/>
              <a:t>own hands </a:t>
            </a:r>
            <a:r>
              <a:rPr lang="ko-KR" altLang="en-US" sz="900" dirty="0"/>
              <a:t>어떤 일을 우리 스스로의 손 안에 둔다</a:t>
            </a:r>
            <a:r>
              <a:rPr lang="en-US" altLang="ko-KR" sz="900" dirty="0"/>
              <a:t>. 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209738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075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US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fought side by side </a:t>
                      </a:r>
                      <a:r>
                        <a:rPr lang="en-US" altLang="ko-KR" sz="1000" dirty="0"/>
                        <a:t>with us in the Korean War, so we owe them our thanks.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Had they not come to defend us, we’d all be under a dictatorship today.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함께 싸웠다고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fought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together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with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War.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US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fought side by side </a:t>
                      </a:r>
                      <a:r>
                        <a:rPr lang="en-US" altLang="ko-KR" sz="1000" dirty="0"/>
                        <a:t>with us in the Korean War.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076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Although Korea is an independent nation, some suspect that the U.S.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pulling the strings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When you consider how much power the U.S. has, Korea really has no other choice.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어떤 것의 영향 하에 있다고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The US has a big influence on Korea.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pulling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the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string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한미관계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E5B3C0B-4E19-8AC3-6075-20FF24DF7F49}"/>
              </a:ext>
            </a:extLst>
          </p:cNvPr>
          <p:cNvSpPr txBox="1"/>
          <p:nvPr/>
        </p:nvSpPr>
        <p:spPr>
          <a:xfrm>
            <a:off x="414440" y="4857441"/>
            <a:ext cx="8568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* pull the string </a:t>
            </a:r>
            <a:r>
              <a:rPr lang="ko-KR" altLang="en-US" sz="900" dirty="0"/>
              <a:t>꼭두각시 인형에 매달려 있는 줄을 당기다</a:t>
            </a:r>
            <a:r>
              <a:rPr lang="en-US" altLang="ko-KR" sz="900" dirty="0"/>
              <a:t>. </a:t>
            </a:r>
            <a:r>
              <a:rPr lang="ko-KR" altLang="en-US" sz="900" dirty="0"/>
              <a:t>조종당하다</a:t>
            </a:r>
            <a:r>
              <a:rPr lang="en-US" altLang="ko-KR" sz="900" dirty="0"/>
              <a:t>. 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51118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198781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077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 people think that China is emerging as the most important ally to South Korea.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Well, I think the alliance between South Korea and the U.S. still forms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backbone</a:t>
                      </a:r>
                      <a:r>
                        <a:rPr lang="en-US" altLang="ko-KR" sz="1000" dirty="0"/>
                        <a:t> of our security.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근간을 이룬다고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alliance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between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South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U.S.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most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important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security.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alliance between South Korea and the U.S. forms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backbone</a:t>
                      </a:r>
                      <a:r>
                        <a:rPr lang="en-US" altLang="ko-KR" sz="1000" dirty="0"/>
                        <a:t> of our security.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078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Why do you think the U.S. wants to deploy THAAD on the Korean peninsula?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it simply wants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shift </a:t>
                      </a:r>
                      <a:r>
                        <a:rPr lang="en-US" altLang="ko-KR" sz="1000" dirty="0"/>
                        <a:t>the balance of power in the East Asian region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 its favor.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상황을 유리하게 전환한다고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simply wants to make the situation more favorable to it.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 simply wants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shift</a:t>
                      </a:r>
                      <a:r>
                        <a:rPr lang="en-US" altLang="ko-KR" sz="1000" dirty="0"/>
                        <a:t> the balance of power in the region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 its favor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한미관계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217E185-06AB-A247-6B57-751E768FFC45}"/>
              </a:ext>
            </a:extLst>
          </p:cNvPr>
          <p:cNvSpPr txBox="1"/>
          <p:nvPr/>
        </p:nvSpPr>
        <p:spPr>
          <a:xfrm>
            <a:off x="414440" y="4857441"/>
            <a:ext cx="8568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* shift</a:t>
            </a:r>
            <a:r>
              <a:rPr lang="ko-KR" altLang="en-US" sz="900" dirty="0"/>
              <a:t> </a:t>
            </a:r>
            <a:r>
              <a:rPr lang="en-US" altLang="ko-KR" sz="900" dirty="0"/>
              <a:t>~to</a:t>
            </a:r>
            <a:r>
              <a:rPr lang="ko-KR" altLang="en-US" sz="900" dirty="0"/>
              <a:t> </a:t>
            </a:r>
            <a:r>
              <a:rPr lang="en-US" altLang="ko-KR" sz="900" dirty="0"/>
              <a:t>A’s</a:t>
            </a:r>
            <a:r>
              <a:rPr lang="ko-KR" altLang="en-US" sz="900" dirty="0"/>
              <a:t> </a:t>
            </a:r>
            <a:r>
              <a:rPr lang="en-US" altLang="ko-KR" sz="900" dirty="0"/>
              <a:t>favor ~</a:t>
            </a:r>
            <a:r>
              <a:rPr lang="ko-KR" altLang="en-US" sz="900" dirty="0"/>
              <a:t>를 </a:t>
            </a:r>
            <a:r>
              <a:rPr lang="en-US" altLang="ko-KR" sz="900" dirty="0"/>
              <a:t>A</a:t>
            </a:r>
            <a:r>
              <a:rPr lang="ko-KR" altLang="en-US" sz="900" dirty="0"/>
              <a:t>에게</a:t>
            </a:r>
            <a:r>
              <a:rPr lang="en-US" altLang="ko-KR" sz="900" dirty="0"/>
              <a:t> </a:t>
            </a:r>
            <a:r>
              <a:rPr lang="ko-KR" altLang="en-US" sz="900" dirty="0"/>
              <a:t>유리한 상황으로 바꾼다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44288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480509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079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next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president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conduct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difficult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task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balancing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on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the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tightrope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between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U.S. and China.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Just the thought of it makes it sound difficult.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힘들게 균형을 잡아 나간다고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next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president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keep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balance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between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U.S.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China.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Our next president should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balance on the tightrope </a:t>
                      </a:r>
                      <a:r>
                        <a:rPr lang="en-US" altLang="ko-KR" sz="1000" dirty="0"/>
                        <a:t>between the U.S. and China.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080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China was our enemy during the Korean War, but now it is our most important business partner.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is no eternal friend or foe in the world of diplomacy. We act in the best interest of our own nations.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영원한 적도 동지도 없다고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 no eternal friend or enemy in the world of diplomacy.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no eternal friend or foe </a:t>
                      </a:r>
                      <a:r>
                        <a:rPr lang="en-US" altLang="ko-KR" sz="1000" dirty="0"/>
                        <a:t>in the world diplomacy.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한중관계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607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864343"/>
              </p:ext>
            </p:extLst>
          </p:nvPr>
        </p:nvGraphicFramePr>
        <p:xfrm>
          <a:off x="367145" y="1149041"/>
          <a:ext cx="8333511" cy="19050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081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don’t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like the way the Chinese government deals with issues related to the Korean peninsula. Do we need to have such a close relationship with the country?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are in an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inextricable</a:t>
                      </a:r>
                      <a:r>
                        <a:rPr lang="en-US" altLang="ko-KR" sz="1000" dirty="0"/>
                        <a:t> relationship with China on many levels. Whether you like the country or not, we have to seek ways for a mutual partnership.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뗄 수 없는 사이라고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very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close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relationship with China.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are in an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inextricable</a:t>
                      </a:r>
                      <a:r>
                        <a:rPr lang="en-US" altLang="ko-KR" sz="1000" dirty="0"/>
                        <a:t> relationship with China.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한중관계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5078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690807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082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Japan continues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claim sovereignty </a:t>
                      </a:r>
                      <a:r>
                        <a:rPr lang="en-US" altLang="ko-KR" sz="1000" dirty="0"/>
                        <a:t>over Dokdo.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They simply want to make the islets an area of territorial dispute and turn it into a high profile issue. As it is obvious that Dokdo is our territory, we should not be so sensitive to what the Japanese government says.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독도에 대한 영유권을 주장한다고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Japan continues to claim that Dokdo is its territory.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Japan continues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claim sovereignty </a:t>
                      </a:r>
                      <a:r>
                        <a:rPr lang="en-US" altLang="ko-KR" sz="1000" dirty="0"/>
                        <a:t>over Dokdo.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083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Since the right-wing government was sworn in, Japan had been crossing the line in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whitewashing</a:t>
                      </a:r>
                      <a:r>
                        <a:rPr lang="en-US" altLang="ko-KR" sz="1000" dirty="0"/>
                        <a:t> its wartime atrocities.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a clear case of distorting historical facts for one’s political interest.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역사를 왜곡한다고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Japan had been distorting its wartime atrocities.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Japan had been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whitewashing</a:t>
                      </a:r>
                      <a:r>
                        <a:rPr lang="en-US" altLang="ko-KR" sz="1000" dirty="0"/>
                        <a:t> its wartime atrocities.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한일관계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638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57228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084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Japanese prime minister’s comment once again showed Japan’s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unrepentant </a:t>
                      </a:r>
                      <a:r>
                        <a:rPr lang="en-US" altLang="ko-KR" sz="1000" dirty="0"/>
                        <a:t>position on the sexual slavery issue.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don’t understand why the Korean government rushed to such an agreement with Japan.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뉘우칠 줄 모른다고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prime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minister’s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comment once again showed Japan is not sorry for what they did.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prime minister’s comment once again showed Japan’s unrepentant position.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085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Don’t you think that Korean and Japan should not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dwell on the past </a:t>
                      </a:r>
                      <a:r>
                        <a:rPr lang="en-US" altLang="ko-KR" sz="1000" dirty="0"/>
                        <a:t>but establish a more future-oriented relationship?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Yes, of course, as long as Japan gives us a sincere apology.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과거에 머물러서는 안 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 and Japan should forget about the past.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 and Japan should not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dwell on the past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한일관계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970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61711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086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Japan apparently wants to start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border dispute </a:t>
                      </a:r>
                      <a:r>
                        <a:rPr lang="en-US" altLang="ko-KR" sz="1000" dirty="0"/>
                        <a:t>over Dokdo.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Obviously. Japan would have much to gain by having the islets as their own.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국경 분쟁을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Japan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apparently wants to make an issue over where to define the border.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Japan apparently wants to start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border dispute </a:t>
                      </a:r>
                      <a:r>
                        <a:rPr lang="en-US" altLang="ko-KR" sz="1000" dirty="0"/>
                        <a:t>over Dokdo.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087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amazing to me that people still deny that comfort women were a reality of the war.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No matter which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euphemism</a:t>
                      </a:r>
                      <a:r>
                        <a:rPr lang="en-US" altLang="ko-KR" sz="1000" dirty="0"/>
                        <a:t> they use, we cannot ignore the fact that there was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sexual slavery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위안부 문제를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matter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how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Japan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say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differently,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cannot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ignore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fact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sexual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slavery.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No matter which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euphemism</a:t>
                      </a:r>
                      <a:r>
                        <a:rPr lang="en-US" altLang="ko-KR" sz="1000" dirty="0"/>
                        <a:t> they use, we cannot ignore the fact that there was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sexual slavery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한일관계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3801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3380F28-D199-4F3C-8F6E-962FA5AC06E2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9" name="Google Shape;1750;p54">
              <a:extLst>
                <a:ext uri="{FF2B5EF4-FFF2-40B4-BE49-F238E27FC236}">
                  <a16:creationId xmlns:a16="http://schemas.microsoft.com/office/drawing/2014/main" id="{A0F5263D-0DBF-4364-BB8F-3379A600C685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A27668E-AD8E-4E37-9F5D-E7D3E5133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13008053-7EC6-C940-5A67-306D30E05E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83"/>
          <a:stretch/>
        </p:blipFill>
        <p:spPr>
          <a:xfrm>
            <a:off x="183776" y="1100046"/>
            <a:ext cx="2517713" cy="38643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B16F57-0154-664F-4709-661C0CD9CE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522615" y="1086889"/>
            <a:ext cx="2893370" cy="386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3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F91226E-1754-4FAF-817F-995AD4596BAD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7" name="Google Shape;1750;p54">
              <a:extLst>
                <a:ext uri="{FF2B5EF4-FFF2-40B4-BE49-F238E27FC236}">
                  <a16:creationId xmlns:a16="http://schemas.microsoft.com/office/drawing/2014/main" id="{F772D4A2-52C0-45CF-B0D8-D7B75537912A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7A41C2B-378E-40C7-8F96-EB9DB614C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6706CE19-94DB-D805-EC45-6F10DB261A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172692" y="1093467"/>
            <a:ext cx="2927966" cy="38643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45F3921-1003-5B36-3054-9D1A6B3A9B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4532532" y="1106623"/>
            <a:ext cx="2548297" cy="386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3380F28-D199-4F3C-8F6E-962FA5AC06E2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9" name="Google Shape;1750;p54">
              <a:extLst>
                <a:ext uri="{FF2B5EF4-FFF2-40B4-BE49-F238E27FC236}">
                  <a16:creationId xmlns:a16="http://schemas.microsoft.com/office/drawing/2014/main" id="{A0F5263D-0DBF-4364-BB8F-3379A600C685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A27668E-AD8E-4E37-9F5D-E7D3E5133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DA65435-7BB4-2E2A-F5D4-D39CE59675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80639" y="1086891"/>
            <a:ext cx="3101770" cy="38643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D5F607C-651E-191E-3558-9864C4C652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512796" y="1086891"/>
            <a:ext cx="2934072" cy="106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15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가정법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1.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가정법에는 마음이 담긴다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528610"/>
            <a:ext cx="8664066" cy="3111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말하는 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(mood)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말하는 사람의 마음과 관련이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가정법은 말하는 사람의 마음을 담아서 표현하는 것입니다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특히 아쉬운 마음이나 소망을 담고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먼저 직설법으로 다음과 같은 문장이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As 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not rich, 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can't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go abroad.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부자가 아니기 때문에 해외로 갈 수 없다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그가 해외에 갈 수 없다는 사실만 전달하고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직설법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사실을 전달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문장을 아쉬운 마음을 담아서 가정법으로 표현하면 아래와 같습니다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were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rich, 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could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go abroad.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그가 부자라면 해외로 갈수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있을텐데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사실과 다른 상황을 가정하면서 아쉬운 마음이나 소망 등을 담고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아쉬운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마음을 전달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E6740F-697B-40DC-8CF9-8735B47A320D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0FCDD8ED-C4BD-4EA1-B886-28F7D01B4321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28507A9-844A-4D07-A247-A78D60C54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7593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가정법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2.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가정법의 공식 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&gt;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직설법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39967" y="1563191"/>
            <a:ext cx="8664066" cy="32987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이해를 돕기 위해서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부사절을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직설법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 가정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으로 나눠서 살펴 보겠습니다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endParaRPr lang="en-US" altLang="ko-KR" sz="1000" b="1" i="0" dirty="0">
              <a:solidFill>
                <a:srgbClr val="2B394A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(1)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조건을 나타내는 부사절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직설법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study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hard,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pass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exam.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열심히 공부하면 시험에 합격한다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 If you study hard(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결과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 you pass the exam(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일반적인 사실을 말할 때는 조건절과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결과절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모두 단순현재 시제로 나타냅니다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study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hard,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will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pass the exam.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열심히 공부하면 시험에 합격할거야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 If you study hard(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결과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 you will pass the exam(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미래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조건을 충족하게 되면 미래에 어떤 일이 발생할 것이라는 것을 말할 때는 조건절은 단순현재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결과절은 미래 시제로 나타냅니다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 예문에서 조건절에 단순현재 시제만 사용되었 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조건절이 미래를 나타내더라도 단순현재로 사용합니다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시제 파트에서는 다음과 같은 설명을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en-US" altLang="ko-KR" sz="1000" dirty="0">
              <a:solidFill>
                <a:srgbClr val="333333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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시간</a:t>
            </a:r>
            <a:r>
              <a:rPr lang="en-US" altLang="ko-KR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조건의 부사절에서는 미래시제 대신에 현재시제를 사용한다</a:t>
            </a:r>
            <a:r>
              <a:rPr lang="en-US" altLang="ko-KR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2348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가정법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2.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가정법의 공식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&gt;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직설법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510487"/>
            <a:ext cx="8664066" cy="3365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조건절에서 현재완료도 가능합니다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If you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have finished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work by 4pm, you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will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go home. 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오후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4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시까지 일을 마치면 너는 집에 갈 것이다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조건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: If you have finished work by 4pm(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현재완료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결과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: you will go home(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미래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Symbol" panose="05050102010706020507" pitchFamily="18" charset="2"/>
              <a:buChar char="®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오후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4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시까지 마치는 것이므로 사실상 미래완료 시제가 와야 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Symbol" panose="05050102010706020507" pitchFamily="18" charset="2"/>
              <a:buChar char="®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하지만 조건절에서는 미래완료 시제도 안되므로 미래완료 대신에 현재완료 시제를 사용했습니다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Symbol" panose="05050102010706020507" pitchFamily="18" charset="2"/>
              <a:buChar char="®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조건절에서는 미래가 들어간 시제는 모두 안됩니다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미래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단순현재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미래완료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현재완료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그리고 과거에 대해서는 조건을 걸 수 없습니다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 "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어제 비가 왔다면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~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하겠다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"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논리적으로 맞지 않습니다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그래서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조건절은 단순현재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또는 현재완료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만 가능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하다고 기억하면 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9147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가정법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2.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가정법의 공식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&gt;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가정법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385510"/>
            <a:ext cx="8664066" cy="3668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(2)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가정을 나타내는 부사절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가정법으로 말할 때는 조건이 아닌 가정을 나타내는 부사절이어야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조건을 나타내는 부사절은 단순현재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또는 현재완료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시제를 사용합니다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조건이 아닌 가정을 나타내기 위해서는 조건을 나타낼 때와는 시제를 다르게 사용해야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조건을 나타내는 부사절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또는 현재완료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시제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가정을 나타내는 부사절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또는 현재완료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안됨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또는 과거완료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시제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위와 같이 조건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가정에 따라서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부사절의 시제가 달라지기 때문에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부사절의 시제만으로도 조건을 나타내는지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직설법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가정을 나타내는지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구분할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7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studied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hard,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 pass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exam.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열심히 공부했더라면 시험에 합격했을 텐데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부사절의 형태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시제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과거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(studied)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직설법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아닌 가정을 나타내는 가정법</a:t>
            </a:r>
            <a:r>
              <a:rPr lang="en-US" altLang="ko-KR" sz="1000" b="1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1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 과거</a:t>
            </a:r>
            <a:r>
              <a:rPr lang="en-US" altLang="ko-KR" sz="1000" b="1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ko-KR" sz="7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 studied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hard,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 have passed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exam.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열심히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공부했었더라면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시험에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합격했었을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텐데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부사절의 형태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시제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과거완료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(had studied)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직설법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아닌 가정을 나타내는 가정법</a:t>
            </a:r>
            <a:r>
              <a:rPr lang="en-US" altLang="ko-KR" sz="1000" b="1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1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 과거완료</a:t>
            </a:r>
            <a:r>
              <a:rPr lang="en-US" altLang="ko-KR" sz="1000" b="1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ko-KR" sz="7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가정법을 가정법 과거와 가정법 과거완료로 나누는데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if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절의 시제에 따라서 결정됩니다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if</a:t>
            </a:r>
            <a:r>
              <a:rPr lang="ko-KR" altLang="en-US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절의 시제가 과거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이면 가정법 과거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</a:t>
            </a:r>
            <a:r>
              <a:rPr lang="en-US" altLang="ko-KR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if</a:t>
            </a:r>
            <a:r>
              <a:rPr lang="ko-KR" altLang="en-US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절의 시제가 과거완료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이면 </a:t>
            </a:r>
            <a:r>
              <a:rPr lang="ko-KR" altLang="en-US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9618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가정법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3.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가정법과 조동사의 과거형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40706"/>
            <a:ext cx="8664066" cy="18421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(modal verb)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말하는 사람의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심적태도를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나타냅니다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 역시 화자의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심적태도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아쉬움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나타내기 위해서 사용되기 때문에 가정법에는 조동사가 필요합니다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 중에서 보다 부드럽게 말하는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낮은 가능성을 말하는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 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조동사의 과거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(would, could, should, might)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사용됩니다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been sick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yesterday, 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could have attended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party.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만약 그가 어제 아프지 않았었더라면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파티에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참석했었을텐데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 시제로 조건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직설법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아닌 가정을 나타냄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결과절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 과거형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(could)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으로 아쉬움을 나타냄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6559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가정법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ko-KR" b="1" dirty="0">
                <a:solidFill>
                  <a:srgbClr val="F8C379">
                    <a:lumMod val="50000"/>
                  </a:srgbClr>
                </a:solidFill>
                <a:latin typeface="Arial"/>
                <a:ea typeface="맑은 고딕" panose="020B0503020000020004" pitchFamily="50" charset="-127"/>
              </a:rPr>
              <a:t>4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 if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조건절과 가정법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512407"/>
            <a:ext cx="8664066" cy="5725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조건절과 가정법 모두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절을 포함하고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영어권 문법에서는 이를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zero ~ third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조건절로 묶어서 설명합니다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조동사의 과거형으로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would, could, should, might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등이 가능하지만 가장 자주 쓰이는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로 표시해서 정리하면 다음과 같습니다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18282A-CF13-6BBE-B6F0-445F52091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940674"/>
              </p:ext>
            </p:extLst>
          </p:nvPr>
        </p:nvGraphicFramePr>
        <p:xfrm>
          <a:off x="524192" y="2184822"/>
          <a:ext cx="8095616" cy="1333500"/>
        </p:xfrm>
        <a:graphic>
          <a:graphicData uri="http://schemas.openxmlformats.org/drawingml/2006/table">
            <a:tbl>
              <a:tblPr/>
              <a:tblGrid>
                <a:gridCol w="2023904">
                  <a:extLst>
                    <a:ext uri="{9D8B030D-6E8A-4147-A177-3AD203B41FA5}">
                      <a16:colId xmlns:a16="http://schemas.microsoft.com/office/drawing/2014/main" val="212838698"/>
                    </a:ext>
                  </a:extLst>
                </a:gridCol>
                <a:gridCol w="2023904">
                  <a:extLst>
                    <a:ext uri="{9D8B030D-6E8A-4147-A177-3AD203B41FA5}">
                      <a16:colId xmlns:a16="http://schemas.microsoft.com/office/drawing/2014/main" val="503120560"/>
                    </a:ext>
                  </a:extLst>
                </a:gridCol>
                <a:gridCol w="2023904">
                  <a:extLst>
                    <a:ext uri="{9D8B030D-6E8A-4147-A177-3AD203B41FA5}">
                      <a16:colId xmlns:a16="http://schemas.microsoft.com/office/drawing/2014/main" val="753310888"/>
                    </a:ext>
                  </a:extLst>
                </a:gridCol>
                <a:gridCol w="2023904">
                  <a:extLst>
                    <a:ext uri="{9D8B030D-6E8A-4147-A177-3AD203B41FA5}">
                      <a16:colId xmlns:a16="http://schemas.microsoft.com/office/drawing/2014/main" val="3848365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 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if </a:t>
                      </a:r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부사절</a:t>
                      </a:r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조건</a:t>
                      </a:r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가정</a:t>
                      </a:r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주절</a:t>
                      </a:r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결과</a:t>
                      </a:r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해석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6185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조건</a:t>
                      </a:r>
                      <a:br>
                        <a:rPr lang="ko-KR" alt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직설법</a:t>
                      </a:r>
                      <a:r>
                        <a:rPr lang="en-US" altLang="ko-KR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단순현재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단순현재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하면 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이다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1752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단순현재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미래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하면 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일 것이다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479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가정</a:t>
                      </a:r>
                      <a:b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가정법</a:t>
                      </a:r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would +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동사원형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만약 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하면 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할 텐데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3584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과거완료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would + have +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과거분사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만약 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였더라면 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했을 텐데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9481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4BA036-9CF1-1033-E209-FE8552DD6167}"/>
              </a:ext>
            </a:extLst>
          </p:cNvPr>
          <p:cNvSpPr txBox="1"/>
          <p:nvPr/>
        </p:nvSpPr>
        <p:spPr>
          <a:xfrm>
            <a:off x="247545" y="3666842"/>
            <a:ext cx="8664066" cy="1080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위와 같이 총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4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가지로 정리할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일어날 가능성이 있음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일어나면 결과가 바뀜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직설법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일어날 가능성이 없음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즉 사실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 다른 가정일 뿐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</a:t>
            </a:r>
          </a:p>
        </p:txBody>
      </p:sp>
    </p:spTree>
    <p:extLst>
      <p:ext uri="{BB962C8B-B14F-4D97-AF65-F5344CB8AC3E}">
        <p14:creationId xmlns:p14="http://schemas.microsoft.com/office/powerpoint/2010/main" val="4169486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가정법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ko-KR" b="1" dirty="0">
                <a:solidFill>
                  <a:srgbClr val="F8C379">
                    <a:lumMod val="50000"/>
                  </a:srgbClr>
                </a:solidFill>
                <a:latin typeface="Arial"/>
                <a:ea typeface="맑은 고딕" panose="020B0503020000020004" pitchFamily="50" charset="-127"/>
              </a:rPr>
              <a:t>4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 if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조건절과 가정법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89867"/>
            <a:ext cx="8664066" cy="31700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(1) If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 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(Zero Conditional)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그냥 어떤 조건이 충족되면 어떤 결과를 얻는다는 말을 하는 겁니다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딱히 시제 개념이 없습니다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둘 다 단순현재로 사용합니다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 touch a fire,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get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burned.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불을 만지면 화상을 입는다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(touch)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(get)</a:t>
            </a:r>
          </a:p>
          <a:p>
            <a:pPr algn="l"/>
            <a:endParaRPr lang="en-US" altLang="ko-KR" sz="1000" b="1" i="0" dirty="0">
              <a:solidFill>
                <a:srgbClr val="2B394A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(2) If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 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미래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(First Conditional)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어떤 조건이 충족되면 미래에 어떤 일이 벌어질 것이다는 것을 나타냅니다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it rains tomorrow, 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won't go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the beach.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내일 비가오면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해변에 가지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않을거야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단순현재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(rains)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미래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(won't go)</a:t>
            </a:r>
            <a:endParaRPr lang="en-US" altLang="ko-KR" sz="1000" dirty="0">
              <a:solidFill>
                <a:srgbClr val="333333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ko-KR" altLang="en-US" sz="10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hlinkClick r:id="rId2"/>
              </a:rPr>
              <a:t>단순현재 시제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시간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조건의 부사절에서 미래 대신 단순현재 참고</a:t>
            </a:r>
          </a:p>
          <a:p>
            <a:pPr algn="l"/>
            <a:endParaRPr lang="en-US" altLang="ko-KR" sz="1000" b="1" i="0" dirty="0">
              <a:solidFill>
                <a:srgbClr val="2B394A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(3) If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would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동사원형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(Second Conditional)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가정법 과거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부사절에 단순현재 시제가 사용되지 않았다면 가정법입니다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시제가 사용되었으므로 가정법 과거에 해당합니다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I knew her phone number, 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 call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her.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그녀의 전화 번호를 안다면 그녀에게 전화할 수 있을 텐데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(knew) + would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동사원형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(call)</a:t>
            </a:r>
          </a:p>
          <a:p>
            <a:pPr algn="l"/>
            <a:endParaRPr lang="en-US" altLang="ko-KR" sz="1000" b="1" i="0" dirty="0">
              <a:solidFill>
                <a:srgbClr val="2B394A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(4) If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 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would have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과거분사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(Third Conditional)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가정법 과거완료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부사절에 과거완료 시제가 사용되었으므로 가정법 과거완료에 해당합니다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he had studied, 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 have passed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exam.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그가 공부를 했다면 시험에 합격했을 텐데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(had studied) + would have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과거분사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(passed)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10" name="그림 9">
            <a:hlinkClick r:id="rId4"/>
            <a:extLst>
              <a:ext uri="{FF2B5EF4-FFF2-40B4-BE49-F238E27FC236}">
                <a16:creationId xmlns:a16="http://schemas.microsoft.com/office/drawing/2014/main" id="{43D95448-9D2C-1AB9-8C2B-E02A3E71D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2362" y="4646067"/>
            <a:ext cx="1511939" cy="438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043AB0-CA2B-90DF-B2D3-3E752642A565}"/>
              </a:ext>
            </a:extLst>
          </p:cNvPr>
          <p:cNvSpPr txBox="1"/>
          <p:nvPr/>
        </p:nvSpPr>
        <p:spPr>
          <a:xfrm>
            <a:off x="5973203" y="4924299"/>
            <a:ext cx="31707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https://www.englishcube.net/grammar_exam.php?category2=59</a:t>
            </a:r>
          </a:p>
        </p:txBody>
      </p:sp>
    </p:spTree>
    <p:extLst>
      <p:ext uri="{BB962C8B-B14F-4D97-AF65-F5344CB8AC3E}">
        <p14:creationId xmlns:p14="http://schemas.microsoft.com/office/powerpoint/2010/main" val="2051466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가정법 </a:t>
            </a:r>
            <a:r>
              <a:rPr lang="en-US" altLang="ko-KR" dirty="0">
                <a:latin typeface="+mj-ea"/>
                <a:ea typeface="+mj-ea"/>
              </a:rPr>
              <a:t>If </a:t>
            </a:r>
            <a:r>
              <a:rPr lang="ko-KR" altLang="en-US" dirty="0">
                <a:latin typeface="+mj-ea"/>
                <a:ea typeface="+mj-ea"/>
              </a:rPr>
              <a:t>생략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284466"/>
            <a:ext cx="8664066" cy="1588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가정법은 기본적으로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절과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주절로 구성됩니다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하지만 실제로는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생략된 형태로도 자주 사용합니다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생략되면서 주어와 동사의 도치가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일어납니다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일반 동사의 경우에는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생략할 수 없고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were, had, should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등이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절에 있는 경우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생략하고 이들을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문두에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놓을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100" dirty="0">
              <a:solidFill>
                <a:srgbClr val="333333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 뿐 아니라 일반적인 조건절에서도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생략되는 경우가 많습니다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여기에서는 조건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직설법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구분하지 않고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생략 후 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 도치되는 패턴을 살펴보겠습니다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5002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가정법 </a:t>
            </a:r>
            <a:r>
              <a:rPr lang="en-US" altLang="ko-KR" dirty="0">
                <a:latin typeface="+mj-ea"/>
                <a:ea typeface="+mj-ea"/>
              </a:rPr>
              <a:t>If</a:t>
            </a:r>
            <a:r>
              <a:rPr lang="ko-KR" altLang="en-US" dirty="0">
                <a:latin typeface="+mj-ea"/>
                <a:ea typeface="+mj-ea"/>
              </a:rPr>
              <a:t> 생략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1. were</a:t>
            </a:r>
            <a:endParaRPr lang="ko-KR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95380"/>
            <a:ext cx="8664066" cy="158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가능성이 아주 낮거나 불가능한 경우를 가정합니다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Were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 you,  I would not do such a thing.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만약 내가 너라면 나는 이런 짓은 하지 않을 텐데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I were you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Were I you</a:t>
            </a:r>
          </a:p>
          <a:p>
            <a:pPr algn="l">
              <a:lnSpc>
                <a:spcPct val="150000"/>
              </a:lnSpc>
            </a:pPr>
            <a:endParaRPr lang="en-US" altLang="ko-KR" sz="11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Were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 as tall as you, I would be a basketball player.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내가 너만큼 키가 크다면 나는 농구선수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였을건데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I were as tall as you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Were I as tall as you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AEBB99-FF3F-4E81-A8B8-0CA85D42BDEF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F3717191-5B52-4EAD-9755-FC412217120E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34E324-C924-4E81-B58B-E9C565E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CD63C9-62D4-8BFB-D95E-98C28293BFF4}"/>
              </a:ext>
            </a:extLst>
          </p:cNvPr>
          <p:cNvSpPr/>
          <p:nvPr/>
        </p:nvSpPr>
        <p:spPr>
          <a:xfrm>
            <a:off x="247545" y="3129560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2. had</a:t>
            </a:r>
            <a:endParaRPr lang="ko-KR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C6E96-C1E0-6B8D-C8BB-B516CE1DE59D}"/>
              </a:ext>
            </a:extLst>
          </p:cNvPr>
          <p:cNvSpPr txBox="1"/>
          <p:nvPr/>
        </p:nvSpPr>
        <p:spPr>
          <a:xfrm>
            <a:off x="247545" y="3470007"/>
            <a:ext cx="8664066" cy="158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있으면 이를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문두로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놓고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생략할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 any money, I would lend you some.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내게 돈이 있다면 너에게 좀 빌려줄 텐데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I had any money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 I any money</a:t>
            </a:r>
          </a:p>
          <a:p>
            <a:pPr algn="l">
              <a:lnSpc>
                <a:spcPct val="150000"/>
              </a:lnSpc>
            </a:pPr>
            <a:endParaRPr lang="en-US" altLang="ko-KR" sz="11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 been you, I would not have done that.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내가 너였다면 그렇게 하지 않았을 텐데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I had been you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 I been you</a:t>
            </a:r>
          </a:p>
        </p:txBody>
      </p:sp>
    </p:spTree>
    <p:extLst>
      <p:ext uri="{BB962C8B-B14F-4D97-AF65-F5344CB8AC3E}">
        <p14:creationId xmlns:p14="http://schemas.microsoft.com/office/powerpoint/2010/main" val="2116782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가정법 </a:t>
            </a:r>
            <a:r>
              <a:rPr lang="en-US" altLang="ko-KR" dirty="0">
                <a:latin typeface="+mj-ea"/>
                <a:ea typeface="+mj-ea"/>
              </a:rPr>
              <a:t>If</a:t>
            </a:r>
            <a:r>
              <a:rPr lang="ko-KR" altLang="en-US" dirty="0">
                <a:latin typeface="+mj-ea"/>
                <a:ea typeface="+mj-ea"/>
              </a:rPr>
              <a:t> 생략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3. should</a:t>
            </a:r>
            <a:endParaRPr lang="ko-KR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95380"/>
            <a:ext cx="8664066" cy="176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should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일어날 가능성이 낮은 경우에 사용합니다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"~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혹시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~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라면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 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정도로 해석하면 됩니다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Should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you need more information, please do not hesitate to contact us. 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혹시 더 많은 정보가 필요하시면 주저하지 마시고 저희에게 연락해 주십시오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 should need more information </a:t>
            </a:r>
            <a:r>
              <a:rPr lang="en-US" altLang="ko-KR" sz="105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Should you need more information</a:t>
            </a:r>
          </a:p>
          <a:p>
            <a:pPr algn="l">
              <a:lnSpc>
                <a:spcPct val="150000"/>
              </a:lnSpc>
            </a:pPr>
            <a:endParaRPr lang="en-US" altLang="ko-KR" sz="105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Should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you change your mind about the trip, get in touch with me as soon as possible.</a:t>
            </a:r>
            <a:r>
              <a:rPr lang="en-US" altLang="ko-KR" sz="105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혹시 여행에 대해 마음이 바뀌면 가능한 한 빨리 저에게 연락해 주십시오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 should change your mind  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</a:t>
            </a:r>
            <a:r>
              <a:rPr lang="en-US" altLang="ko-KR" sz="105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Should you change your mind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AEBB99-FF3F-4E81-A8B8-0CA85D42BDEF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F3717191-5B52-4EAD-9755-FC412217120E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34E324-C924-4E81-B58B-E9C565E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CD63C9-62D4-8BFB-D95E-98C28293BFF4}"/>
              </a:ext>
            </a:extLst>
          </p:cNvPr>
          <p:cNvSpPr/>
          <p:nvPr/>
        </p:nvSpPr>
        <p:spPr>
          <a:xfrm>
            <a:off x="247545" y="3616358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4. If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와 주어 생략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C6E96-C1E0-6B8D-C8BB-B516CE1DE59D}"/>
              </a:ext>
            </a:extLst>
          </p:cNvPr>
          <p:cNvSpPr txBox="1"/>
          <p:nvPr/>
        </p:nvSpPr>
        <p:spPr>
          <a:xfrm>
            <a:off x="247545" y="4016010"/>
            <a:ext cx="8664066" cy="792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와 주어 모두 생략해서 명령법 형태로 조건절을 나타내는 경우도 있습니다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Fail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to pay and they'll cut off the electricity. 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요금을 납부하지 않으면  그들은 전기를 차단할 것입니다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 fail to pay, </a:t>
            </a:r>
            <a:r>
              <a:rPr lang="en-US" altLang="ko-KR" sz="105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Fail to pay and</a:t>
            </a:r>
          </a:p>
        </p:txBody>
      </p:sp>
    </p:spTree>
    <p:extLst>
      <p:ext uri="{BB962C8B-B14F-4D97-AF65-F5344CB8AC3E}">
        <p14:creationId xmlns:p14="http://schemas.microsoft.com/office/powerpoint/2010/main" val="3304138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가정법 </a:t>
            </a:r>
            <a:r>
              <a:rPr lang="en-US" altLang="ko-KR" dirty="0">
                <a:latin typeface="+mj-ea"/>
                <a:ea typeface="+mj-ea"/>
              </a:rPr>
              <a:t>If</a:t>
            </a:r>
            <a:r>
              <a:rPr lang="ko-KR" altLang="en-US" dirty="0">
                <a:latin typeface="+mj-ea"/>
                <a:ea typeface="+mj-ea"/>
              </a:rPr>
              <a:t> 생략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5. If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 절 대용 어구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501956"/>
            <a:ext cx="8664066" cy="158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아래와 같이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절을 대신해서 가정법처럼 나타내는 경우도 많습니다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Suppose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you were in my position, what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you do?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당신이 내 입장이라면 당신은 무엇을 하시겠습니까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Assuming that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you won the lottery, what would you do?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당신이 복권에 당첨되었다고 가정하면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당신은 무엇을 하시겠습니까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had to stop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otherwise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have hit the pedestrian.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멈춰야 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그렇지 않으면 보행자를 치었을 것이다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not do such a thing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 your place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만약 내가 너라면 나는 이런 짓은 하지 않을 텐데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I'll take an umbrella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 case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it rains.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비가 올 것을 대비해서 우산을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가져갈게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AEBB99-FF3F-4E81-A8B8-0CA85D42BDEF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F3717191-5B52-4EAD-9755-FC412217120E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34E324-C924-4E81-B58B-E9C565E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2" name="그림 1">
            <a:hlinkClick r:id="rId3"/>
            <a:extLst>
              <a:ext uri="{FF2B5EF4-FFF2-40B4-BE49-F238E27FC236}">
                <a16:creationId xmlns:a16="http://schemas.microsoft.com/office/drawing/2014/main" id="{D60364EA-59AB-462F-50DB-8CFFE173D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468453"/>
            <a:ext cx="1511939" cy="438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58CFD4-8AB3-0FE2-3CA1-B36A39FBA026}"/>
              </a:ext>
            </a:extLst>
          </p:cNvPr>
          <p:cNvSpPr txBox="1"/>
          <p:nvPr/>
        </p:nvSpPr>
        <p:spPr>
          <a:xfrm>
            <a:off x="5975039" y="4907403"/>
            <a:ext cx="31689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https://www.englishcube.net/grammar_exam.php?category2=63</a:t>
            </a:r>
          </a:p>
        </p:txBody>
      </p:sp>
    </p:spTree>
    <p:extLst>
      <p:ext uri="{BB962C8B-B14F-4D97-AF65-F5344CB8AC3E}">
        <p14:creationId xmlns:p14="http://schemas.microsoft.com/office/powerpoint/2010/main" val="1518268483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10359</TotalTime>
  <Words>2976</Words>
  <Application>Microsoft Office PowerPoint</Application>
  <PresentationFormat>화면 슬라이드 쇼(16:9)</PresentationFormat>
  <Paragraphs>346</Paragraphs>
  <Slides>25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Open Sans</vt:lpstr>
      <vt:lpstr>HY헤드라인M</vt:lpstr>
      <vt:lpstr>Arial</vt:lpstr>
      <vt:lpstr>Wingdings</vt:lpstr>
      <vt:lpstr>Symbol</vt:lpstr>
      <vt:lpstr>Righteous</vt:lpstr>
      <vt:lpstr>Calibri</vt:lpstr>
      <vt:lpstr>맑은 고딕</vt:lpstr>
      <vt:lpstr>TOWN HALL BUSINESS PLAN</vt:lpstr>
      <vt:lpstr>외국어시험 대체 강좌 – 시사영어 </vt:lpstr>
      <vt:lpstr>Table of Contents</vt:lpstr>
      <vt:lpstr>정치 외교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3.1 Grammar: 가정법</vt:lpstr>
      <vt:lpstr>3.1 Grammar: 가정법</vt:lpstr>
      <vt:lpstr>3.1 Grammar: 가정법</vt:lpstr>
      <vt:lpstr>3.1 Grammar: 가정법</vt:lpstr>
      <vt:lpstr>3.1 Grammar: 가정법</vt:lpstr>
      <vt:lpstr>3.1 Grammar: 가정법</vt:lpstr>
      <vt:lpstr>3.1 Grammar: 가정법</vt:lpstr>
      <vt:lpstr>3.2 Grammar: 가정법 If 생략</vt:lpstr>
      <vt:lpstr>3.2 Grammar: 가정법 If 생략</vt:lpstr>
      <vt:lpstr>3.2 Grammar: 가정법 If 생략</vt:lpstr>
      <vt:lpstr>3.2 Grammar: 가정법 If 생략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140</cp:revision>
  <dcterms:modified xsi:type="dcterms:W3CDTF">2024-01-10T12:11:04Z</dcterms:modified>
</cp:coreProperties>
</file>