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4"/>
  </p:notesMasterIdLst>
  <p:sldIdLst>
    <p:sldId id="256" r:id="rId2"/>
    <p:sldId id="279" r:id="rId3"/>
    <p:sldId id="261" r:id="rId4"/>
    <p:sldId id="482" r:id="rId5"/>
    <p:sldId id="448" r:id="rId6"/>
    <p:sldId id="453" r:id="rId7"/>
    <p:sldId id="456" r:id="rId8"/>
    <p:sldId id="466" r:id="rId9"/>
    <p:sldId id="483" r:id="rId10"/>
    <p:sldId id="484" r:id="rId11"/>
    <p:sldId id="486" r:id="rId12"/>
    <p:sldId id="469" r:id="rId13"/>
    <p:sldId id="470" r:id="rId14"/>
    <p:sldId id="471" r:id="rId15"/>
    <p:sldId id="472" r:id="rId16"/>
    <p:sldId id="473" r:id="rId17"/>
    <p:sldId id="474" r:id="rId18"/>
    <p:sldId id="389" r:id="rId19"/>
    <p:sldId id="412" r:id="rId20"/>
    <p:sldId id="467" r:id="rId21"/>
    <p:sldId id="468" r:id="rId22"/>
    <p:sldId id="464" r:id="rId23"/>
  </p:sldIdLst>
  <p:sldSz cx="9144000" cy="5143500" type="screen16x9"/>
  <p:notesSz cx="6797675" cy="9926638"/>
  <p:embeddedFontLst>
    <p:embeddedFont>
      <p:font typeface="HY헤드라인M" panose="02030600000101010101" pitchFamily="18" charset="-127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Righteous" panose="020B0600000101010101" charset="0"/>
      <p:regular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2" autoAdjust="0"/>
    <p:restoredTop sz="94681" autoAdjust="0"/>
  </p:normalViewPr>
  <p:slideViewPr>
    <p:cSldViewPr snapToGrid="0">
      <p:cViewPr varScale="1">
        <p:scale>
          <a:sx n="137" d="100"/>
          <a:sy n="137" d="100"/>
        </p:scale>
        <p:origin x="5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view.php?category2=18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view.php?category2=28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 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문화 과학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스마트폰 중독 </a:t>
            </a:r>
            <a:r>
              <a:rPr lang="en-US" altLang="ko-KR" b="1" dirty="0"/>
              <a:t>/ </a:t>
            </a:r>
            <a:r>
              <a:rPr lang="ko-KR" altLang="en-US" b="1" dirty="0"/>
              <a:t>인터넷 </a:t>
            </a:r>
            <a:r>
              <a:rPr lang="en-US" altLang="ko-KR" b="1" dirty="0"/>
              <a:t>/ </a:t>
            </a:r>
            <a:r>
              <a:rPr lang="ko-KR" altLang="en-US" b="1" dirty="0"/>
              <a:t>학교 폭력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부사의 형태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3.2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빈도부사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F4A99721-B933-49C0-A7D7-C66E2C6BD1BF}"/>
              </a:ext>
            </a:extLst>
          </p:cNvPr>
          <p:cNvSpPr/>
          <p:nvPr/>
        </p:nvSpPr>
        <p:spPr>
          <a:xfrm>
            <a:off x="211075" y="1897666"/>
            <a:ext cx="639505" cy="639505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D8B811-C804-4ECD-B30E-8433762C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0" y="1994778"/>
            <a:ext cx="403953" cy="40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문화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과학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스마트폰 중독 </a:t>
            </a:r>
            <a:r>
              <a:rPr lang="en-US" altLang="ko-KR" dirty="0"/>
              <a:t>/ </a:t>
            </a:r>
            <a:r>
              <a:rPr lang="ko-KR" altLang="en-US" dirty="0"/>
              <a:t>인터넷 </a:t>
            </a:r>
            <a:r>
              <a:rPr lang="en-US" altLang="ko-KR" dirty="0"/>
              <a:t>/ </a:t>
            </a:r>
            <a:r>
              <a:rPr lang="ko-KR" altLang="en-US" dirty="0"/>
              <a:t>학교 폭력 </a:t>
            </a: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13</a:t>
            </a:r>
            <a:endParaRPr lang="ko-KR" altLang="en-US" sz="4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80B359-9817-41EC-81F1-D42180CD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8" y="1577098"/>
            <a:ext cx="1856154" cy="1856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Millions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are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glued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their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smartphone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screens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day,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every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day.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Some are so engrossed in their phones even while walking on the street. That can be very dangerous.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스마트폰을 계속 들여본다고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Millions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spend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many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hours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watching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their smartphone screens.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Millions of Koreans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are glued to </a:t>
                      </a:r>
                      <a:r>
                        <a:rPr lang="en-US" altLang="ko-KR" sz="1000" dirty="0"/>
                        <a:t>their smartphone screens.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stay connected in the digital era, but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developing compulsions or addictions </a:t>
                      </a:r>
                      <a:r>
                        <a:rPr lang="en-US" altLang="ko-KR" sz="1000" dirty="0"/>
                        <a:t>from that is a different matter.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Everyone needs to thinks about where to draw the line.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스마트기기 중독을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this digital era, it’s very easy to become addicted to using smart gadgets.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In this digital era, you may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develop compulsions or addictions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스마트폰 중독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50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540039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 serious problem that children can develop symptoms of depression and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withdrawal</a:t>
                      </a:r>
                      <a:r>
                        <a:rPr lang="en-US" altLang="ko-KR" sz="1000" dirty="0"/>
                        <a:t> from smartphone overuse.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That’s why I try to limit my daughter’s hours on hers, but she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always</a:t>
                      </a:r>
                      <a:r>
                        <a:rPr lang="en-US" altLang="ko-KR" sz="1000" dirty="0"/>
                        <a:t> wants more.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스마트폰 금단 현상을 보인다고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Children can find difficulty quitting using smartphone.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Children can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develop withdrawal symptoms </a:t>
                      </a:r>
                      <a:r>
                        <a:rPr lang="en-US" altLang="ko-KR" sz="1000" dirty="0"/>
                        <a:t>from smartphone overuse.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162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don’t know how to stop my son from using his smartphone.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very hard for a child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develop self-restraint </a:t>
                      </a:r>
                      <a:r>
                        <a:rPr lang="en-US" altLang="ko-KR" sz="1000" dirty="0"/>
                        <a:t>on his own. Why don’t you find something you can do together to divert his attention?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자기 </a:t>
                      </a:r>
                      <a:r>
                        <a:rPr lang="ko-KR" altLang="en-US" sz="1000" dirty="0" err="1"/>
                        <a:t>절제력을</a:t>
                      </a:r>
                      <a:r>
                        <a:rPr lang="ko-KR" altLang="en-US" sz="1000" dirty="0"/>
                        <a:t> 기른다고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hard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child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decide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stop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using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smartphone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own.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hard for a child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develop self-restraint </a:t>
                      </a:r>
                      <a:r>
                        <a:rPr lang="en-US" altLang="ko-KR" sz="1000" dirty="0"/>
                        <a:t>on his own.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28E3A9-C183-D0F6-7110-9E993201AABA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스마트폰 중독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359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163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Don’t you think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privacy violations </a:t>
                      </a:r>
                      <a:r>
                        <a:rPr lang="en-US" altLang="ko-KR" sz="1000" dirty="0"/>
                        <a:t>are a bit unavoidable in the internet era, to protect citizens from crimes or terrorist attacks?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do, but the problem is that the government can engage in unnecessary infringement on people’s privacy in the name of public safety.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사생활 침해를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Invading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privacy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unavoidable in the internet era.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Privacy violations </a:t>
                      </a:r>
                      <a:r>
                        <a:rPr lang="en-US" altLang="ko-KR" sz="1000" dirty="0"/>
                        <a:t>are unavoidable in the internet era.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165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are so many people who seem to comment on forums just to make others angry.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best way to handle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trolls</a:t>
                      </a:r>
                      <a:r>
                        <a:rPr lang="en-US" altLang="ko-KR" sz="1000" dirty="0"/>
                        <a:t> is to ignore them, otherwise you’re giving them what they want.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악성 댓글을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handle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hateful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comments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Internet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ignore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them.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best way to handle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trolls</a:t>
                      </a:r>
                      <a:r>
                        <a:rPr lang="en-US" altLang="ko-KR" sz="1000" dirty="0"/>
                        <a:t> is to ignore them.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인터넷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37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30379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166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recently</a:t>
                      </a:r>
                      <a:r>
                        <a:rPr lang="en-US" altLang="ko-KR" sz="1000" dirty="0"/>
                        <a:t> received what looked like a link to my account, but it then asked for my credit card.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You need to take caution with these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fraudulent</a:t>
                      </a:r>
                      <a:r>
                        <a:rPr lang="en-US" altLang="ko-KR" sz="1000" dirty="0"/>
                        <a:t> sites, as there are so many that try to scam you.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인터넷 사기를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need to take caution with these cheating sites.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You need to take caution with these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fraudulent</a:t>
                      </a:r>
                      <a:r>
                        <a:rPr lang="en-US" altLang="ko-KR" sz="1000" dirty="0"/>
                        <a:t> sites.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168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 has been reported that China has more than 100,000 hackers who can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disrupt</a:t>
                      </a:r>
                      <a:r>
                        <a:rPr lang="en-US" altLang="ko-KR" sz="1000" dirty="0"/>
                        <a:t> vital networks of other countries.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evident that in our 21</a:t>
                      </a:r>
                      <a:r>
                        <a:rPr lang="en-US" altLang="ko-KR" sz="1000" baseline="30000" dirty="0"/>
                        <a:t>st</a:t>
                      </a:r>
                      <a:r>
                        <a:rPr lang="en-US" altLang="ko-KR" sz="1000" dirty="0"/>
                        <a:t> century, wars are now waged in cyber space.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네트워크나 시스템을 마비시킨다고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Hackers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destroyed the vital networks.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Hackers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disrupted</a:t>
                      </a:r>
                      <a:r>
                        <a:rPr lang="en-US" altLang="ko-KR" sz="1000" dirty="0"/>
                        <a:t> the vital networks.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729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인터넷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80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169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often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cruel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comments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online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about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celebrities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up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feeling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sorry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them.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Cyber bullying </a:t>
                      </a:r>
                      <a:r>
                        <a:rPr lang="en-US" altLang="ko-KR" sz="1000" dirty="0"/>
                        <a:t>is actually a major problem that needs to be addressed.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온라인에서 타인을 괴롭힌다고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Harassing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other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people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online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major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problem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needs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addressed.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Cyber bullying</a:t>
                      </a:r>
                      <a:r>
                        <a:rPr lang="en-US" altLang="ko-KR" sz="1000" dirty="0"/>
                        <a:t> is a major problem that needs to be addressed.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171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Students should not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turn a blind eye to </a:t>
                      </a:r>
                      <a:r>
                        <a:rPr lang="en-US" altLang="ko-KR" sz="1000" dirty="0"/>
                        <a:t>bullying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Wouldn’t it be difficult for a student to deal with the problem alone? I think teachers and parents should play a bigger role.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학교폭력 문제를 외면한다고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Students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ignore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bullying.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Students should not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turn a blind eye to </a:t>
                      </a:r>
                      <a:r>
                        <a:rPr lang="en-US" altLang="ko-KR" sz="1000" dirty="0"/>
                        <a:t>bullying.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729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학교폭력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왕따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16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F164877-85CC-FB22-6699-DBFCC886B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D3CE5E-15D5-FEE5-254D-266C8E19F8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861" r="50000"/>
          <a:stretch/>
        </p:blipFill>
        <p:spPr>
          <a:xfrm>
            <a:off x="262150" y="1130785"/>
            <a:ext cx="2833615" cy="202512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2405152-7E41-EE32-0CBD-25EC124F61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701344" y="1094416"/>
            <a:ext cx="2926590" cy="39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76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F772D4A2-52C0-45CF-B0D8-D7B75537912A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AC07E7-C4CC-4716-A693-7BCFE9FF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880668D-5AA5-E2AC-AB18-C2AED8F357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5542"/>
          <a:stretch/>
        </p:blipFill>
        <p:spPr>
          <a:xfrm>
            <a:off x="308961" y="1098828"/>
            <a:ext cx="4198076" cy="370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98D1AD-E353-5D0E-938A-30A051C25FB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958192" y="1079317"/>
            <a:ext cx="3491188" cy="392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1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CD601E2-6224-77F0-B6FE-B261B123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993F4A-F20B-A6E4-F01F-73F8B77CB6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10637" y="1079317"/>
            <a:ext cx="3506932" cy="373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15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부사의 형태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70798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형용사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+ </a:t>
            </a:r>
            <a:r>
              <a:rPr kumimoji="0" lang="en-US" altLang="ko-KR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ly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8C379">
                  <a:lumMod val="50000"/>
                </a:srgbClr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017297"/>
            <a:ext cx="86380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부사는 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+ </a:t>
            </a:r>
            <a:r>
              <a:rPr kumimoji="0" lang="en-US" altLang="ko-KR" sz="1000" b="1" i="0" u="none" strike="noStrike" kern="0" cap="none" spc="0" normalizeH="0" baseline="0" noProof="0" dirty="0" err="1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형태를 가진 경우가 가장 많습니다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certain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+ </a:t>
            </a:r>
            <a:r>
              <a:rPr kumimoji="0" lang="en-US" altLang="ko-KR" sz="10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=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certainly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위와 같은 형태의 부사가 많지만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모든 부사들이 그렇지는 않고 아래와 같이 다양한 변형이 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5030F-5B6F-8477-C4A1-1E7EC8086960}"/>
              </a:ext>
            </a:extLst>
          </p:cNvPr>
          <p:cNvSpPr txBox="1"/>
          <p:nvPr/>
        </p:nvSpPr>
        <p:spPr>
          <a:xfrm>
            <a:off x="247545" y="2054466"/>
            <a:ext cx="8638073" cy="3068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가장 많은 형태로 형용사 뒤에 접미어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만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붙히면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부사가 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is a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slow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walker.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walks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slowly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천천히 걷는다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slow(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+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= slowly(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carefully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packed up breakfasts to take to the hospital.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병원에 가져갈 아침 식사를 조심스럽게 포장했습니다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careful(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+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= carefully(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 house is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nicely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and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functionally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decorated.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집은 멋지고 실용적으로 장식되어 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nice(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+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= nicely(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functional(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+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= functionally(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e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로 끝나는 형용사는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le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빼고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붙여서 부사로 만듭니다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.(le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대신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Symbol" panose="05050102010706020507" pitchFamily="18" charset="2"/>
              <a:buChar char="®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regrettable(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- le +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=r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egrettably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Symbol" panose="05050102010706020507" pitchFamily="18" charset="2"/>
              <a:buChar char="®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horrible(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 - le +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= horribly(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2273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부사의 형태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형용사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+ ally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8C379">
                  <a:lumMod val="50000"/>
                </a:srgbClr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209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ic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로 끝나는 형용사는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ally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붙여서 부사로 만드는 경우가 많습니다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is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enthusiastic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about his job.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그의 직업에 대해 열정적이다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They work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enthusiastically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그들은 열정적으로 일한다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enthusiastic(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+ ally = enthusiastically(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She was able to succeed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academically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and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athletically.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그녀는 학업적으로나 운동적으로나 성공할 수 있었다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Symbol" panose="05050102010706020507" pitchFamily="18" charset="2"/>
              <a:buChar char="®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academic(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+ ally = academically(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Symbol" panose="05050102010706020507" pitchFamily="18" charset="2"/>
              <a:buChar char="®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athletic(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+ ally = athletically(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134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부사의 형태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y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로 끝나는 형용사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184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로 끝나는 형용사의 경우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로 바꾼 다음 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붙여서 부사로 만듭니다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 children are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happy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when they are playing.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아이들은 놀 때 행복하다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 children are playing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happily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아이들이 행복하게 놀고 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happy(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-y + 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ily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= happily(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We can fix it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easily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우리는 그것을 쉽게 고칠 수 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easy(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-y + 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ily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= easily(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9222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부사의 형태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형용사와 형태가 같은 부사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484962"/>
            <a:ext cx="8638073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형용사와 부사의 형태가 동일한 경우가 있습니다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is a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fast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runner.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빠른 주자이다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runs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fast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빠르게 달린다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3C5E817-EBF7-B69C-1ED6-B0FB4075E418}"/>
              </a:ext>
            </a:extLst>
          </p:cNvPr>
          <p:cNvGraphicFramePr>
            <a:graphicFrameLocks noGrp="1"/>
          </p:cNvGraphicFramePr>
          <p:nvPr/>
        </p:nvGraphicFramePr>
        <p:xfrm>
          <a:off x="588953" y="2346073"/>
          <a:ext cx="7249644" cy="2590710"/>
        </p:xfrm>
        <a:graphic>
          <a:graphicData uri="http://schemas.openxmlformats.org/drawingml/2006/table">
            <a:tbl>
              <a:tblPr/>
              <a:tblGrid>
                <a:gridCol w="1812411">
                  <a:extLst>
                    <a:ext uri="{9D8B030D-6E8A-4147-A177-3AD203B41FA5}">
                      <a16:colId xmlns:a16="http://schemas.microsoft.com/office/drawing/2014/main" val="3282716407"/>
                    </a:ext>
                  </a:extLst>
                </a:gridCol>
                <a:gridCol w="1812411">
                  <a:extLst>
                    <a:ext uri="{9D8B030D-6E8A-4147-A177-3AD203B41FA5}">
                      <a16:colId xmlns:a16="http://schemas.microsoft.com/office/drawing/2014/main" val="4180323724"/>
                    </a:ext>
                  </a:extLst>
                </a:gridCol>
                <a:gridCol w="1812411">
                  <a:extLst>
                    <a:ext uri="{9D8B030D-6E8A-4147-A177-3AD203B41FA5}">
                      <a16:colId xmlns:a16="http://schemas.microsoft.com/office/drawing/2014/main" val="1148216710"/>
                    </a:ext>
                  </a:extLst>
                </a:gridCol>
                <a:gridCol w="1812411">
                  <a:extLst>
                    <a:ext uri="{9D8B030D-6E8A-4147-A177-3AD203B41FA5}">
                      <a16:colId xmlns:a16="http://schemas.microsoft.com/office/drawing/2014/main" val="3725387099"/>
                    </a:ext>
                  </a:extLst>
                </a:gridCol>
              </a:tblGrid>
              <a:tr h="22940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</a:rPr>
                        <a:t> 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</a:rPr>
                        <a:t>형용사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</a:rPr>
                        <a:t>부사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</a:rPr>
                        <a:t>다른 의미 부사형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250324"/>
                  </a:ext>
                </a:extLst>
              </a:tr>
              <a:tr h="29753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</a:rPr>
                        <a:t>long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long hair(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긴 머리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go on long(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오래동안 계속되다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 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53176"/>
                  </a:ext>
                </a:extLst>
              </a:tr>
              <a:tr h="229409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</a:rPr>
                        <a:t>far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at the far end(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저쪽 끝에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go far(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멀리 가다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 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534869"/>
                  </a:ext>
                </a:extLst>
              </a:tr>
              <a:tr h="229409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</a:rPr>
                        <a:t>low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low prices(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낮은 가격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bend low(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구부리다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 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76770"/>
                  </a:ext>
                </a:extLst>
              </a:tr>
              <a:tr h="36946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</a:rPr>
                        <a:t>high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high prices(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높은 가격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throw high(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높게 던지다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04040"/>
                          </a:solidFill>
                          <a:effectLst/>
                        </a:rPr>
                        <a:t>highly : 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아주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매우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(=</a:t>
                      </a:r>
                      <a:r>
                        <a:rPr lang="en-US" sz="1000" b="0" dirty="0">
                          <a:solidFill>
                            <a:srgbClr val="404040"/>
                          </a:solidFill>
                          <a:effectLst/>
                        </a:rPr>
                        <a:t>very, </a:t>
                      </a:r>
                      <a:r>
                        <a:rPr lang="en-US" sz="1000" b="0" dirty="0" err="1">
                          <a:solidFill>
                            <a:srgbClr val="404040"/>
                          </a:solidFill>
                          <a:effectLst/>
                        </a:rPr>
                        <a:t>extreamly</a:t>
                      </a:r>
                      <a:r>
                        <a:rPr lang="en-US" sz="1000" b="0" dirty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980041"/>
                  </a:ext>
                </a:extLst>
              </a:tr>
              <a:tr h="29753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</a:rPr>
                        <a:t>fine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fine wines(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좋은 와인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04040"/>
                          </a:solidFill>
                          <a:effectLst/>
                        </a:rPr>
                        <a:t>go fine(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잘 돌아간다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finely : (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알갱이를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잘게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[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곱게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]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56070"/>
                  </a:ext>
                </a:extLst>
              </a:tr>
              <a:tr h="29753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early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04040"/>
                          </a:solidFill>
                          <a:effectLst/>
                        </a:rPr>
                        <a:t>early morning(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이른 아침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04040"/>
                          </a:solidFill>
                          <a:effectLst/>
                        </a:rPr>
                        <a:t>arrive early(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일찍 도착하다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 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489190"/>
                  </a:ext>
                </a:extLst>
              </a:tr>
              <a:tr h="29753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</a:rPr>
                        <a:t>hard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hard question(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어려운 문제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work hard(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열심히 일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/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공부하다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04040"/>
                          </a:solidFill>
                          <a:effectLst/>
                        </a:rPr>
                        <a:t>hardly : 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거의 </a:t>
                      </a:r>
                      <a:r>
                        <a:rPr lang="en-US" altLang="ko-KR" sz="1000" b="0" dirty="0">
                          <a:solidFill>
                            <a:srgbClr val="404040"/>
                          </a:solidFill>
                          <a:effectLst/>
                        </a:rPr>
                        <a:t>~ 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않다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03639"/>
                  </a:ext>
                </a:extLst>
              </a:tr>
              <a:tr h="229409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</a:rPr>
                        <a:t>late</a:t>
                      </a:r>
                    </a:p>
                  </a:txBody>
                  <a:tcPr marL="77791" marR="77791" marT="56722" marB="4051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late afternoon(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늦은 오후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404040"/>
                          </a:solidFill>
                          <a:effectLst/>
                        </a:rPr>
                        <a:t>get up late(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늦게 일어나다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)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404040"/>
                          </a:solidFill>
                          <a:effectLst/>
                        </a:rPr>
                        <a:t>lately : </a:t>
                      </a:r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최근에</a:t>
                      </a:r>
                    </a:p>
                  </a:txBody>
                  <a:tcPr marL="64825" marR="40516" marT="56722" marB="4051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23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342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부사의 형태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ly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를 생략하고 쓰는 경우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311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cheap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와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cheaply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사전에서 찾아보면 다음과 같이 품사 설명이 나옵니다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cheap 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형용사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cheaply 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즉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cheap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은 형용사로도 부사로도 쓸 수 있는데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부사로 사용될 때는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cheaply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와 동일한 의미를 가집니다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가 붙은 부사가 따로 있음에도 이렇게 간혹 형용사와 부사의 형태가 같은 경우도 있습니다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생략하고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마치 형용사 형태처럼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부사를 쓰는 경우는 아무래도 덜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격식적인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표현이라고 할 수 있습니다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cheap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과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cheaply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는 동일한 의미를 가지지만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가 생략될 때 다른 의미를 가지는 경우도 있습니다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studied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hard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to pass the exam.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시험에 합격하기 위하여 열심히 공부했다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hard: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열심히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She can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hardly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walk.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그녀는 거의 걸을 수 없다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hardly: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거의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~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없다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397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부사의 형태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good VS well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8C379">
                  <a:lumMod val="50000"/>
                </a:srgbClr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285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good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은 형용사로만 쓰이는 반면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well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은 형용사와 부사 모두 가능합니다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speaks English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well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영어를 잘한다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b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</a:b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speaks English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good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8333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C8333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(X)</a:t>
            </a:r>
            <a:b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</a:b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good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은 형용사로만 가능하기 때문에 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(speaks)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수식할 수 없습니다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이때는 부사로도 가능한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well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을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써야합니다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well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이 형용사로 쓰일 때는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good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과 의미가 조금 다릅니다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She looks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good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today.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그녀는 오늘 좋아 보인다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good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은 형용사로 다양한 의미로 쓰이는 반면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well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을 형용사로 쓰면 주로 건강과 관련해서 사용합니다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제한적으로 사용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She looks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well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today.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그녀는 오늘 괜찮아 보인다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어제는 아파 보였는데 오늘은 괜찮아 보인다는 의미입니다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</p:txBody>
      </p:sp>
      <p:pic>
        <p:nvPicPr>
          <p:cNvPr id="2" name="그림 1">
            <a:hlinkClick r:id="rId3"/>
            <a:extLst>
              <a:ext uri="{FF2B5EF4-FFF2-40B4-BE49-F238E27FC236}">
                <a16:creationId xmlns:a16="http://schemas.microsoft.com/office/drawing/2014/main" id="{EFD9B648-B0F9-7B6D-D459-14A9C0306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E09332-EFD9-1B7E-50A6-181185DC4C55}"/>
              </a:ext>
            </a:extLst>
          </p:cNvPr>
          <p:cNvSpPr txBox="1"/>
          <p:nvPr/>
        </p:nvSpPr>
        <p:spPr>
          <a:xfrm>
            <a:off x="6019129" y="4900442"/>
            <a:ext cx="31248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https://www.englishcube.net/grammar_view.php?category2=18</a:t>
            </a:r>
          </a:p>
        </p:txBody>
      </p:sp>
    </p:spTree>
    <p:extLst>
      <p:ext uri="{BB962C8B-B14F-4D97-AF65-F5344CB8AC3E}">
        <p14:creationId xmlns:p14="http://schemas.microsoft.com/office/powerpoint/2010/main" val="1677995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빈도부사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39967" y="1134081"/>
            <a:ext cx="8664066" cy="26039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빈도부사는 어떤 일이 얼마나 자주 일어나는지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어떤 일을 얼마나 자주 하는지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나타냅니다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이해를 돕기 위해 빈도부사를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%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로 정리해 보면 다음과 같습니다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always(100%):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항상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늘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usually(90%):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대개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normally, generally(80%):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보통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대개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often, frequently(70%):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자주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sometimes(50%):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때때로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occasionally(30%):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가끔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hardly, rarely(5%):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거의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~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하지 않을 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never(0%):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절대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~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하지 않을 때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0FCDD8ED-C4BD-4EA1-B886-28F7D01B4321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75D97D-E582-4533-960F-D65DB02CD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빈도부사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빈도부사의 위치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 앞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빈도부사가 일반동사와 함께 쓰일 때는 일반동사 앞에 위치합니다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often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to movies.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나는 종종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영화보러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간다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(often) 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(go)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She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always arrives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on time.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그녀는 항상 정시에 도착한다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(always) 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(arrives)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 said that he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hardly drinks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alcohol anymore.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더 이상 술을 거의 마시지 않는다고 말했다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(hardly) 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(drinks)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We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occasionally go out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for coffee together.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우리는 가끔 함께 커피를 마시러 간다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(occasionally) 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(go out)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동사가 목적어를 취할 때는 빈도부사는 동사와 목적어 사이에 올 수 없기에 보통 뒤에 위치합니다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You should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check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the tire pressure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once a week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타이어 공기압은 일주일에 한 번 점검해야 한다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(check)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(the tire pressure)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(once a week)</a:t>
            </a:r>
          </a:p>
        </p:txBody>
      </p:sp>
    </p:spTree>
    <p:extLst>
      <p:ext uri="{BB962C8B-B14F-4D97-AF65-F5344CB8AC3E}">
        <p14:creationId xmlns:p14="http://schemas.microsoft.com/office/powerpoint/2010/main" val="1242348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빈도부사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빈도부사의 위치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be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 뒤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빈도부사가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동사와 함께 쓰일 때는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 뒤에 위치합니다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She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isn't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always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happy about this.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그녀는 이것에 관해 항상 행복하지 않다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(isn't) +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(always)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There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are always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lots of people in the movie theater on Friday nights.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금요일 밤 영화관에는 항상 많은 사람들이 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(are) +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(always)</a:t>
            </a:r>
          </a:p>
        </p:txBody>
      </p:sp>
    </p:spTree>
    <p:extLst>
      <p:ext uri="{BB962C8B-B14F-4D97-AF65-F5344CB8AC3E}">
        <p14:creationId xmlns:p14="http://schemas.microsoft.com/office/powerpoint/2010/main" val="2342522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빈도부사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빈도부사의 위치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조동사 뒤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빈도부사가 조동사와 함께 쓰일 때는 조동사 뒤에 위치합니다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조동사는 일반동사 앞에 사용하기 때문에 조동사와 일반동사 사이에 위치한다고 할 수도 있습니다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can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always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make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you smile.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나는 항상 너를 웃게 해줄 수 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b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</a:b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(can)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(always)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(make)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You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can never be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too careful in crossing a street.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길을 건널 때는 아무리 주의를 해도 지나치지 않다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(can)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(never)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(be)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완료시제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진행시제 등을 위해서 조동사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(auxiliary verb)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가 사용된 경우에도 빈도부사는 조동사와 일반동사 사이에 위치합니다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have never visited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Toronto.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토론토는 한 번도 가본 적이 없다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조동사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(have)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빈도부사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(never)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일반동사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(visited)</a:t>
            </a:r>
          </a:p>
        </p:txBody>
      </p:sp>
    </p:spTree>
    <p:extLst>
      <p:ext uri="{BB962C8B-B14F-4D97-AF65-F5344CB8AC3E}">
        <p14:creationId xmlns:p14="http://schemas.microsoft.com/office/powerpoint/2010/main" val="3886121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빈도부사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빈도부사의 위치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FE40CC-E9D1-7FD3-8232-F931E44BA8FA}"/>
              </a:ext>
            </a:extLst>
          </p:cNvPr>
          <p:cNvSpPr txBox="1"/>
          <p:nvPr/>
        </p:nvSpPr>
        <p:spPr>
          <a:xfrm>
            <a:off x="258381" y="1547782"/>
            <a:ext cx="863807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기타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sometimes, usually, normally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와 같은 빈도부사는 문장의 앞에 오는 경우가 많습니다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8B451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Sometimes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I eat even when I am full.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나는 가끔씩 배가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부른데도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먹는다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아래와 같은 표현들도 빈도를 나타냅니다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 go hiking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twice a month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나는 한 달에 두 번 등산을 간다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She goes to the cinema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once in a while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그녀는 가끔 영화관에 간다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pic>
        <p:nvPicPr>
          <p:cNvPr id="4" name="그림 3">
            <a:hlinkClick r:id="rId3"/>
            <a:extLst>
              <a:ext uri="{FF2B5EF4-FFF2-40B4-BE49-F238E27FC236}">
                <a16:creationId xmlns:a16="http://schemas.microsoft.com/office/drawing/2014/main" id="{3132FFC4-1BF8-1BF0-9085-E4DC26482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22DCF0-84F6-5346-3C9D-50A7BF8DB90D}"/>
              </a:ext>
            </a:extLst>
          </p:cNvPr>
          <p:cNvSpPr txBox="1"/>
          <p:nvPr/>
        </p:nvSpPr>
        <p:spPr>
          <a:xfrm>
            <a:off x="6352739" y="4919862"/>
            <a:ext cx="278857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https://www.englishcube.net/grammar_view.php?category2=286</a:t>
            </a:r>
          </a:p>
        </p:txBody>
      </p:sp>
    </p:spTree>
    <p:extLst>
      <p:ext uri="{BB962C8B-B14F-4D97-AF65-F5344CB8AC3E}">
        <p14:creationId xmlns:p14="http://schemas.microsoft.com/office/powerpoint/2010/main" val="2711317333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16193</TotalTime>
  <Words>2172</Words>
  <Application>Microsoft Office PowerPoint</Application>
  <PresentationFormat>화면 슬라이드 쇼(16:9)</PresentationFormat>
  <Paragraphs>297</Paragraphs>
  <Slides>22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Arial</vt:lpstr>
      <vt:lpstr>Open Sans</vt:lpstr>
      <vt:lpstr>Wingdings</vt:lpstr>
      <vt:lpstr>Symbol</vt:lpstr>
      <vt:lpstr>Calibri</vt:lpstr>
      <vt:lpstr>맑은 고딕</vt:lpstr>
      <vt:lpstr>HY헤드라인M</vt:lpstr>
      <vt:lpstr>Righteous</vt:lpstr>
      <vt:lpstr>TOWN HALL BUSINESS PLAN</vt:lpstr>
      <vt:lpstr>외국어시험 대체 강좌 – 시사영어 </vt:lpstr>
      <vt:lpstr>Table of Contents</vt:lpstr>
      <vt:lpstr>문화, 과학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</vt:lpstr>
      <vt:lpstr>3.1 Grammar: 부사의 형태</vt:lpstr>
      <vt:lpstr>3.1 Grammar: 부사의 형태</vt:lpstr>
      <vt:lpstr>3.1 Grammar: 부사의 형태</vt:lpstr>
      <vt:lpstr>3.1 Grammar: 부사의 형태</vt:lpstr>
      <vt:lpstr>3.1 Grammar: 부사의 형태</vt:lpstr>
      <vt:lpstr>3.1 Grammar: 부사의 형태</vt:lpstr>
      <vt:lpstr>3.2 Grammar: 빈도부사</vt:lpstr>
      <vt:lpstr>3.2 Grammar: 빈도부사</vt:lpstr>
      <vt:lpstr>3.2 Grammar: 빈도부사</vt:lpstr>
      <vt:lpstr>3.2 Grammar: 빈도부사</vt:lpstr>
      <vt:lpstr>3.2 Grammar: 빈도부사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214</cp:revision>
  <dcterms:modified xsi:type="dcterms:W3CDTF">2024-02-04T09:06:42Z</dcterms:modified>
</cp:coreProperties>
</file>