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0"/>
  </p:notesMasterIdLst>
  <p:sldIdLst>
    <p:sldId id="256" r:id="rId2"/>
    <p:sldId id="279" r:id="rId3"/>
    <p:sldId id="261" r:id="rId4"/>
    <p:sldId id="378" r:id="rId5"/>
    <p:sldId id="369" r:id="rId6"/>
    <p:sldId id="379" r:id="rId7"/>
    <p:sldId id="380" r:id="rId8"/>
    <p:sldId id="381" r:id="rId9"/>
    <p:sldId id="382" r:id="rId10"/>
    <p:sldId id="309" r:id="rId11"/>
    <p:sldId id="376" r:id="rId12"/>
    <p:sldId id="383" r:id="rId13"/>
    <p:sldId id="364" r:id="rId14"/>
    <p:sldId id="389" r:id="rId15"/>
    <p:sldId id="388" r:id="rId16"/>
    <p:sldId id="385" r:id="rId17"/>
    <p:sldId id="386" r:id="rId18"/>
    <p:sldId id="384" r:id="rId19"/>
  </p:sldIdLst>
  <p:sldSz cx="9144000" cy="5143500" type="screen16x9"/>
  <p:notesSz cx="6797675" cy="9926638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HY헤드라인M" panose="02030600000101010101" pitchFamily="18" charset="-127"/>
      <p:regular r:id="rId25"/>
    </p:embeddedFont>
    <p:embeddedFont>
      <p:font typeface="Open Sans" panose="020B0600000101010101" charset="0"/>
      <p:regular r:id="rId26"/>
      <p:bold r:id="rId27"/>
      <p:italic r:id="rId28"/>
      <p:boldItalic r:id="rId29"/>
    </p:embeddedFont>
    <p:embeddedFont>
      <p:font typeface="Righteous" panose="020B0600000101010101" charset="0"/>
      <p:regular r:id="rId30"/>
    </p:embeddedFont>
    <p:embeddedFont>
      <p:font typeface="Tahoma" panose="020B0604030504040204" pitchFamily="34" charset="0"/>
      <p:regular r:id="rId31"/>
      <p:bold r:id="rId32"/>
    </p:embeddedFont>
    <p:embeddedFont>
      <p:font typeface="맑은 고딕" panose="020B0503020000020004" pitchFamily="50" charset="-127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CAE"/>
    <a:srgbClr val="A3CAF7"/>
    <a:srgbClr val="F8C379"/>
    <a:srgbClr val="663DB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A76DC9-9F1E-41F9-AC6C-C94DD4396BF5}">
  <a:tblStyle styleId="{EAA76DC9-9F1E-41F9-AC6C-C94DD4396B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3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p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6b628f12ae_0_15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6b628f12ae_0_15816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70bcfaa05b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70bcfaa05b_0_508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1492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5035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7237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26300" y="1288975"/>
            <a:ext cx="58914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823850" y="1953225"/>
            <a:ext cx="54963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8775" y="-20375"/>
            <a:ext cx="2771700" cy="51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1176992" y="2560534"/>
            <a:ext cx="353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1176992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176992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TWO_COLUMNS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601ED383-4240-451C-AF24-F5BEBCACFF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0B2C87-6623-7087-CBE0-7109EC4CC4FE}"/>
              </a:ext>
            </a:extLst>
          </p:cNvPr>
          <p:cNvSpPr/>
          <p:nvPr userDrawn="1"/>
        </p:nvSpPr>
        <p:spPr>
          <a:xfrm>
            <a:off x="3758472" y="1320077"/>
            <a:ext cx="5159468" cy="2902423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FA2A9844-F7AA-4437-8D4C-790546ED92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92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6856800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E15FA631-D0C2-45C4-B074-C5C35779E8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319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SECTION_HEADER_1_1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-13350" y="1853400"/>
            <a:ext cx="9170700" cy="334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1165031" y="2560525"/>
            <a:ext cx="4387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48" name="Google Shape;148;p23"/>
          <p:cNvSpPr txBox="1">
            <a:spLocks noGrp="1"/>
          </p:cNvSpPr>
          <p:nvPr>
            <p:ph type="title" idx="2" hasCustomPrompt="1"/>
          </p:nvPr>
        </p:nvSpPr>
        <p:spPr>
          <a:xfrm>
            <a:off x="1165031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1"/>
          </p:nvPr>
        </p:nvSpPr>
        <p:spPr>
          <a:xfrm>
            <a:off x="1165031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ighteous"/>
              <a:buNone/>
              <a:defRPr sz="28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Open Sans"/>
              <a:buChar char="●"/>
              <a:defRPr sz="18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80" r:id="rId4"/>
    <p:sldLayoutId id="2147483679" r:id="rId5"/>
    <p:sldLayoutId id="214748366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ea"/>
          <a:ea typeface="+mn-ea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englishcube.net/grammar_exam.php?category2=41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englishcube.net/grammar_exam.php?category2=46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>
            <a:spLocks noGrp="1"/>
          </p:cNvSpPr>
          <p:nvPr>
            <p:ph type="ctrTitle"/>
          </p:nvPr>
        </p:nvSpPr>
        <p:spPr>
          <a:xfrm>
            <a:off x="783925" y="1288975"/>
            <a:ext cx="75762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외국어 시험 대체 강좌</a:t>
            </a:r>
            <a:r>
              <a:rPr lang="en-US" altLang="ko-KR" sz="3200" b="1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시사영어 </a:t>
            </a:r>
            <a:endParaRPr sz="3200" b="1" dirty="0">
              <a:solidFill>
                <a:srgbClr val="A3CAF7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6" name="Google Shape;356;p32"/>
          <p:cNvSpPr txBox="1">
            <a:spLocks noGrp="1"/>
          </p:cNvSpPr>
          <p:nvPr>
            <p:ph type="subTitle" idx="1"/>
          </p:nvPr>
        </p:nvSpPr>
        <p:spPr>
          <a:xfrm>
            <a:off x="1639637" y="2081575"/>
            <a:ext cx="54963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Current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55"/>
          <p:cNvSpPr txBox="1">
            <a:spLocks noGrp="1"/>
          </p:cNvSpPr>
          <p:nvPr>
            <p:ph type="title" idx="2"/>
          </p:nvPr>
        </p:nvSpPr>
        <p:spPr>
          <a:xfrm>
            <a:off x="338557" y="945225"/>
            <a:ext cx="4559285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Table of Contents</a:t>
            </a:r>
            <a:endParaRPr sz="3600" dirty="0"/>
          </a:p>
        </p:txBody>
      </p:sp>
      <p:sp>
        <p:nvSpPr>
          <p:cNvPr id="3" name="Google Shape;1750;p54">
            <a:extLst>
              <a:ext uri="{FF2B5EF4-FFF2-40B4-BE49-F238E27FC236}">
                <a16:creationId xmlns:a16="http://schemas.microsoft.com/office/drawing/2014/main" id="{360E37D8-7847-9874-9BAD-2C40111672C8}"/>
              </a:ext>
            </a:extLst>
          </p:cNvPr>
          <p:cNvSpPr/>
          <p:nvPr/>
        </p:nvSpPr>
        <p:spPr>
          <a:xfrm>
            <a:off x="312881" y="1932020"/>
            <a:ext cx="581368" cy="581368"/>
          </a:xfrm>
          <a:prstGeom prst="ellipse">
            <a:avLst/>
          </a:prstGeom>
          <a:solidFill>
            <a:srgbClr val="FDDC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960D9-03BA-60D3-95A2-F3D5083B510D}"/>
              </a:ext>
            </a:extLst>
          </p:cNvPr>
          <p:cNvSpPr txBox="1"/>
          <p:nvPr/>
        </p:nvSpPr>
        <p:spPr>
          <a:xfrm>
            <a:off x="905047" y="1940420"/>
            <a:ext cx="28010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경제</a:t>
            </a:r>
            <a:endParaRPr lang="en-US" altLang="ko-KR" sz="16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ko-KR" altLang="en-US" b="1" dirty="0"/>
              <a:t>복지 </a:t>
            </a:r>
            <a:r>
              <a:rPr lang="en-US" altLang="ko-KR" b="1" dirty="0"/>
              <a:t>/ </a:t>
            </a:r>
            <a:r>
              <a:rPr lang="ko-KR" altLang="en-US" b="1" dirty="0"/>
              <a:t>빈부격차 </a:t>
            </a:r>
            <a:r>
              <a:rPr lang="en-US" altLang="ko-KR" b="1" dirty="0"/>
              <a:t>/ </a:t>
            </a:r>
            <a:r>
              <a:rPr lang="ko-KR" altLang="en-US" b="1" dirty="0"/>
              <a:t>물가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3B164-1416-E22A-B07D-4ECB67E734D7}"/>
              </a:ext>
            </a:extLst>
          </p:cNvPr>
          <p:cNvSpPr txBox="1"/>
          <p:nvPr/>
        </p:nvSpPr>
        <p:spPr>
          <a:xfrm>
            <a:off x="292156" y="2517335"/>
            <a:ext cx="2365767" cy="89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Expressions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Word List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Grammar: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수동태 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9C055E3-4FAB-4769-A8A6-D6069692B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31" y="2039089"/>
            <a:ext cx="367230" cy="3672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750;p54">
            <a:extLst>
              <a:ext uri="{FF2B5EF4-FFF2-40B4-BE49-F238E27FC236}">
                <a16:creationId xmlns:a16="http://schemas.microsoft.com/office/drawing/2014/main" id="{B59FF772-E584-79B9-ECAB-9369D6249537}"/>
              </a:ext>
            </a:extLst>
          </p:cNvPr>
          <p:cNvSpPr/>
          <p:nvPr/>
        </p:nvSpPr>
        <p:spPr>
          <a:xfrm>
            <a:off x="4690677" y="793952"/>
            <a:ext cx="3555597" cy="355559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7"/>
          <p:cNvSpPr txBox="1">
            <a:spLocks noGrp="1"/>
          </p:cNvSpPr>
          <p:nvPr>
            <p:ph type="title"/>
          </p:nvPr>
        </p:nvSpPr>
        <p:spPr>
          <a:xfrm>
            <a:off x="1177000" y="2560525"/>
            <a:ext cx="387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>
                <a:latin typeface="+mj-ea"/>
                <a:ea typeface="+mj-ea"/>
              </a:rPr>
              <a:t>경제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730" name="Google Shape;730;p37"/>
          <p:cNvSpPr txBox="1">
            <a:spLocks noGrp="1"/>
          </p:cNvSpPr>
          <p:nvPr>
            <p:ph type="subTitle" idx="1"/>
          </p:nvPr>
        </p:nvSpPr>
        <p:spPr>
          <a:xfrm>
            <a:off x="1176992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복지 </a:t>
            </a:r>
            <a:r>
              <a:rPr lang="en-US" altLang="ko-KR" dirty="0"/>
              <a:t>/ </a:t>
            </a:r>
            <a:r>
              <a:rPr lang="ko-KR" altLang="en-US" dirty="0"/>
              <a:t>빈부격차 </a:t>
            </a:r>
            <a:r>
              <a:rPr lang="en-US" altLang="ko-KR" dirty="0"/>
              <a:t>/ </a:t>
            </a:r>
            <a:r>
              <a:rPr lang="ko-KR" altLang="en-US" dirty="0"/>
              <a:t>물가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1" name="제목 2">
            <a:extLst>
              <a:ext uri="{FF2B5EF4-FFF2-40B4-BE49-F238E27FC236}">
                <a16:creationId xmlns:a16="http://schemas.microsoft.com/office/drawing/2014/main" id="{B8CC920F-C452-0ABE-B7D2-CF578CEADA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176992" y="945225"/>
            <a:ext cx="2511900" cy="789300"/>
          </a:xfrm>
        </p:spPr>
        <p:txBody>
          <a:bodyPr/>
          <a:lstStyle/>
          <a:p>
            <a:r>
              <a:rPr lang="en-US" altLang="ko-KR" sz="4400" dirty="0"/>
              <a:t>02</a:t>
            </a:r>
            <a:endParaRPr lang="ko-KR" altLang="en-US" sz="4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325B6F0-1E87-4AC5-9D36-FC1DACF29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590" y="1599581"/>
            <a:ext cx="2041769" cy="20417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C323767-B517-4437-AD29-8AF708FCB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625040"/>
              </p:ext>
            </p:extLst>
          </p:nvPr>
        </p:nvGraphicFramePr>
        <p:xfrm>
          <a:off x="367145" y="1518984"/>
          <a:ext cx="8333511" cy="299212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004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government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should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provide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free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school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lunches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public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school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students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b="1" dirty="0">
                          <a:solidFill>
                            <a:schemeClr val="accent2"/>
                          </a:solidFill>
                        </a:rPr>
                        <a:t>across</a:t>
                      </a:r>
                      <a:r>
                        <a:rPr lang="ko-KR" altLang="en-US" sz="1000" b="1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chemeClr val="accent2"/>
                          </a:solidFill>
                        </a:rPr>
                        <a:t>the</a:t>
                      </a:r>
                      <a:r>
                        <a:rPr lang="ko-KR" altLang="en-US" sz="1000" b="1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chemeClr val="accent2"/>
                          </a:solidFill>
                        </a:rPr>
                        <a:t>board</a:t>
                      </a:r>
                      <a:r>
                        <a:rPr lang="en-US" altLang="ko-KR" sz="1000" dirty="0"/>
                        <a:t>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don’t agree with that idea. Free school lunches should be selectively provided only to students from low families, rather than across the board.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Free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school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lunches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should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indiscriminately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provided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all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students.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Free school lunches should be provided to all the students </a:t>
                      </a:r>
                      <a:r>
                        <a:rPr lang="en-US" altLang="ko-KR" sz="1000" b="1" dirty="0">
                          <a:solidFill>
                            <a:schemeClr val="accent2"/>
                          </a:solidFill>
                        </a:rPr>
                        <a:t>across the board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005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support the new government’s tax cut plans. They will help the poor through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trickle-down effect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There’s no empirical evidence that tax cuts actually benefit the poor.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tax cut will help the poor through spreading wealth from the rich to the poor.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tax cut will help the poor through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trickle-down effect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293166" y="1074944"/>
            <a:ext cx="907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복지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A030FB-E49A-45E3-8190-C1EC904F6FCD}"/>
              </a:ext>
            </a:extLst>
          </p:cNvPr>
          <p:cNvSpPr txBox="1"/>
          <p:nvPr/>
        </p:nvSpPr>
        <p:spPr>
          <a:xfrm>
            <a:off x="443346" y="4575364"/>
            <a:ext cx="7786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altLang="ko-KR" sz="1000" dirty="0"/>
              <a:t>the + poor </a:t>
            </a:r>
            <a:r>
              <a:rPr lang="ko-KR" altLang="en-US" sz="1000" dirty="0"/>
              <a:t>가난한 사람들</a:t>
            </a:r>
            <a:r>
              <a:rPr lang="en-US" altLang="ko-KR" sz="1000" dirty="0"/>
              <a:t> / the + rich </a:t>
            </a:r>
            <a:r>
              <a:rPr lang="ko-KR" altLang="en-US" sz="1000" dirty="0"/>
              <a:t>부유한 사람들</a:t>
            </a:r>
            <a:endParaRPr lang="en-US" altLang="ko-KR" sz="1000" dirty="0"/>
          </a:p>
          <a:p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1075376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C323767-B517-4437-AD29-8AF708FCB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996262"/>
              </p:ext>
            </p:extLst>
          </p:nvPr>
        </p:nvGraphicFramePr>
        <p:xfrm>
          <a:off x="367145" y="1518984"/>
          <a:ext cx="8333511" cy="148336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006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There needs to be some way to prevent people from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abusing</a:t>
                      </a:r>
                      <a:r>
                        <a:rPr lang="en-US" altLang="ko-KR" sz="1000" dirty="0"/>
                        <a:t> our welfare system.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There are individuals who leech on them. They take away the benefits from those who are really in need.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should prevent people from illegally taking advantage of our welfare system.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should prevent people from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abusing</a:t>
                      </a:r>
                      <a:r>
                        <a:rPr lang="en-US" altLang="ko-KR" sz="1000" dirty="0"/>
                        <a:t> our welfare system.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293166" y="1074944"/>
            <a:ext cx="907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복지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42269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C323767-B517-4437-AD29-8AF708FCB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380049"/>
              </p:ext>
            </p:extLst>
          </p:nvPr>
        </p:nvGraphicFramePr>
        <p:xfrm>
          <a:off x="367145" y="1518984"/>
          <a:ext cx="8333511" cy="296672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007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disparity between the rich and the poor </a:t>
                      </a:r>
                      <a:r>
                        <a:rPr lang="en-US" altLang="ko-KR" sz="1000" dirty="0"/>
                        <a:t>has been increasing over the past decade.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know. The real problem is we don’t have any powerful countermeasures in our hands.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Rich people have become richer while poor people have become poorer.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disparity between the rich and poor </a:t>
                      </a:r>
                      <a:r>
                        <a:rPr lang="en-US" altLang="ko-KR" sz="1000" dirty="0"/>
                        <a:t>has been increasing.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008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While Korea’s conglomerates enjoy the record profits, the middle class is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being wiped out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don’t know when this problem of economic polarization will ever be resolved.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middle class disappears.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middle class is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being wiped out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293165" y="1074944"/>
            <a:ext cx="1765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[</a:t>
            </a:r>
            <a:r>
              <a:rPr lang="ko-KR" altLang="en-US" sz="1600" dirty="0"/>
              <a:t>빈부격차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E1CF78-460A-45F8-8EF5-33CEADD4980C}"/>
              </a:ext>
            </a:extLst>
          </p:cNvPr>
          <p:cNvSpPr txBox="1"/>
          <p:nvPr/>
        </p:nvSpPr>
        <p:spPr>
          <a:xfrm>
            <a:off x="443346" y="4575364"/>
            <a:ext cx="77862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altLang="ko-KR" sz="1000" dirty="0"/>
              <a:t>disparity between = gap between </a:t>
            </a:r>
          </a:p>
        </p:txBody>
      </p:sp>
    </p:spTree>
    <p:extLst>
      <p:ext uri="{BB962C8B-B14F-4D97-AF65-F5344CB8AC3E}">
        <p14:creationId xmlns:p14="http://schemas.microsoft.com/office/powerpoint/2010/main" val="1059611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C323767-B517-4437-AD29-8AF708FCB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531265"/>
              </p:ext>
            </p:extLst>
          </p:nvPr>
        </p:nvGraphicFramePr>
        <p:xfrm>
          <a:off x="367145" y="1518984"/>
          <a:ext cx="8333511" cy="148336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009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 difficult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live on </a:t>
                      </a:r>
                      <a:r>
                        <a:rPr lang="en-US" altLang="ko-KR" sz="1000" dirty="0"/>
                        <a:t>the current minimum wage. One cannot maintain a livelihood with the present amount.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But a sharp increase in the amount would ultimately be a blow to small business owners.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 difficult to make a living with the current minimum wage.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 difficult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live on</a:t>
                      </a:r>
                      <a:r>
                        <a:rPr lang="en-US" altLang="ko-KR" sz="1000" dirty="0"/>
                        <a:t> the current minimum wage.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293165" y="1074944"/>
            <a:ext cx="16612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빈부격차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25012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C323767-B517-4437-AD29-8AF708FCB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664364"/>
              </p:ext>
            </p:extLst>
          </p:nvPr>
        </p:nvGraphicFramePr>
        <p:xfrm>
          <a:off x="367145" y="1518984"/>
          <a:ext cx="8333511" cy="296672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010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went to a supermarket today and almost had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price shock</a:t>
                      </a:r>
                      <a:r>
                        <a:rPr lang="en-US" altLang="ko-KR" sz="1000" dirty="0"/>
                        <a:t>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economy is slow, but prices for groceries and basic necessities are rising.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was surprised to see how much prices have increased.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had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price shock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011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don’t understand how these stores can be allowed to make their products so expensive.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If there were stronger regulations on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price gouging</a:t>
                      </a:r>
                      <a:r>
                        <a:rPr lang="en-US" altLang="ko-KR" sz="1000" dirty="0"/>
                        <a:t>, we wouldn’t have this problem.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need stronger regulations on unfair price increase.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need stronger regulations on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price gouging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293165" y="1074944"/>
            <a:ext cx="1765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물가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B7D781-895E-4F43-80A6-47E39559A33C}"/>
              </a:ext>
            </a:extLst>
          </p:cNvPr>
          <p:cNvSpPr txBox="1"/>
          <p:nvPr/>
        </p:nvSpPr>
        <p:spPr>
          <a:xfrm>
            <a:off x="443346" y="4575364"/>
            <a:ext cx="77862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altLang="ko-KR" sz="1000" dirty="0"/>
              <a:t>price shock = sticker shock</a:t>
            </a:r>
          </a:p>
        </p:txBody>
      </p:sp>
    </p:spTree>
    <p:extLst>
      <p:ext uri="{BB962C8B-B14F-4D97-AF65-F5344CB8AC3E}">
        <p14:creationId xmlns:p14="http://schemas.microsoft.com/office/powerpoint/2010/main" val="3630780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C323767-B517-4437-AD29-8AF708FCB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492249"/>
              </p:ext>
            </p:extLst>
          </p:nvPr>
        </p:nvGraphicFramePr>
        <p:xfrm>
          <a:off x="367145" y="1518984"/>
          <a:ext cx="8333511" cy="148336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012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My energy bills have almost doubled in amount since last year.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have a right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basic necessities</a:t>
                      </a:r>
                      <a:r>
                        <a:rPr lang="en-US" altLang="ko-KR" sz="1000" dirty="0"/>
                        <a:t>, so these companies are completely immoral for that.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have a right to consume what is necessary for a living.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have a right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basic necessities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293165" y="1074944"/>
            <a:ext cx="16612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물가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6CD3F4-1A3C-4404-9BD5-8BDFEEA5B4E1}"/>
              </a:ext>
            </a:extLst>
          </p:cNvPr>
          <p:cNvSpPr txBox="1"/>
          <p:nvPr/>
        </p:nvSpPr>
        <p:spPr>
          <a:xfrm>
            <a:off x="443346" y="3079079"/>
            <a:ext cx="77862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altLang="ko-KR" sz="1000" dirty="0"/>
              <a:t>basic necessities = bare necessities</a:t>
            </a:r>
          </a:p>
        </p:txBody>
      </p:sp>
    </p:spTree>
    <p:extLst>
      <p:ext uri="{BB962C8B-B14F-4D97-AF65-F5344CB8AC3E}">
        <p14:creationId xmlns:p14="http://schemas.microsoft.com/office/powerpoint/2010/main" val="2773231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43187A-7D06-40F6-8B80-8FBE7522F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77B3261-4AA7-A4C9-8A9E-1E98653C90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319066" y="1087934"/>
            <a:ext cx="3778513" cy="37165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B09EB94-A344-35BE-BCAA-652ACBEF878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000"/>
          <a:stretch/>
        </p:blipFill>
        <p:spPr>
          <a:xfrm>
            <a:off x="4701174" y="1065509"/>
            <a:ext cx="3778513" cy="404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14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D1A042-495E-2A99-A3C5-56B75458BE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310861" y="1086487"/>
            <a:ext cx="3778513" cy="388468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E2A05DF-D475-8C6D-6E89-368EBFCD4C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23833"/>
          <a:stretch/>
        </p:blipFill>
        <p:spPr>
          <a:xfrm>
            <a:off x="4735425" y="1075052"/>
            <a:ext cx="4065783" cy="39176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94DBAC9-5369-562D-5DA7-810911A75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505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35732C-7171-0A91-BCC1-7248401B77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366414" y="1095134"/>
            <a:ext cx="3435012" cy="369968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C82B252-F5BD-DC4C-9964-AEEFAE46CC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4726248" y="1074143"/>
            <a:ext cx="3778513" cy="35880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1A33316-0B67-9CDC-7002-93E707CBE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38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879527E-6476-405E-AE2A-29A0D037C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775" y="1037916"/>
            <a:ext cx="8207836" cy="734314"/>
          </a:xfrm>
        </p:spPr>
        <p:txBody>
          <a:bodyPr/>
          <a:lstStyle/>
          <a:p>
            <a:r>
              <a:rPr lang="en-US" altLang="ko-KR" sz="1100" dirty="0"/>
              <a:t>Free school lunches should </a:t>
            </a:r>
            <a:r>
              <a:rPr lang="en-US" altLang="ko-KR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be</a:t>
            </a:r>
            <a:r>
              <a:rPr lang="en-US" altLang="ko-KR" sz="1100" dirty="0"/>
              <a:t> selectively </a:t>
            </a:r>
            <a:r>
              <a:rPr lang="en-US" altLang="ko-KR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provided</a:t>
            </a:r>
            <a:r>
              <a:rPr lang="en-US" altLang="ko-KR" sz="1100" dirty="0"/>
              <a:t> only to student from low income families.</a:t>
            </a:r>
          </a:p>
          <a:p>
            <a:r>
              <a:rPr lang="en-US" altLang="ko-KR" sz="1100" dirty="0"/>
              <a:t>Free</a:t>
            </a:r>
            <a:r>
              <a:rPr lang="ko-KR" altLang="en-US" sz="1100" dirty="0"/>
              <a:t> </a:t>
            </a:r>
            <a:r>
              <a:rPr lang="en-US" altLang="ko-KR" sz="1100" dirty="0"/>
              <a:t>school</a:t>
            </a:r>
            <a:r>
              <a:rPr lang="ko-KR" altLang="en-US" sz="1100" dirty="0"/>
              <a:t> </a:t>
            </a:r>
            <a:r>
              <a:rPr lang="en-US" altLang="ko-KR" sz="1100" dirty="0"/>
              <a:t>lunches</a:t>
            </a:r>
            <a:r>
              <a:rPr lang="ko-KR" altLang="en-US" sz="1100" dirty="0"/>
              <a:t> </a:t>
            </a:r>
            <a:r>
              <a:rPr lang="en-US" altLang="ko-KR" sz="1100" dirty="0"/>
              <a:t>should </a:t>
            </a:r>
            <a:r>
              <a:rPr lang="en-US" altLang="ko-KR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be</a:t>
            </a:r>
            <a:r>
              <a:rPr lang="en-US" altLang="ko-KR" sz="1100" dirty="0"/>
              <a:t> indiscriminately </a:t>
            </a:r>
            <a:r>
              <a:rPr lang="en-US" altLang="ko-KR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provided</a:t>
            </a:r>
            <a:r>
              <a:rPr lang="en-US" altLang="ko-KR" sz="1100" dirty="0"/>
              <a:t> to all the students. </a:t>
            </a:r>
          </a:p>
          <a:p>
            <a:r>
              <a:rPr lang="en-US" altLang="ko-KR" sz="1100" dirty="0"/>
              <a:t>Free school lunches should </a:t>
            </a:r>
            <a:r>
              <a:rPr lang="en-US" altLang="ko-KR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be provided </a:t>
            </a:r>
            <a:r>
              <a:rPr lang="en-US" altLang="ko-KR" sz="1100" dirty="0"/>
              <a:t>to all the students across the board. 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endParaRPr lang="ko-KR" altLang="en-US" sz="11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수동태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917657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수동태를 쓰는 이유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2298919"/>
            <a:ext cx="8664066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Rome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+mn-ea"/>
                <a:ea typeface="+mn-ea"/>
              </a:rPr>
              <a:t> was not built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in a day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.</a:t>
            </a:r>
            <a:b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ko-KR" altLang="en-US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로마는 하루 아침에 만들어지지 않았다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ko-KR" altLang="en-US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(build)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의 주체를 특정하기가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latin typeface="+mn-ea"/>
                <a:ea typeface="+mn-ea"/>
              </a:rPr>
              <a:t>힘듬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대상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(Rome)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을 주어로 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수동태</a:t>
            </a:r>
            <a:endParaRPr lang="en-US" altLang="ko-KR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endParaRPr lang="ko-KR" altLang="en-US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English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+mn-ea"/>
                <a:ea typeface="+mn-ea"/>
              </a:rPr>
              <a:t>is spoken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all over the world.</a:t>
            </a:r>
            <a:b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ko-KR" altLang="en-US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영어는 전 세계에서 사용된다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r>
              <a:rPr lang="ko-KR" altLang="en-US" sz="1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(speak)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의 주체를 특정하기가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latin typeface="+mn-ea"/>
                <a:ea typeface="+mn-ea"/>
              </a:rPr>
              <a:t>힘듬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대상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(English)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을 주어로 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수동태</a:t>
            </a:r>
            <a:endParaRPr lang="en-US" altLang="ko-KR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ko-KR" altLang="en-US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More than 96% of the world's annual rice crop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+mn-ea"/>
                <a:ea typeface="+mn-ea"/>
              </a:rPr>
              <a:t>is produced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in the Far East.</a:t>
            </a:r>
            <a:b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ko-KR" altLang="en-US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전 세계 연간 벼의 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96%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이상이 극동 지역에서 생산된다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r>
              <a:rPr lang="ko-KR" altLang="en-US" sz="1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(produce)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의 주체를 특정하기가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latin typeface="+mn-ea"/>
                <a:ea typeface="+mn-ea"/>
              </a:rPr>
              <a:t>힘듬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대상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(More than 96% of the world's annual rice crop)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을 주어로 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수동태</a:t>
            </a:r>
            <a:endParaRPr lang="en-US" altLang="ko-KR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ko-KR" altLang="en-US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Investigators discovered that a window had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+mn-ea"/>
                <a:ea typeface="+mn-ea"/>
              </a:rPr>
              <a:t>been broken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from the outside.</a:t>
            </a:r>
            <a:b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ko-KR" altLang="en-US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수사관들은 외부에서 창문이 깨진 것을 발견했다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r>
              <a:rPr lang="ko-KR" altLang="en-US" sz="1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(break)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의 주체를 모름 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대상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(a window)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을 주어로 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수동태</a:t>
            </a:r>
          </a:p>
        </p:txBody>
      </p:sp>
    </p:spTree>
    <p:extLst>
      <p:ext uri="{BB962C8B-B14F-4D97-AF65-F5344CB8AC3E}">
        <p14:creationId xmlns:p14="http://schemas.microsoft.com/office/powerpoint/2010/main" val="3328899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수동태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수동태를 쓰는 이유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613789"/>
            <a:ext cx="8664066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The event will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+mn-ea"/>
                <a:ea typeface="+mn-ea"/>
              </a:rPr>
              <a:t>be held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at the stadium.</a:t>
            </a:r>
            <a:b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ko-KR" altLang="en-US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행사는 경기장에서 진행될 것입니다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r>
              <a:rPr lang="ko-KR" altLang="en-US" sz="1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(hold)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의 주체 보다는 대상이 중요 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대상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(The event)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을 주어로 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수동태</a:t>
            </a:r>
            <a:endParaRPr lang="en-US" altLang="ko-KR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ko-KR" altLang="en-US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A mistake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+mn-ea"/>
                <a:ea typeface="+mn-ea"/>
              </a:rPr>
              <a:t>has been made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.</a:t>
            </a:r>
            <a:b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</a:br>
            <a:r>
              <a:rPr lang="ko-KR" altLang="en-US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착오가 있었다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r>
              <a:rPr lang="ko-KR" altLang="en-US" sz="1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(made)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의 주체를 알지만 말하고 싶지 않음 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대상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(A mistake)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을 주어로 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수동태</a:t>
            </a:r>
          </a:p>
          <a:p>
            <a:pPr algn="l"/>
            <a:endParaRPr lang="en-US" altLang="ko-KR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위 문장을 능동태로 바꾸면 다음과 같습니다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.</a:t>
            </a:r>
          </a:p>
          <a:p>
            <a:pPr algn="l"/>
            <a:endParaRPr lang="en-US" altLang="ko-KR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You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+mn-ea"/>
                <a:ea typeface="+mn-ea"/>
              </a:rPr>
              <a:t>have made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a mistake.</a:t>
            </a:r>
            <a:b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</a:br>
            <a:r>
              <a:rPr lang="ko-KR" altLang="en-US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당신은 실수를 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r>
              <a:rPr lang="ko-KR" altLang="en-US" sz="1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동사의 주체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(You)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가 주어 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능동태</a:t>
            </a:r>
          </a:p>
          <a:p>
            <a:pPr algn="l"/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실수를 한 당사자를 지목하지 않기 위해서 수동태로 쓰면서 </a:t>
            </a:r>
            <a:r>
              <a:rPr lang="en-US" altLang="ko-KR" sz="1100" b="1" i="0" dirty="0">
                <a:solidFill>
                  <a:srgbClr val="2B394A"/>
                </a:solidFill>
                <a:effectLst/>
                <a:latin typeface="+mn-ea"/>
                <a:ea typeface="+mn-ea"/>
              </a:rPr>
              <a:t>by + </a:t>
            </a:r>
            <a:r>
              <a:rPr lang="ko-KR" altLang="en-US" sz="1100" b="1" i="0" dirty="0">
                <a:solidFill>
                  <a:srgbClr val="2B394A"/>
                </a:solidFill>
                <a:effectLst/>
                <a:latin typeface="+mn-ea"/>
                <a:ea typeface="+mn-ea"/>
              </a:rPr>
              <a:t>동사의 주체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를 생략하는 경우가 많습니다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.</a:t>
            </a:r>
          </a:p>
          <a:p>
            <a:pPr algn="l"/>
            <a:endParaRPr lang="ko-KR" altLang="en-US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</p:txBody>
      </p:sp>
      <p:pic>
        <p:nvPicPr>
          <p:cNvPr id="11" name="그림 10">
            <a:hlinkClick r:id="rId2"/>
            <a:extLst>
              <a:ext uri="{FF2B5EF4-FFF2-40B4-BE49-F238E27FC236}">
                <a16:creationId xmlns:a16="http://schemas.microsoft.com/office/drawing/2014/main" id="{F77791CA-AC4D-C0F5-8572-74C8A5C41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030" y="4512912"/>
            <a:ext cx="1511939" cy="43895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9B1D202-C1A4-417A-A556-E3BF373CBBA4}"/>
              </a:ext>
            </a:extLst>
          </p:cNvPr>
          <p:cNvSpPr/>
          <p:nvPr/>
        </p:nvSpPr>
        <p:spPr>
          <a:xfrm>
            <a:off x="6019799" y="4928056"/>
            <a:ext cx="317502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https://www.englishcube.net/grammar_exam.php?category2=41</a:t>
            </a:r>
          </a:p>
        </p:txBody>
      </p:sp>
    </p:spTree>
    <p:extLst>
      <p:ext uri="{BB962C8B-B14F-4D97-AF65-F5344CB8AC3E}">
        <p14:creationId xmlns:p14="http://schemas.microsoft.com/office/powerpoint/2010/main" val="1897593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수동태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36680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수동태가 불가능한 동사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EB0DA9A-C832-BFDB-9354-A7671AF41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084129"/>
              </p:ext>
            </p:extLst>
          </p:nvPr>
        </p:nvGraphicFramePr>
        <p:xfrm>
          <a:off x="524192" y="3189893"/>
          <a:ext cx="6482840" cy="1295400"/>
        </p:xfrm>
        <a:graphic>
          <a:graphicData uri="http://schemas.openxmlformats.org/drawingml/2006/table">
            <a:tbl>
              <a:tblPr/>
              <a:tblGrid>
                <a:gridCol w="1324816">
                  <a:extLst>
                    <a:ext uri="{9D8B030D-6E8A-4147-A177-3AD203B41FA5}">
                      <a16:colId xmlns:a16="http://schemas.microsoft.com/office/drawing/2014/main" val="4019961576"/>
                    </a:ext>
                  </a:extLst>
                </a:gridCol>
                <a:gridCol w="5158024">
                  <a:extLst>
                    <a:ext uri="{9D8B030D-6E8A-4147-A177-3AD203B41FA5}">
                      <a16:colId xmlns:a16="http://schemas.microsoft.com/office/drawing/2014/main" val="1633858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1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형식</a:t>
                      </a:r>
                    </a:p>
                  </a:txBody>
                  <a:tcPr marT="53340" marB="381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주어</a:t>
                      </a:r>
                      <a:r>
                        <a:rPr lang="en-US" altLang="ko-KR" sz="1100" b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동사 </a:t>
                      </a:r>
                      <a:r>
                        <a:rPr lang="ko-KR" altLang="en-US" sz="1100" b="1" i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r>
                        <a:rPr lang="ko-KR" altLang="en-US" sz="1100" b="1">
                          <a:solidFill>
                            <a:srgbClr val="2B394A"/>
                          </a:solidFill>
                          <a:effectLst/>
                          <a:latin typeface="+mn-ea"/>
                          <a:ea typeface="+mn-ea"/>
                        </a:rPr>
                        <a:t>수동태 불가</a:t>
                      </a:r>
                      <a:endParaRPr lang="ko-KR" altLang="en-US" sz="1100" b="0">
                        <a:solidFill>
                          <a:srgbClr val="40404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960" marR="38100" marT="53340" marB="381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869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100" b="1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형식</a:t>
                      </a:r>
                    </a:p>
                  </a:txBody>
                  <a:tcPr marT="53340" marB="381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주어</a:t>
                      </a:r>
                      <a:r>
                        <a:rPr lang="en-US" altLang="ko-KR" sz="11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동사</a:t>
                      </a:r>
                      <a:r>
                        <a:rPr lang="en-US" altLang="ko-KR" sz="11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보어 </a:t>
                      </a:r>
                      <a:r>
                        <a:rPr lang="ko-KR" altLang="en-US" sz="1100" b="1" i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r>
                        <a:rPr lang="ko-KR" altLang="en-US" sz="1100" b="1" dirty="0">
                          <a:solidFill>
                            <a:srgbClr val="2B394A"/>
                          </a:solidFill>
                          <a:effectLst/>
                          <a:latin typeface="+mn-ea"/>
                          <a:ea typeface="+mn-ea"/>
                        </a:rPr>
                        <a:t>수동태 불가</a:t>
                      </a:r>
                      <a:endParaRPr lang="ko-KR" altLang="en-US" sz="1100" b="0" dirty="0">
                        <a:solidFill>
                          <a:srgbClr val="40404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960" marR="38100" marT="53340" marB="381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250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100" b="1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형식</a:t>
                      </a:r>
                    </a:p>
                  </a:txBody>
                  <a:tcPr marT="53340" marB="381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주어</a:t>
                      </a:r>
                      <a:r>
                        <a:rPr lang="en-US" altLang="ko-KR" sz="11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동사</a:t>
                      </a:r>
                      <a:r>
                        <a:rPr lang="en-US" altLang="ko-KR" sz="11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, </a:t>
                      </a:r>
                      <a:r>
                        <a:rPr lang="ko-KR" altLang="en-US" sz="1100" b="1" dirty="0">
                          <a:solidFill>
                            <a:srgbClr val="2B394A"/>
                          </a:solidFill>
                          <a:effectLst/>
                          <a:latin typeface="+mn-ea"/>
                          <a:ea typeface="+mn-ea"/>
                        </a:rPr>
                        <a:t>목적어</a:t>
                      </a:r>
                      <a:endParaRPr lang="ko-KR" altLang="en-US" sz="1100" b="0" dirty="0">
                        <a:solidFill>
                          <a:srgbClr val="40404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960" marR="38100" marT="53340" marB="381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974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100" b="1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형식</a:t>
                      </a:r>
                    </a:p>
                  </a:txBody>
                  <a:tcPr marT="53340" marB="381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주어</a:t>
                      </a:r>
                      <a:r>
                        <a:rPr lang="en-US" altLang="ko-KR" sz="11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동사</a:t>
                      </a:r>
                      <a:r>
                        <a:rPr lang="en-US" altLang="ko-KR" sz="11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, </a:t>
                      </a:r>
                      <a:r>
                        <a:rPr lang="ko-KR" altLang="en-US" sz="1100" b="1" dirty="0">
                          <a:solidFill>
                            <a:srgbClr val="2B394A"/>
                          </a:solidFill>
                          <a:effectLst/>
                          <a:latin typeface="+mn-ea"/>
                          <a:ea typeface="+mn-ea"/>
                        </a:rPr>
                        <a:t>목적어</a:t>
                      </a:r>
                      <a:r>
                        <a:rPr lang="en-US" altLang="ko-KR" sz="11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, </a:t>
                      </a:r>
                      <a:r>
                        <a:rPr lang="ko-KR" altLang="en-US" sz="1100" b="1" dirty="0">
                          <a:solidFill>
                            <a:srgbClr val="2B394A"/>
                          </a:solidFill>
                          <a:effectLst/>
                          <a:latin typeface="+mn-ea"/>
                          <a:ea typeface="+mn-ea"/>
                        </a:rPr>
                        <a:t>목적어</a:t>
                      </a:r>
                      <a:endParaRPr lang="ko-KR" altLang="en-US" sz="1100" b="0" dirty="0">
                        <a:solidFill>
                          <a:srgbClr val="40404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960" marR="38100" marT="53340" marB="381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03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100" b="1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형식</a:t>
                      </a:r>
                    </a:p>
                  </a:txBody>
                  <a:tcPr marT="53340" marB="381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주어</a:t>
                      </a:r>
                      <a:r>
                        <a:rPr lang="en-US" altLang="ko-KR" sz="11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동사</a:t>
                      </a:r>
                      <a:r>
                        <a:rPr lang="en-US" altLang="ko-KR" sz="11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, </a:t>
                      </a:r>
                      <a:r>
                        <a:rPr lang="ko-KR" altLang="en-US" sz="1100" b="1" dirty="0">
                          <a:solidFill>
                            <a:srgbClr val="2B394A"/>
                          </a:solidFill>
                          <a:effectLst/>
                          <a:latin typeface="+mn-ea"/>
                          <a:ea typeface="+mn-ea"/>
                        </a:rPr>
                        <a:t>목적어</a:t>
                      </a:r>
                      <a:r>
                        <a:rPr lang="en-US" altLang="ko-KR" sz="11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보어</a:t>
                      </a:r>
                    </a:p>
                  </a:txBody>
                  <a:tcPr marL="60960" marR="38100" marT="53340" marB="381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231396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5054CB6C-B12F-42C2-96F3-BEBCA3A4A96E}"/>
              </a:ext>
            </a:extLst>
          </p:cNvPr>
          <p:cNvSpPr/>
          <p:nvPr/>
        </p:nvSpPr>
        <p:spPr>
          <a:xfrm>
            <a:off x="401781" y="1642246"/>
            <a:ext cx="7931727" cy="1372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333333"/>
                </a:solidFill>
                <a:latin typeface="+mn-ea"/>
                <a:ea typeface="+mn-ea"/>
              </a:rPr>
              <a:t>수동태는 </a:t>
            </a:r>
            <a:r>
              <a:rPr lang="ko-KR" altLang="en-US" sz="1200" b="1" dirty="0">
                <a:solidFill>
                  <a:srgbClr val="2B394A"/>
                </a:solidFill>
                <a:latin typeface="+mn-ea"/>
                <a:ea typeface="+mn-ea"/>
              </a:rPr>
              <a:t>동사의 대상</a:t>
            </a:r>
            <a:r>
              <a:rPr lang="ko-KR" altLang="en-US" sz="1200" dirty="0">
                <a:solidFill>
                  <a:srgbClr val="333333"/>
                </a:solidFill>
                <a:latin typeface="+mn-ea"/>
                <a:ea typeface="+mn-ea"/>
              </a:rPr>
              <a:t>이 주어가 되는 문장입니다</a:t>
            </a:r>
            <a:r>
              <a:rPr lang="en-US" altLang="ko-KR" sz="1200" dirty="0">
                <a:solidFill>
                  <a:srgbClr val="333333"/>
                </a:solidFill>
                <a:latin typeface="+mn-ea"/>
                <a:ea typeface="+mn-ea"/>
              </a:rPr>
              <a:t>. </a:t>
            </a:r>
            <a:r>
              <a:rPr lang="ko-KR" altLang="en-US" sz="1200" dirty="0">
                <a:solidFill>
                  <a:srgbClr val="333333"/>
                </a:solidFill>
                <a:latin typeface="+mn-ea"/>
                <a:ea typeface="+mn-ea"/>
              </a:rPr>
              <a:t>동사의 대상이란 능동태에서 목적어를 말하는 것입니다</a:t>
            </a:r>
            <a:r>
              <a:rPr lang="en-US" altLang="ko-KR" sz="1200" dirty="0">
                <a:solidFill>
                  <a:srgbClr val="333333"/>
                </a:solidFill>
                <a:latin typeface="+mn-ea"/>
                <a:ea typeface="+mn-ea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333333"/>
                </a:solidFill>
                <a:latin typeface="+mn-ea"/>
                <a:ea typeface="+mn-ea"/>
              </a:rPr>
              <a:t>능동태</a:t>
            </a:r>
            <a:r>
              <a:rPr lang="en-US" altLang="ko-KR" sz="1200" dirty="0">
                <a:solidFill>
                  <a:srgbClr val="333333"/>
                </a:solidFill>
                <a:latin typeface="+mn-ea"/>
                <a:ea typeface="+mn-ea"/>
              </a:rPr>
              <a:t>: </a:t>
            </a:r>
            <a:r>
              <a:rPr lang="ko-KR" altLang="en-US" sz="1200" dirty="0">
                <a:solidFill>
                  <a:srgbClr val="333333"/>
                </a:solidFill>
                <a:latin typeface="+mn-ea"/>
                <a:ea typeface="+mn-ea"/>
              </a:rPr>
              <a:t>주어</a:t>
            </a:r>
            <a:r>
              <a:rPr lang="en-US" altLang="ko-KR" sz="1200" dirty="0">
                <a:solidFill>
                  <a:srgbClr val="333333"/>
                </a:solidFill>
                <a:latin typeface="+mn-ea"/>
                <a:ea typeface="+mn-ea"/>
              </a:rPr>
              <a:t>(</a:t>
            </a:r>
            <a:r>
              <a:rPr lang="ko-KR" altLang="en-US" sz="1200" dirty="0">
                <a:solidFill>
                  <a:srgbClr val="333333"/>
                </a:solidFill>
                <a:latin typeface="+mn-ea"/>
                <a:ea typeface="+mn-ea"/>
              </a:rPr>
              <a:t>주체</a:t>
            </a:r>
            <a:r>
              <a:rPr lang="en-US" altLang="ko-KR" sz="1200" dirty="0">
                <a:solidFill>
                  <a:srgbClr val="333333"/>
                </a:solidFill>
                <a:latin typeface="+mn-ea"/>
                <a:ea typeface="+mn-ea"/>
              </a:rPr>
              <a:t>) + </a:t>
            </a:r>
            <a:r>
              <a:rPr lang="ko-KR" altLang="en-US" sz="1200" dirty="0">
                <a:solidFill>
                  <a:srgbClr val="333333"/>
                </a:solidFill>
                <a:latin typeface="+mn-ea"/>
                <a:ea typeface="+mn-ea"/>
              </a:rPr>
              <a:t>동사 </a:t>
            </a:r>
            <a:r>
              <a:rPr lang="en-US" altLang="ko-KR" sz="1200" dirty="0">
                <a:solidFill>
                  <a:srgbClr val="333333"/>
                </a:solidFill>
                <a:latin typeface="+mn-ea"/>
                <a:ea typeface="+mn-ea"/>
              </a:rPr>
              <a:t>+ </a:t>
            </a:r>
            <a:r>
              <a:rPr lang="ko-KR" altLang="en-US" sz="1200" b="1" dirty="0">
                <a:solidFill>
                  <a:srgbClr val="2B394A"/>
                </a:solidFill>
                <a:latin typeface="+mn-ea"/>
                <a:ea typeface="+mn-ea"/>
              </a:rPr>
              <a:t>목적어</a:t>
            </a:r>
            <a:r>
              <a:rPr lang="en-US" altLang="ko-KR" sz="1200" b="1" dirty="0">
                <a:solidFill>
                  <a:srgbClr val="2B394A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>
                <a:solidFill>
                  <a:srgbClr val="2B394A"/>
                </a:solidFill>
                <a:latin typeface="+mn-ea"/>
                <a:ea typeface="+mn-ea"/>
              </a:rPr>
              <a:t>대상</a:t>
            </a:r>
            <a:r>
              <a:rPr lang="en-US" altLang="ko-KR" sz="1200" b="1" dirty="0">
                <a:solidFill>
                  <a:srgbClr val="2B394A"/>
                </a:solidFill>
                <a:latin typeface="+mn-ea"/>
                <a:ea typeface="+mn-ea"/>
              </a:rPr>
              <a:t>)</a:t>
            </a:r>
          </a:p>
          <a:p>
            <a:pPr>
              <a:lnSpc>
                <a:spcPct val="150000"/>
              </a:lnSpc>
            </a:pPr>
            <a:endParaRPr lang="ko-KR" altLang="en-US" sz="700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333333"/>
                </a:solidFill>
                <a:latin typeface="+mn-ea"/>
                <a:ea typeface="+mn-ea"/>
              </a:rPr>
              <a:t>수동태</a:t>
            </a:r>
            <a:r>
              <a:rPr lang="en-US" altLang="ko-KR" sz="1200" dirty="0">
                <a:solidFill>
                  <a:srgbClr val="333333"/>
                </a:solidFill>
                <a:latin typeface="+mn-ea"/>
                <a:ea typeface="+mn-ea"/>
              </a:rPr>
              <a:t>: </a:t>
            </a:r>
            <a:r>
              <a:rPr lang="ko-KR" altLang="en-US" sz="1200" b="1" dirty="0">
                <a:solidFill>
                  <a:srgbClr val="2B394A"/>
                </a:solidFill>
                <a:latin typeface="+mn-ea"/>
                <a:ea typeface="+mn-ea"/>
              </a:rPr>
              <a:t>주어</a:t>
            </a:r>
            <a:r>
              <a:rPr lang="en-US" altLang="ko-KR" sz="1200" b="1" dirty="0">
                <a:solidFill>
                  <a:srgbClr val="2B394A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>
                <a:solidFill>
                  <a:srgbClr val="2B394A"/>
                </a:solidFill>
                <a:latin typeface="+mn-ea"/>
                <a:ea typeface="+mn-ea"/>
              </a:rPr>
              <a:t>대상</a:t>
            </a:r>
            <a:r>
              <a:rPr lang="en-US" altLang="ko-KR" sz="1200" b="1" dirty="0">
                <a:solidFill>
                  <a:srgbClr val="2B394A"/>
                </a:solidFill>
                <a:latin typeface="+mn-ea"/>
                <a:ea typeface="+mn-ea"/>
              </a:rPr>
              <a:t>)</a:t>
            </a:r>
            <a:r>
              <a:rPr lang="ko-KR" altLang="en-US" sz="1200" dirty="0">
                <a:solidFill>
                  <a:srgbClr val="333333"/>
                </a:solidFill>
                <a:latin typeface="+mn-ea"/>
                <a:ea typeface="+mn-ea"/>
              </a:rPr>
              <a:t> </a:t>
            </a:r>
            <a:r>
              <a:rPr lang="en-US" altLang="ko-KR" sz="1200" dirty="0">
                <a:solidFill>
                  <a:srgbClr val="333333"/>
                </a:solidFill>
                <a:latin typeface="+mn-ea"/>
                <a:ea typeface="+mn-ea"/>
              </a:rPr>
              <a:t>+ be+</a:t>
            </a:r>
            <a:r>
              <a:rPr lang="ko-KR" altLang="en-US" sz="1200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ko-KR" sz="1200" dirty="0">
                <a:solidFill>
                  <a:srgbClr val="333333"/>
                </a:solidFill>
                <a:latin typeface="+mn-ea"/>
                <a:ea typeface="+mn-ea"/>
              </a:rPr>
              <a:t>PP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333333"/>
                </a:solidFill>
                <a:latin typeface="+mn-ea"/>
                <a:ea typeface="+mn-ea"/>
              </a:rPr>
              <a:t>→</a:t>
            </a:r>
            <a:r>
              <a:rPr lang="ko-KR" altLang="en-US" sz="1200" dirty="0">
                <a:latin typeface="+mn-ea"/>
                <a:ea typeface="+mn-ea"/>
              </a:rPr>
              <a:t> 능동태에서 목적어가 없는 문장은 수동태로 바꿀 수 없습니다</a:t>
            </a:r>
            <a:r>
              <a:rPr lang="en-US" altLang="ko-KR" sz="1200" dirty="0">
                <a:latin typeface="+mn-ea"/>
                <a:ea typeface="+mn-ea"/>
              </a:rPr>
              <a:t>. </a:t>
            </a:r>
            <a:endParaRPr lang="ko-KR" altLang="en-US" sz="12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9CD0E1F-DE04-4943-920E-9AF728EFECDB}"/>
              </a:ext>
            </a:extLst>
          </p:cNvPr>
          <p:cNvCxnSpPr>
            <a:cxnSpLocks/>
          </p:cNvCxnSpPr>
          <p:nvPr/>
        </p:nvCxnSpPr>
        <p:spPr>
          <a:xfrm flipH="1">
            <a:off x="1614056" y="2189018"/>
            <a:ext cx="824344" cy="243852"/>
          </a:xfrm>
          <a:prstGeom prst="straightConnector1">
            <a:avLst/>
          </a:prstGeom>
          <a:ln>
            <a:solidFill>
              <a:schemeClr val="accent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313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수동태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36680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수동태가 불가능한 동사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082ADB-2C9A-D8F1-ABC7-83C5133DADD3}"/>
              </a:ext>
            </a:extLst>
          </p:cNvPr>
          <p:cNvSpPr txBox="1"/>
          <p:nvPr/>
        </p:nvSpPr>
        <p:spPr>
          <a:xfrm>
            <a:off x="247545" y="1646585"/>
            <a:ext cx="866406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The hotel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+mn-ea"/>
                <a:ea typeface="+mn-ea"/>
              </a:rPr>
              <a:t>stands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on the beach.</a:t>
            </a:r>
            <a:endParaRPr lang="en-US" altLang="ko-KR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r>
              <a:rPr lang="ko-KR" altLang="en-US" sz="1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(The hotel)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(stands)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수식어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(on the beach) 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1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형식 </a:t>
            </a:r>
            <a:r>
              <a:rPr lang="ko-KR" altLang="en-US" sz="1100" dirty="0">
                <a:solidFill>
                  <a:srgbClr val="333333"/>
                </a:solidFill>
                <a:latin typeface="+mn-ea"/>
                <a:ea typeface="+mn-ea"/>
              </a:rPr>
              <a:t>수동태 불가</a:t>
            </a:r>
            <a:endParaRPr lang="en-US" altLang="ko-KR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The accident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+mn-ea"/>
                <a:ea typeface="+mn-ea"/>
              </a:rPr>
              <a:t>happened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close to the junction.</a:t>
            </a:r>
            <a:b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The accident </a:t>
            </a:r>
            <a:r>
              <a:rPr lang="en-US" altLang="ko-KR" sz="1100" b="1" i="0" strike="sngStrike" dirty="0">
                <a:solidFill>
                  <a:srgbClr val="907E6D"/>
                </a:solidFill>
                <a:effectLst/>
                <a:latin typeface="+mn-ea"/>
                <a:ea typeface="+mn-ea"/>
              </a:rPr>
              <a:t>was happened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close to the junction.</a:t>
            </a:r>
            <a:r>
              <a:rPr lang="en-US" altLang="ko-KR" sz="1100" b="1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</a:t>
            </a:r>
            <a:b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ko-KR" altLang="en-US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사고는 교차로 근처에서 발생했다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r>
              <a:rPr lang="ko-KR" altLang="en-US" sz="1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(The accident)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(happened)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수식어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(close to the junction) 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1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형식 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수동태 불가</a:t>
            </a:r>
            <a:endParaRPr lang="en-US" altLang="ko-KR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endParaRPr lang="ko-KR" altLang="en-US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The metal frame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+mn-ea"/>
                <a:ea typeface="+mn-ea"/>
              </a:rPr>
              <a:t>remained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after the fire.</a:t>
            </a:r>
            <a:b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The metal frame </a:t>
            </a:r>
            <a:r>
              <a:rPr lang="en-US" altLang="ko-KR" sz="1100" b="1" i="0" strike="sngStrike" dirty="0">
                <a:solidFill>
                  <a:srgbClr val="907E6D"/>
                </a:solidFill>
                <a:effectLst/>
                <a:latin typeface="+mn-ea"/>
                <a:ea typeface="+mn-ea"/>
              </a:rPr>
              <a:t>was remained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after the fire.</a:t>
            </a:r>
            <a:r>
              <a:rPr lang="en-US" altLang="ko-KR" sz="1100" b="1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</a:t>
            </a:r>
            <a:b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ko-KR" altLang="en-US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화재 후 금속 프레임은 남아있었다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r>
              <a:rPr lang="ko-KR" altLang="en-US" sz="1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(The metal frame)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(remained)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수식어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(after the fire) 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1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형식 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수동태 불가</a:t>
            </a:r>
            <a:endParaRPr lang="en-US" altLang="ko-KR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endParaRPr lang="ko-KR" altLang="en-US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Then he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+mn-ea"/>
                <a:ea typeface="+mn-ea"/>
              </a:rPr>
              <a:t>disappeared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behind the crowd.</a:t>
            </a:r>
            <a:b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Then he </a:t>
            </a:r>
            <a:r>
              <a:rPr lang="en-US" altLang="ko-KR" sz="1100" b="1" i="0" strike="sngStrike" dirty="0">
                <a:solidFill>
                  <a:srgbClr val="907E6D"/>
                </a:solidFill>
                <a:effectLst/>
                <a:latin typeface="+mn-ea"/>
                <a:ea typeface="+mn-ea"/>
              </a:rPr>
              <a:t>was disappeared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behind the crowd.</a:t>
            </a:r>
            <a:r>
              <a:rPr lang="en-US" altLang="ko-KR" sz="1100" b="1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</a:t>
            </a:r>
            <a:b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ko-KR" altLang="en-US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그런 다음 그는 군중 뒤로 사라졌다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r>
              <a:rPr lang="ko-KR" altLang="en-US" sz="1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(he)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(disappeared)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수식어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(behind the crowd) 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1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형식 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수동태 불가</a:t>
            </a:r>
          </a:p>
          <a:p>
            <a:pPr algn="l"/>
            <a:endParaRPr lang="ko-KR" altLang="en-US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8941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수동태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36680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수동태가 불가능한 동사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082ADB-2C9A-D8F1-ABC7-83C5133DADD3}"/>
              </a:ext>
            </a:extLst>
          </p:cNvPr>
          <p:cNvSpPr txBox="1"/>
          <p:nvPr/>
        </p:nvSpPr>
        <p:spPr>
          <a:xfrm>
            <a:off x="247545" y="1646585"/>
            <a:ext cx="866406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A minute later, she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+mn-ea"/>
                <a:ea typeface="+mn-ea"/>
              </a:rPr>
              <a:t>appeared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around the corner with a wooden tray.</a:t>
            </a:r>
            <a:br>
              <a:rPr lang="en-US" altLang="ko-KR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en-US" altLang="ko-KR" sz="10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A minute later, she </a:t>
            </a:r>
            <a:r>
              <a:rPr lang="en-US" altLang="ko-KR" sz="1000" b="1" i="0" strike="sngStrike" dirty="0">
                <a:solidFill>
                  <a:srgbClr val="907E6D"/>
                </a:solidFill>
                <a:effectLst/>
                <a:latin typeface="+mn-ea"/>
                <a:ea typeface="+mn-ea"/>
              </a:rPr>
              <a:t>was appeared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around the corner with a wooden tray.</a:t>
            </a:r>
            <a:r>
              <a:rPr lang="en-US" altLang="ko-KR" sz="1000" b="1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</a:t>
            </a:r>
            <a:br>
              <a:rPr lang="en-US" altLang="ko-KR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ko-KR" altLang="en-US" sz="10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잠시 후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,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그녀는 나무 쟁반을 들고 모퉁이를 돌면서 나타났다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r>
              <a: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(she)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(appeared)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수식어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(around the corner with a wooden tray) </a:t>
            </a:r>
            <a:r>
              <a:rPr lang="en-US" altLang="ko-KR" sz="10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1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형식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수동태 불가</a:t>
            </a:r>
            <a:endParaRPr lang="en-US" altLang="ko-KR" sz="10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endParaRPr lang="ko-KR" altLang="en-US" sz="10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아래와 같은 경우는 전치사와 함께 의미를 구성하는 구동사이지만 위와 같은 선상에서 이해하기 위해서 형식을 나눠 보겠습니다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. </a:t>
            </a: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The group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+mn-ea"/>
                <a:ea typeface="+mn-ea"/>
              </a:rPr>
              <a:t>consists of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a comedian, singers and actors.</a:t>
            </a:r>
            <a:br>
              <a:rPr lang="en-US" altLang="ko-KR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en-US" altLang="ko-KR" sz="10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The group </a:t>
            </a:r>
            <a:r>
              <a:rPr lang="en-US" altLang="ko-KR" sz="1000" b="1" i="0" strike="sngStrike" dirty="0">
                <a:solidFill>
                  <a:srgbClr val="907E6D"/>
                </a:solidFill>
                <a:effectLst/>
                <a:latin typeface="+mn-ea"/>
                <a:ea typeface="+mn-ea"/>
              </a:rPr>
              <a:t>is consisted of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a comedian, singers and actors.</a:t>
            </a:r>
            <a:r>
              <a:rPr lang="en-US" altLang="ko-KR" sz="1000" b="1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</a:t>
            </a:r>
            <a:br>
              <a:rPr lang="en-US" altLang="ko-KR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ko-KR" altLang="en-US" sz="10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그 그룹은 코미디언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,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가수 및 배우로 구성되어 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r>
              <a: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(The group)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(consists)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수식어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(of a comedian, singers and actors) </a:t>
            </a:r>
            <a:r>
              <a:rPr lang="en-US" altLang="ko-KR" sz="10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1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형식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수동태 불가</a:t>
            </a:r>
            <a:endParaRPr lang="en-US" altLang="ko-KR" sz="10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ko-KR" altLang="en-US" sz="10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The blue coat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+mn-ea"/>
                <a:ea typeface="+mn-ea"/>
              </a:rPr>
              <a:t>belongs to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her.</a:t>
            </a:r>
            <a:br>
              <a:rPr lang="en-US" altLang="ko-KR" sz="10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</a:br>
            <a:r>
              <a:rPr lang="en-US" altLang="ko-KR" sz="10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The blue coat </a:t>
            </a:r>
            <a:r>
              <a:rPr lang="en-US" altLang="ko-KR" sz="1000" b="1" i="0" strike="sngStrike" dirty="0">
                <a:solidFill>
                  <a:srgbClr val="907E6D"/>
                </a:solidFill>
                <a:effectLst/>
                <a:latin typeface="+mn-ea"/>
                <a:ea typeface="+mn-ea"/>
              </a:rPr>
              <a:t>is belonged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to her.</a:t>
            </a:r>
            <a:br>
              <a:rPr lang="en-US" altLang="ko-KR" sz="10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</a:br>
            <a:r>
              <a:rPr lang="ko-KR" altLang="en-US" sz="10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푸른 코트는 그녀의 것이다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r>
              <a: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(The blue coat)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(belongs)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수식어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(to her) </a:t>
            </a:r>
            <a:r>
              <a:rPr lang="en-US" altLang="ko-KR" sz="10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1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형식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수동태 불가</a:t>
            </a:r>
            <a:endParaRPr lang="en-US" altLang="ko-KR" sz="10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endParaRPr lang="ko-KR" altLang="en-US" sz="10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He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+mn-ea"/>
                <a:ea typeface="+mn-ea"/>
              </a:rPr>
              <a:t>seems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very quiet.</a:t>
            </a:r>
            <a:br>
              <a:rPr lang="en-US" altLang="ko-KR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en-US" altLang="ko-KR" sz="10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He </a:t>
            </a:r>
            <a:r>
              <a:rPr lang="en-US" altLang="ko-KR" sz="1000" b="1" i="0" strike="sngStrike" dirty="0">
                <a:solidFill>
                  <a:srgbClr val="907E6D"/>
                </a:solidFill>
                <a:effectLst/>
                <a:latin typeface="+mn-ea"/>
                <a:ea typeface="+mn-ea"/>
              </a:rPr>
              <a:t>is seemed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very quiet.</a:t>
            </a:r>
            <a:r>
              <a:rPr lang="en-US" altLang="ko-KR" sz="1000" b="1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</a:t>
            </a:r>
            <a:br>
              <a:rPr lang="en-US" altLang="ko-KR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ko-KR" altLang="en-US" sz="10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그는 매우 조용한 것 같다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r>
              <a: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(He)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(seems)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(very quiet) </a:t>
            </a:r>
            <a:r>
              <a:rPr lang="en-US" altLang="ko-KR" sz="10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2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형식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수동태 불가</a:t>
            </a:r>
          </a:p>
          <a:p>
            <a:pPr algn="l"/>
            <a:endParaRPr lang="ko-KR" altLang="en-US" sz="10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0401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수동태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36680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수동태가 불가능한 타동사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176EE-4426-66E3-48FD-EC912E9CFFFD}"/>
              </a:ext>
            </a:extLst>
          </p:cNvPr>
          <p:cNvSpPr txBox="1"/>
          <p:nvPr/>
        </p:nvSpPr>
        <p:spPr>
          <a:xfrm>
            <a:off x="202078" y="1608863"/>
            <a:ext cx="8512508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100" b="0" i="0" dirty="0">
                <a:solidFill>
                  <a:schemeClr val="accent2"/>
                </a:solidFill>
                <a:effectLst/>
                <a:latin typeface="+mn-ea"/>
                <a:ea typeface="+mn-ea"/>
              </a:rPr>
              <a:t>resemble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</a:t>
            </a:r>
            <a:r>
              <a:rPr lang="en-US" altLang="ko-KR" sz="1100" dirty="0" err="1">
                <a:solidFill>
                  <a:srgbClr val="333333"/>
                </a:solidFill>
                <a:latin typeface="+mn-ea"/>
                <a:ea typeface="+mn-ea"/>
              </a:rPr>
              <a:t>vt.</a:t>
            </a:r>
            <a:r>
              <a:rPr lang="en-US" altLang="ko-KR" sz="1100" dirty="0">
                <a:solidFill>
                  <a:srgbClr val="333333"/>
                </a:solidFill>
                <a:latin typeface="+mn-ea"/>
                <a:ea typeface="+mn-ea"/>
              </a:rPr>
              <a:t>)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닮다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비슷하다</a:t>
            </a:r>
            <a:endParaRPr lang="en-US" altLang="ko-KR" sz="1100" dirty="0">
              <a:solidFill>
                <a:srgbClr val="654321"/>
              </a:solidFill>
              <a:latin typeface="+mn-ea"/>
              <a:ea typeface="+mn-ea"/>
            </a:endParaRPr>
          </a:p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He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+mn-ea"/>
                <a:ea typeface="+mn-ea"/>
              </a:rPr>
              <a:t>resembles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his father.</a:t>
            </a:r>
            <a:b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He </a:t>
            </a:r>
            <a:r>
              <a:rPr lang="en-US" altLang="ko-KR" sz="1100" b="1" i="0" strike="sngStrike" dirty="0">
                <a:solidFill>
                  <a:srgbClr val="907E6D"/>
                </a:solidFill>
                <a:effectLst/>
                <a:latin typeface="+mn-ea"/>
                <a:ea typeface="+mn-ea"/>
              </a:rPr>
              <a:t>is resembled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his father.</a:t>
            </a:r>
            <a:r>
              <a:rPr lang="en-US" altLang="ko-KR" sz="1100" b="1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</a:t>
            </a:r>
            <a:b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His father </a:t>
            </a:r>
            <a:r>
              <a:rPr lang="en-US" altLang="ko-KR" sz="1100" b="1" i="0" strike="sngStrike" dirty="0">
                <a:solidFill>
                  <a:srgbClr val="907E6D"/>
                </a:solidFill>
                <a:effectLst/>
                <a:latin typeface="+mn-ea"/>
                <a:ea typeface="+mn-ea"/>
              </a:rPr>
              <a:t>is resembled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by him.</a:t>
            </a:r>
            <a:r>
              <a:rPr lang="en-US" altLang="ko-KR" sz="1100" b="1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</a:t>
            </a:r>
            <a:b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ko-KR" altLang="en-US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그는 아빠를 닮았다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r>
              <a:rPr lang="en-US" altLang="ko-KR" sz="1100" dirty="0">
                <a:solidFill>
                  <a:srgbClr val="333333"/>
                </a:solidFill>
                <a:latin typeface="+mn-ea"/>
                <a:sym typeface="Symbol" panose="05050102010706020507" pitchFamily="18" charset="2"/>
              </a:rPr>
              <a:t> </a:t>
            </a:r>
            <a:r>
              <a:rPr lang="ko-KR" altLang="en-US" sz="1100" dirty="0">
                <a:solidFill>
                  <a:srgbClr val="333333"/>
                </a:solidFill>
                <a:latin typeface="+mn-ea"/>
              </a:rPr>
              <a:t>타동사이기는 하나 의미적으로 연결동사</a:t>
            </a:r>
            <a:r>
              <a:rPr lang="en-US" altLang="ko-KR" sz="1100" dirty="0">
                <a:solidFill>
                  <a:srgbClr val="333333"/>
                </a:solidFill>
                <a:latin typeface="+mn-ea"/>
              </a:rPr>
              <a:t>(2</a:t>
            </a:r>
            <a:r>
              <a:rPr lang="ko-KR" altLang="en-US" sz="1100" dirty="0">
                <a:solidFill>
                  <a:srgbClr val="333333"/>
                </a:solidFill>
                <a:latin typeface="+mn-ea"/>
              </a:rPr>
              <a:t>형식</a:t>
            </a:r>
            <a:r>
              <a:rPr lang="en-US" altLang="ko-KR" sz="1100" dirty="0">
                <a:solidFill>
                  <a:srgbClr val="333333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rgbClr val="333333"/>
                </a:solidFill>
                <a:latin typeface="+mn-ea"/>
              </a:rPr>
              <a:t>와 유사 </a:t>
            </a:r>
            <a:r>
              <a:rPr lang="ko-KR" altLang="en-US" sz="1100" b="1" dirty="0">
                <a:solidFill>
                  <a:srgbClr val="333333"/>
                </a:solidFill>
                <a:latin typeface="+mn-ea"/>
              </a:rPr>
              <a:t> </a:t>
            </a:r>
            <a:r>
              <a:rPr lang="ko-KR" altLang="en-US" sz="1100" dirty="0">
                <a:solidFill>
                  <a:srgbClr val="333333"/>
                </a:solidFill>
                <a:latin typeface="+mn-ea"/>
              </a:rPr>
              <a:t>수동태 불가</a:t>
            </a:r>
            <a:endParaRPr lang="en-US" altLang="ko-KR" sz="1100" b="0" i="0" dirty="0">
              <a:solidFill>
                <a:srgbClr val="654321"/>
              </a:solidFill>
              <a:effectLst/>
              <a:latin typeface="+mn-ea"/>
              <a:ea typeface="+mn-ea"/>
            </a:endParaRPr>
          </a:p>
          <a:p>
            <a:pPr algn="l"/>
            <a:endParaRPr lang="en-US" altLang="ko-KR" sz="1100" b="0" i="0" dirty="0">
              <a:solidFill>
                <a:srgbClr val="654321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100" b="0" i="0" dirty="0">
                <a:solidFill>
                  <a:schemeClr val="accent2"/>
                </a:solidFill>
                <a:effectLst/>
                <a:latin typeface="+mn-ea"/>
                <a:ea typeface="+mn-ea"/>
              </a:rPr>
              <a:t>become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(</a:t>
            </a:r>
            <a:r>
              <a:rPr lang="en-US" altLang="ko-KR" sz="1100" b="0" i="0" dirty="0" err="1">
                <a:solidFill>
                  <a:srgbClr val="333333"/>
                </a:solidFill>
                <a:effectLst/>
                <a:latin typeface="+mn-ea"/>
                <a:ea typeface="+mn-ea"/>
              </a:rPr>
              <a:t>vt.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)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어울리다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보기 좋다</a:t>
            </a:r>
            <a:endParaRPr lang="en-US" altLang="ko-KR" sz="1100" dirty="0">
              <a:solidFill>
                <a:srgbClr val="654321"/>
              </a:solidFill>
              <a:latin typeface="+mn-ea"/>
              <a:ea typeface="+mn-ea"/>
            </a:endParaRPr>
          </a:p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This color really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+mn-ea"/>
                <a:ea typeface="+mn-ea"/>
              </a:rPr>
              <a:t>becomes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you.</a:t>
            </a:r>
            <a:b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This color </a:t>
            </a:r>
            <a:r>
              <a:rPr lang="en-US" altLang="ko-KR" sz="1100" b="1" i="0" strike="sngStrike" dirty="0">
                <a:solidFill>
                  <a:srgbClr val="907E6D"/>
                </a:solidFill>
                <a:effectLst/>
                <a:latin typeface="+mn-ea"/>
                <a:ea typeface="+mn-ea"/>
              </a:rPr>
              <a:t>is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really </a:t>
            </a:r>
            <a:r>
              <a:rPr lang="en-US" altLang="ko-KR" sz="1100" b="1" i="0" strike="sngStrike" dirty="0">
                <a:solidFill>
                  <a:srgbClr val="907E6D"/>
                </a:solidFill>
                <a:effectLst/>
                <a:latin typeface="+mn-ea"/>
                <a:ea typeface="+mn-ea"/>
              </a:rPr>
              <a:t>become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you.</a:t>
            </a:r>
            <a:r>
              <a:rPr lang="en-US" altLang="ko-KR" sz="1100" b="1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</a:t>
            </a:r>
            <a:b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</a:b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You </a:t>
            </a:r>
            <a:r>
              <a:rPr lang="en-US" altLang="ko-KR" sz="1100" b="1" i="0" strike="sngStrike" dirty="0">
                <a:solidFill>
                  <a:srgbClr val="907E6D"/>
                </a:solidFill>
                <a:effectLst/>
                <a:latin typeface="+mn-ea"/>
                <a:ea typeface="+mn-ea"/>
              </a:rPr>
              <a:t>are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really </a:t>
            </a:r>
            <a:r>
              <a:rPr lang="en-US" altLang="ko-KR" sz="1100" b="1" i="0" strike="sngStrike" dirty="0">
                <a:solidFill>
                  <a:srgbClr val="907E6D"/>
                </a:solidFill>
                <a:effectLst/>
                <a:latin typeface="+mn-ea"/>
                <a:ea typeface="+mn-ea"/>
              </a:rPr>
              <a:t>become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this color.</a:t>
            </a:r>
            <a:r>
              <a:rPr lang="en-US" altLang="ko-KR" sz="1100" b="1" i="0" dirty="0">
                <a:solidFill>
                  <a:srgbClr val="654321"/>
                </a:solidFill>
                <a:effectLst/>
                <a:latin typeface="+mn-ea"/>
                <a:ea typeface="+mn-ea"/>
              </a:rPr>
              <a:t> </a:t>
            </a:r>
            <a:b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</a:br>
            <a:r>
              <a:rPr lang="ko-KR" altLang="en-US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이 색은 정말 </a:t>
            </a:r>
            <a:r>
              <a:rPr lang="ko-KR" altLang="en-US" sz="1100" b="0" i="0" dirty="0" err="1">
                <a:solidFill>
                  <a:srgbClr val="999999"/>
                </a:solidFill>
                <a:effectLst/>
                <a:latin typeface="+mn-ea"/>
                <a:ea typeface="+mn-ea"/>
              </a:rPr>
              <a:t>너한테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 잘 어울려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+mn-ea"/>
                <a:ea typeface="+mn-ea"/>
              </a:rPr>
              <a:t>.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+mn-ea"/>
                <a:sym typeface="Symbol" panose="05050102010706020507" pitchFamily="18" charset="2"/>
              </a:rPr>
              <a:t> </a:t>
            </a:r>
            <a:r>
              <a:rPr lang="ko-KR" altLang="en-US" sz="1100" dirty="0">
                <a:solidFill>
                  <a:srgbClr val="333333"/>
                </a:solidFill>
                <a:latin typeface="+mn-ea"/>
              </a:rPr>
              <a:t>타동사이기는 하나 의미적으로 연결동사</a:t>
            </a:r>
            <a:r>
              <a:rPr lang="en-US" altLang="ko-KR" sz="1100" dirty="0">
                <a:solidFill>
                  <a:srgbClr val="333333"/>
                </a:solidFill>
                <a:latin typeface="+mn-ea"/>
              </a:rPr>
              <a:t>(2</a:t>
            </a:r>
            <a:r>
              <a:rPr lang="ko-KR" altLang="en-US" sz="1100" dirty="0">
                <a:solidFill>
                  <a:srgbClr val="333333"/>
                </a:solidFill>
                <a:latin typeface="+mn-ea"/>
              </a:rPr>
              <a:t>형식</a:t>
            </a:r>
            <a:r>
              <a:rPr lang="en-US" altLang="ko-KR" sz="1100" dirty="0">
                <a:solidFill>
                  <a:srgbClr val="333333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rgbClr val="333333"/>
                </a:solidFill>
                <a:latin typeface="+mn-ea"/>
              </a:rPr>
              <a:t>와 유사 </a:t>
            </a:r>
            <a:r>
              <a:rPr lang="ko-KR" altLang="en-US" sz="1100" b="1" dirty="0">
                <a:solidFill>
                  <a:srgbClr val="333333"/>
                </a:solidFill>
                <a:latin typeface="+mn-ea"/>
              </a:rPr>
              <a:t> </a:t>
            </a:r>
            <a:r>
              <a:rPr lang="ko-KR" altLang="en-US" sz="1100" dirty="0">
                <a:solidFill>
                  <a:srgbClr val="333333"/>
                </a:solidFill>
                <a:latin typeface="+mn-ea"/>
              </a:rPr>
              <a:t>수동태 불가</a:t>
            </a:r>
            <a:endParaRPr lang="ko-KR" altLang="en-US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47FDD6-BB8C-15F4-186C-2C1DECE81C80}"/>
              </a:ext>
            </a:extLst>
          </p:cNvPr>
          <p:cNvSpPr txBox="1"/>
          <p:nvPr/>
        </p:nvSpPr>
        <p:spPr>
          <a:xfrm>
            <a:off x="5943600" y="4907403"/>
            <a:ext cx="3200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hlinkClick r:id="rId2"/>
              </a:rPr>
              <a:t>https://www.englishcube.net/grammar_exam.php?category2=46</a:t>
            </a:r>
            <a:endParaRPr lang="en-US" altLang="ko-KR" sz="800" dirty="0"/>
          </a:p>
        </p:txBody>
      </p:sp>
      <p:pic>
        <p:nvPicPr>
          <p:cNvPr id="23" name="그림 22">
            <a:hlinkClick r:id="rId2"/>
            <a:extLst>
              <a:ext uri="{FF2B5EF4-FFF2-40B4-BE49-F238E27FC236}">
                <a16:creationId xmlns:a16="http://schemas.microsoft.com/office/drawing/2014/main" id="{53EA1F05-B20D-236F-2141-95E630BC6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362" y="4468453"/>
            <a:ext cx="1511939" cy="4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162854"/>
      </p:ext>
    </p:extLst>
  </p:cSld>
  <p:clrMapOvr>
    <a:masterClrMapping/>
  </p:clrMapOvr>
</p:sld>
</file>

<file path=ppt/theme/theme1.xml><?xml version="1.0" encoding="utf-8"?>
<a:theme xmlns:a="http://schemas.openxmlformats.org/drawingml/2006/main" name="TOWN HALL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A3CAF7"/>
      </a:accent1>
      <a:accent2>
        <a:srgbClr val="EB573D"/>
      </a:accent2>
      <a:accent3>
        <a:srgbClr val="5FA4AB"/>
      </a:accent3>
      <a:accent4>
        <a:srgbClr val="051934"/>
      </a:accent4>
      <a:accent5>
        <a:srgbClr val="F8C379"/>
      </a:accent5>
      <a:accent6>
        <a:srgbClr val="FA977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4813</TotalTime>
  <Words>1746</Words>
  <Application>Microsoft Office PowerPoint</Application>
  <PresentationFormat>화면 슬라이드 쇼(16:9)</PresentationFormat>
  <Paragraphs>195</Paragraphs>
  <Slides>18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8" baseType="lpstr">
      <vt:lpstr>Righteous</vt:lpstr>
      <vt:lpstr>HY헤드라인M</vt:lpstr>
      <vt:lpstr>Calibri</vt:lpstr>
      <vt:lpstr>Arial</vt:lpstr>
      <vt:lpstr>맑은 고딕</vt:lpstr>
      <vt:lpstr>Open Sans</vt:lpstr>
      <vt:lpstr>Wingdings</vt:lpstr>
      <vt:lpstr>Tahoma</vt:lpstr>
      <vt:lpstr>Symbol</vt:lpstr>
      <vt:lpstr>TOWN HALL BUSINESS PLAN</vt:lpstr>
      <vt:lpstr>외국어 시험 대체 강좌 – 시사영어 </vt:lpstr>
      <vt:lpstr>Table of Contents</vt:lpstr>
      <vt:lpstr>경제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2. Word List </vt:lpstr>
      <vt:lpstr>2. Word List </vt:lpstr>
      <vt:lpstr>2. Word List </vt:lpstr>
      <vt:lpstr>3. Grammar: 수동태</vt:lpstr>
      <vt:lpstr>3. Grammar: 수동태</vt:lpstr>
      <vt:lpstr>3. Grammar: 수동태</vt:lpstr>
      <vt:lpstr>3. Grammar: 수동태</vt:lpstr>
      <vt:lpstr>3. Grammar: 수동태</vt:lpstr>
      <vt:lpstr>3. Grammar: 수동태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솔루션 소개 및 시연</dc:title>
  <dc:creator>Kyunghee</dc:creator>
  <cp:lastModifiedBy>user</cp:lastModifiedBy>
  <cp:revision>81</cp:revision>
  <dcterms:modified xsi:type="dcterms:W3CDTF">2023-12-28T01:08:14Z</dcterms:modified>
</cp:coreProperties>
</file>