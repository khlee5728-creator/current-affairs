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9"/>
  </p:notesMasterIdLst>
  <p:sldIdLst>
    <p:sldId id="256" r:id="rId2"/>
    <p:sldId id="279" r:id="rId3"/>
    <p:sldId id="261" r:id="rId4"/>
    <p:sldId id="378" r:id="rId5"/>
    <p:sldId id="369" r:id="rId6"/>
    <p:sldId id="390" r:id="rId7"/>
    <p:sldId id="391" r:id="rId8"/>
    <p:sldId id="393" r:id="rId9"/>
    <p:sldId id="394" r:id="rId10"/>
    <p:sldId id="395" r:id="rId11"/>
    <p:sldId id="398" r:id="rId12"/>
    <p:sldId id="399" r:id="rId13"/>
    <p:sldId id="309" r:id="rId14"/>
    <p:sldId id="376" r:id="rId15"/>
    <p:sldId id="409" r:id="rId16"/>
    <p:sldId id="410" r:id="rId17"/>
    <p:sldId id="364" r:id="rId18"/>
    <p:sldId id="389" r:id="rId19"/>
    <p:sldId id="412" r:id="rId20"/>
    <p:sldId id="411" r:id="rId21"/>
    <p:sldId id="413" r:id="rId22"/>
    <p:sldId id="414" r:id="rId23"/>
    <p:sldId id="415" r:id="rId24"/>
    <p:sldId id="416" r:id="rId25"/>
    <p:sldId id="417" r:id="rId26"/>
    <p:sldId id="418" r:id="rId27"/>
    <p:sldId id="419" r:id="rId28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HY헤드라인M" panose="02030600000101010101" pitchFamily="18" charset="-127"/>
      <p:regular r:id="rId34"/>
    </p:embeddedFont>
    <p:embeddedFont>
      <p:font typeface="Open Sans" panose="020B0606030504020204" pitchFamily="34" charset="0"/>
      <p:regular r:id="rId35"/>
      <p:bold r:id="rId36"/>
      <p:italic r:id="rId37"/>
      <p:boldItalic r:id="rId38"/>
    </p:embeddedFont>
    <p:embeddedFont>
      <p:font typeface="Righteous" panose="020B0600000101010101" charset="0"/>
      <p:regular r:id="rId39"/>
    </p:embeddedFont>
    <p:embeddedFont>
      <p:font typeface="맑은 고딕" panose="020B0503020000020004" pitchFamily="50" charset="-127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3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font" Target="fonts/font11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Relationship Id="rId20" Type="http://schemas.openxmlformats.org/officeDocument/2006/relationships/slide" Target="slides/slide19.xml"/><Relationship Id="rId41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englishcube.net/grammar_exam.php?category2=25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englishcube.net/grammar_exam.php?category2=160" TargetMode="Externa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MD6B4GGskhU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 대체강좌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3" name="Google Shape;1750;p54">
            <a:extLst>
              <a:ext uri="{FF2B5EF4-FFF2-40B4-BE49-F238E27FC236}">
                <a16:creationId xmlns:a16="http://schemas.microsoft.com/office/drawing/2014/main" id="{360E37D8-7847-9874-9BAD-2C40111672C8}"/>
              </a:ext>
            </a:extLst>
          </p:cNvPr>
          <p:cNvSpPr/>
          <p:nvPr/>
        </p:nvSpPr>
        <p:spPr>
          <a:xfrm>
            <a:off x="312881" y="1932020"/>
            <a:ext cx="581368" cy="581368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경제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ko-KR" altLang="en-US" b="1" dirty="0"/>
              <a:t>노사관계</a:t>
            </a:r>
            <a:r>
              <a:rPr lang="en-US" altLang="ko-KR" b="1" dirty="0"/>
              <a:t>/ </a:t>
            </a:r>
            <a:r>
              <a:rPr lang="ko-KR" altLang="en-US" b="1" dirty="0"/>
              <a:t>한국 경제의 위상 </a:t>
            </a:r>
            <a:r>
              <a:rPr lang="en-US" altLang="ko-KR" b="1" dirty="0"/>
              <a:t>/ </a:t>
            </a:r>
            <a:r>
              <a:rPr lang="ko-KR" altLang="en-US" b="1" dirty="0"/>
              <a:t>한국 경제의 어려움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2365767" cy="89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 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Grammar: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현재진행 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9C055E3-4FAB-4769-A8A6-D6069692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31" y="2039089"/>
            <a:ext cx="367230" cy="3672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690677" y="793952"/>
            <a:ext cx="3555597" cy="35555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>
                <a:latin typeface="+mj-ea"/>
                <a:ea typeface="+mj-ea"/>
              </a:rPr>
              <a:t>경제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노사관계</a:t>
            </a:r>
            <a:r>
              <a:rPr lang="en-US" altLang="ko-KR" dirty="0"/>
              <a:t>/ </a:t>
            </a:r>
            <a:r>
              <a:rPr lang="ko-KR" altLang="en-US" sz="1600" dirty="0"/>
              <a:t>한국 경제의 위상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sz="1600" dirty="0"/>
              <a:t>한국 경제의 어려움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04</a:t>
            </a:r>
            <a:endParaRPr lang="ko-KR" altLang="en-US" sz="4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325B6F0-1E87-4AC5-9D36-FC1DACF29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7590" y="1599581"/>
            <a:ext cx="2041769" cy="20417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766665"/>
              </p:ext>
            </p:extLst>
          </p:nvPr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Business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owners and laborers are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engaged in a tug of war </a:t>
                      </a:r>
                      <a:r>
                        <a:rPr lang="en-US" altLang="ko-KR" sz="1000" dirty="0"/>
                        <a:t>over minimum wage.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think the current amount of about 7,000 won per hour is too low.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줄다리기를 벌인다고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Business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owners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laborers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struggling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over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minimum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wage.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Business owners and laborers are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engaged in a tug of war </a:t>
                      </a:r>
                      <a:r>
                        <a:rPr lang="en-US" altLang="ko-KR" sz="1000" dirty="0"/>
                        <a:t>over minimum wage.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labor union has come to an agreement with the management.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win-win solution</a:t>
                      </a:r>
                      <a:r>
                        <a:rPr lang="en-US" altLang="ko-KR" sz="1000" dirty="0"/>
                        <a:t>, because the company keeps its key staff and the staff are happy </a:t>
                      </a:r>
                      <a:r>
                        <a:rPr lang="en-US" altLang="ko-KR" sz="1000"/>
                        <a:t>to stay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서로에게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도움이 되는 상황이라고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result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good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for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both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sides.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a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win-win solution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노사관계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7537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2C323767-B517-4437-AD29-8AF708FCB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sp>
        <p:nvSpPr>
          <p:cNvPr id="6" name="제목 2">
            <a:extLst>
              <a:ext uri="{FF2B5EF4-FFF2-40B4-BE49-F238E27FC236}">
                <a16:creationId xmlns:a16="http://schemas.microsoft.com/office/drawing/2014/main" id="{1163DA18-3B0F-4448-B972-ABAD4BCAB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048DA-1D42-DE44-9ADE-683BA226B30B}"/>
              </a:ext>
            </a:extLst>
          </p:cNvPr>
          <p:cNvSpPr txBox="1"/>
          <p:nvPr/>
        </p:nvSpPr>
        <p:spPr>
          <a:xfrm>
            <a:off x="3950764" y="621234"/>
            <a:ext cx="14658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노사관계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730CE9DE-4A45-905E-2DEA-24AC5033B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430503"/>
              </p:ext>
            </p:extLst>
          </p:nvPr>
        </p:nvGraphicFramePr>
        <p:xfrm>
          <a:off x="367145" y="1149041"/>
          <a:ext cx="8333511" cy="18796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It’s customary for Korean companies to resort to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terminating</a:t>
                      </a:r>
                      <a:r>
                        <a:rPr lang="en-US" altLang="ko-KR" sz="1000" dirty="0"/>
                        <a:t> employees whenever they are under financial strain. Those bad practices should be done away with.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 principle, employers should be allowed to lay off their employees to survive when profits are low. The question is “how.”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직원을 해고한다고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resort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firing employees whenever they are under financial strain.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Companies resort to </a:t>
                      </a:r>
                      <a:r>
                        <a:rPr lang="en-US" altLang="ko-KR" sz="1000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terminating </a:t>
                      </a:r>
                      <a:r>
                        <a:rPr lang="en-US" altLang="ko-KR" sz="1000" dirty="0"/>
                        <a:t>employees whenever they are under financial strain.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AE6C3CB-ACFE-1C75-9E7C-FBF3A84D55A5}"/>
              </a:ext>
            </a:extLst>
          </p:cNvPr>
          <p:cNvSpPr txBox="1"/>
          <p:nvPr/>
        </p:nvSpPr>
        <p:spPr>
          <a:xfrm>
            <a:off x="443344" y="3075986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</a:t>
            </a:r>
            <a:r>
              <a:rPr lang="ko-KR" altLang="en-US" sz="1000" dirty="0"/>
              <a:t>해고하다</a:t>
            </a:r>
            <a:r>
              <a:rPr lang="en-US" altLang="ko-KR" sz="1000" dirty="0"/>
              <a:t>: terminate , fire, lay off(</a:t>
            </a:r>
            <a:r>
              <a:rPr lang="ko-KR" altLang="en-US" sz="1000" dirty="0"/>
              <a:t>대량 해고</a:t>
            </a:r>
            <a:r>
              <a:rPr lang="en-US" altLang="ko-KR" sz="1000" dirty="0"/>
              <a:t>)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42269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29701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I’ve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always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amazed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rose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from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ashes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become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advanced.</a:t>
                      </a:r>
                      <a:r>
                        <a:rPr lang="ko-KR" altLang="en-US" sz="1000" dirty="0"/>
                        <a:t> </a:t>
                      </a:r>
                      <a:endParaRPr lang="en-US" altLang="ko-KR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 nation hadn’t persevered through all its hardships, we would’ve had a different outcome.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전쟁의 폐허를 딛고 일어섰다고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destroyed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but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became so advanced.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 rose from the ashes of war and became so advanced.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I travel abroad, I see a lot of ads by Korean companies. That’s when I realized that Korea’s international standing has been raised.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right. Korea is one of the major economies of the world now.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한국의</a:t>
                      </a:r>
                      <a:r>
                        <a:rPr lang="en-US" altLang="ko-KR" sz="1000" dirty="0"/>
                        <a:t> </a:t>
                      </a:r>
                      <a:r>
                        <a:rPr lang="ko-KR" altLang="en-US" sz="1000" dirty="0"/>
                        <a:t>위상이 높아졌다고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has become more famous than before.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Korea’s international standing has been raised.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위상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5E66BA-B9F2-F765-D16F-2CB202FD85AA}"/>
              </a:ext>
            </a:extLst>
          </p:cNvPr>
          <p:cNvSpPr txBox="1"/>
          <p:nvPr/>
        </p:nvSpPr>
        <p:spPr>
          <a:xfrm>
            <a:off x="443344" y="4877074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Standing = stature : </a:t>
            </a:r>
            <a:r>
              <a:rPr lang="ko-KR" altLang="en-US" sz="1000" dirty="0"/>
              <a:t>위상</a:t>
            </a:r>
            <a:r>
              <a:rPr lang="en-US" altLang="ko-KR" sz="1000" dirty="0"/>
              <a:t>, </a:t>
            </a:r>
            <a:r>
              <a:rPr lang="ko-KR" altLang="en-US" sz="1000" dirty="0"/>
              <a:t>평판 </a:t>
            </a:r>
          </a:p>
        </p:txBody>
      </p:sp>
    </p:spTree>
    <p:extLst>
      <p:ext uri="{BB962C8B-B14F-4D97-AF65-F5344CB8AC3E}">
        <p14:creationId xmlns:p14="http://schemas.microsoft.com/office/powerpoint/2010/main" val="2511184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4521807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demand for smart technology has really helped some Korean companies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shoot to the top.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They were able to make it there thanks to the research and development they had put in.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최고의 자리에 올라선다고 할 때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 Korean companies reached the top.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Some Korean companies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shot to the top.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2547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위상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88302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830940"/>
              </p:ext>
            </p:extLst>
          </p:nvPr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037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tech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companies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sandwiched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between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Apple and the emerging Chinese IT players.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they don’t do something innovative, they won’t be able to beat Chinese players’ competitive pricing and Apple’s high-end image.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샌드위치 신세라고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tech companies are stuck between Apple and Chinese IT players.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Korean tech companies are sandwiched between Apple and Chinese IT players.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Chinese electronics companies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eating away at </a:t>
                      </a:r>
                      <a:r>
                        <a:rPr lang="en-US" altLang="ko-KR" sz="1000" dirty="0"/>
                        <a:t>the market share of their Korean competitors, such as Samsung and LG, in the international area.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Those Chinese manufactures are no longer what they used to be.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시장을 잠식당한다고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Chinese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electronics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companies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</a:t>
                      </a:r>
                      <a:r>
                        <a:rPr lang="en-US" altLang="ko-KR" sz="1000" dirty="0"/>
                        <a:t> gradually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taking away </a:t>
                      </a:r>
                      <a:r>
                        <a:rPr lang="en-US" altLang="ko-KR" sz="1000" dirty="0"/>
                        <a:t>the market share of their Korean competitor.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Chinese electronics companies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eating away at </a:t>
                      </a:r>
                      <a:r>
                        <a:rPr lang="en-US" altLang="ko-KR" sz="1000" dirty="0"/>
                        <a:t>the market share of their Korean competitors.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4" y="621234"/>
            <a:ext cx="2457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어려움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44EE69-CA0F-57CC-4C7E-5D5443F87AE7}"/>
              </a:ext>
            </a:extLst>
          </p:cNvPr>
          <p:cNvSpPr txBox="1"/>
          <p:nvPr/>
        </p:nvSpPr>
        <p:spPr>
          <a:xfrm>
            <a:off x="443344" y="4877074"/>
            <a:ext cx="34412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eat</a:t>
            </a:r>
            <a:r>
              <a:rPr lang="ko-KR" altLang="en-US" sz="1000" dirty="0"/>
              <a:t> </a:t>
            </a:r>
            <a:r>
              <a:rPr lang="en-US" altLang="ko-KR" sz="1000" dirty="0"/>
              <a:t>away</a:t>
            </a:r>
            <a:r>
              <a:rPr lang="ko-KR" altLang="en-US" sz="1000" dirty="0"/>
              <a:t> </a:t>
            </a:r>
            <a:r>
              <a:rPr lang="en-US" altLang="ko-KR" sz="1000" dirty="0"/>
              <a:t>at:</a:t>
            </a:r>
            <a:r>
              <a:rPr lang="ko-KR" altLang="en-US" sz="1000" dirty="0"/>
              <a:t> </a:t>
            </a:r>
            <a:r>
              <a:rPr lang="en-US" altLang="ko-KR" sz="1000" dirty="0"/>
              <a:t>~</a:t>
            </a:r>
            <a:r>
              <a:rPr lang="ko-KR" altLang="en-US" sz="1000" dirty="0"/>
              <a:t>을</a:t>
            </a:r>
            <a:r>
              <a:rPr lang="en-US" altLang="ko-KR" sz="1000" dirty="0"/>
              <a:t> </a:t>
            </a:r>
            <a:r>
              <a:rPr lang="ko-KR" altLang="en-US" sz="1000" dirty="0"/>
              <a:t>갉아 먹는다</a:t>
            </a:r>
          </a:p>
        </p:txBody>
      </p:sp>
    </p:spTree>
    <p:extLst>
      <p:ext uri="{BB962C8B-B14F-4D97-AF65-F5344CB8AC3E}">
        <p14:creationId xmlns:p14="http://schemas.microsoft.com/office/powerpoint/2010/main" val="233165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2352650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039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China’s stagnant economy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putting financial strain</a:t>
                      </a:r>
                      <a:r>
                        <a:rPr lang="en-US" altLang="ko-KR" sz="1000" dirty="0"/>
                        <a:t> on leading industries of Korea.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economy had its heyday for the past decade depending on China. We should’ve prepared for the day when the Chinese economy would lose its momentum.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재무적인 어려움을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Leading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industries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Korea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is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suffering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financially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due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China’s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stagnant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economy.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China’s stagnant economy 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putting financial strain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on leading industries of Korea.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households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are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finding it difficult to pay just the interests of their debts.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incomes of most families’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aren’t increasing </a:t>
                      </a:r>
                      <a:r>
                        <a:rPr lang="en-US" altLang="ko-KR" sz="1000" dirty="0"/>
                        <a:t>sufficiently for them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pay off the principal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원금을 상환한다고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incomes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aren’t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increasing</a:t>
                      </a:r>
                      <a:r>
                        <a:rPr lang="ko-KR" altLang="en-US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 </a:t>
                      </a:r>
                      <a:r>
                        <a:rPr lang="en-US" altLang="ko-KR" sz="1000" dirty="0"/>
                        <a:t>sufficiently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repay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borrowed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money.</a:t>
                      </a:r>
                      <a:r>
                        <a:rPr lang="ko-KR" altLang="en-US" sz="1000" dirty="0"/>
                        <a:t>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incomes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aren’t increasing </a:t>
                      </a:r>
                      <a:r>
                        <a:rPr lang="en-US" altLang="ko-KR" sz="1000" dirty="0"/>
                        <a:t>sufficiently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pay off the principal</a:t>
                      </a:r>
                      <a:r>
                        <a:rPr lang="en-US" altLang="ko-KR" sz="1000" dirty="0"/>
                        <a:t>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어려움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602979-5B74-DE78-2755-3943F8DADE36}"/>
              </a:ext>
            </a:extLst>
          </p:cNvPr>
          <p:cNvSpPr txBox="1"/>
          <p:nvPr/>
        </p:nvSpPr>
        <p:spPr>
          <a:xfrm>
            <a:off x="443344" y="4877074"/>
            <a:ext cx="68718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A puts financial strain on B = B is under financial strain due to A: A </a:t>
            </a:r>
            <a:r>
              <a:rPr lang="ko-KR" altLang="en-US" sz="1000" dirty="0"/>
              <a:t>때문에 </a:t>
            </a:r>
            <a:r>
              <a:rPr lang="en-US" altLang="ko-KR" sz="1000" dirty="0"/>
              <a:t>B</a:t>
            </a:r>
            <a:r>
              <a:rPr lang="ko-KR" altLang="en-US" sz="1000" dirty="0"/>
              <a:t>가</a:t>
            </a:r>
            <a:r>
              <a:rPr lang="en-US" altLang="ko-KR" sz="1000" dirty="0"/>
              <a:t> </a:t>
            </a:r>
            <a:r>
              <a:rPr lang="ko-KR" altLang="en-US" sz="1000" dirty="0"/>
              <a:t>경제적인 어려움을 겪는다</a:t>
            </a:r>
          </a:p>
        </p:txBody>
      </p:sp>
    </p:spTree>
    <p:extLst>
      <p:ext uri="{BB962C8B-B14F-4D97-AF65-F5344CB8AC3E}">
        <p14:creationId xmlns:p14="http://schemas.microsoft.com/office/powerpoint/2010/main" val="4178509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9746263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government has tried to boost the economy by encouraging people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 take out more loans </a:t>
                      </a:r>
                      <a:r>
                        <a:rPr lang="en-US" altLang="ko-KR" sz="1000" dirty="0"/>
                        <a:t>to buy more houses.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It should give up its misguided belief that the real estate market can be used to revive the economy.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빚을 낸다고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People borrowed more money to buy more houses.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People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took out more loans </a:t>
                      </a:r>
                      <a:r>
                        <a:rPr lang="en-US" altLang="ko-KR" sz="1000" dirty="0"/>
                        <a:t>to buy more houses.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Household debt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is increasing </a:t>
                      </a:r>
                      <a:r>
                        <a:rPr lang="en-US" altLang="ko-KR" sz="1000" dirty="0"/>
                        <a:t>at a very fast pace.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As household incomes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are not increasing</a:t>
                      </a:r>
                      <a:r>
                        <a:rPr lang="en-US" altLang="ko-KR" sz="1000" dirty="0"/>
                        <a:t>, some of these debts may become insolvent. It’s as if many indebted families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sitting on a ticking time bomb.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곧 큰 위기가 발생할 거라고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Household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debt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likely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cause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serious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problems soon.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indebted families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sitting on a ticking time bomb. 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178688-2DE2-F041-1C9B-1C46B32C345F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어려움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2331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132669"/>
              </p:ext>
            </p:extLst>
          </p:nvPr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fears that climbing household debt might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spark</a:t>
                      </a:r>
                      <a:r>
                        <a:rPr lang="en-US" altLang="ko-KR" sz="1000" dirty="0"/>
                        <a:t> another financial crisis.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hope it doesn’t happen, but if the interest rate increases, debtors will be more squeezed to sell their houses.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금융위기를 촉발한다고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Climbing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household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debt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might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cause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another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financial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crisis.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Climbing household debt might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spark</a:t>
                      </a:r>
                      <a:r>
                        <a:rPr lang="en-US" altLang="ko-KR" sz="1000" dirty="0"/>
                        <a:t> another financial crisis.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critics point out that increasing housing costs are the main cause for the economic slowdown.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Yes, I also think so. Increasing housing costs further shrink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disposable income</a:t>
                      </a:r>
                      <a:r>
                        <a:rPr lang="en-US" altLang="ko-KR" sz="1000" dirty="0"/>
                        <a:t>, which leads to decreased domestic consumption and thus economic downturn.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가처분 소득이 줄어든다고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Increasing housing costs further shrink the money people can spend.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Increasing housing costs further shrink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disposable income.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6B3C8A4-095E-EE95-1636-E06993680E57}"/>
              </a:ext>
            </a:extLst>
          </p:cNvPr>
          <p:cNvSpPr txBox="1"/>
          <p:nvPr/>
        </p:nvSpPr>
        <p:spPr>
          <a:xfrm>
            <a:off x="443344" y="4877074"/>
            <a:ext cx="50709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dispose: </a:t>
            </a:r>
            <a:r>
              <a:rPr lang="ko-KR" altLang="en-US" sz="1000" dirty="0"/>
              <a:t>처분하다   </a:t>
            </a:r>
            <a:r>
              <a:rPr lang="en-US" altLang="ko-KR" sz="1000" dirty="0"/>
              <a:t>*disposable income: </a:t>
            </a:r>
            <a:r>
              <a:rPr lang="ko-KR" altLang="en-US" sz="1000" dirty="0"/>
              <a:t>가처분</a:t>
            </a:r>
            <a:r>
              <a:rPr lang="en-US" altLang="ko-KR" sz="1000" dirty="0"/>
              <a:t> </a:t>
            </a:r>
            <a:r>
              <a:rPr lang="ko-KR" altLang="en-US" sz="1000" dirty="0"/>
              <a:t>소득</a:t>
            </a:r>
            <a:r>
              <a:rPr lang="en-US" altLang="ko-KR" sz="1000" dirty="0"/>
              <a:t>, </a:t>
            </a:r>
            <a:r>
              <a:rPr lang="ko-KR" altLang="en-US" sz="1000" dirty="0"/>
              <a:t>소비나 저축에 쓸 수 있는 소득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C1A3A5-1661-0200-DFA4-699602CC843C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어려움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424161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66867"/>
              </p:ext>
            </p:extLst>
          </p:nvPr>
        </p:nvGraphicFramePr>
        <p:xfrm>
          <a:off x="367145" y="1149041"/>
          <a:ext cx="8333511" cy="1854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045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Korea’s economic growth rate has hit the lowest in the past ten years.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will we be able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get the economy back on track</a:t>
                      </a:r>
                      <a:r>
                        <a:rPr lang="en-US" altLang="ko-KR" sz="1000" dirty="0"/>
                        <a:t>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경제를 살린다고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will we be able to revive the economy?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When will we be able to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get the economy back on track</a:t>
                      </a:r>
                      <a:r>
                        <a:rPr lang="en-US" altLang="ko-KR" sz="1000" dirty="0"/>
                        <a:t>?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AC4A286-75F3-16AB-8E07-CEF5D02AC2F1}"/>
              </a:ext>
            </a:extLst>
          </p:cNvPr>
          <p:cNvSpPr txBox="1"/>
          <p:nvPr/>
        </p:nvSpPr>
        <p:spPr>
          <a:xfrm>
            <a:off x="3950763" y="621234"/>
            <a:ext cx="2226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</a:t>
            </a:r>
            <a:r>
              <a:rPr lang="ko-KR" altLang="en-US" sz="1600" dirty="0"/>
              <a:t>한국 경제의 어려움</a:t>
            </a:r>
            <a:r>
              <a:rPr lang="en-US" altLang="ko-KR" sz="1600" dirty="0"/>
              <a:t>]</a:t>
            </a:r>
            <a:endParaRPr lang="ko-KR" alt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CC65FC-B89D-652C-A7A4-90D15C319F50}"/>
              </a:ext>
            </a:extLst>
          </p:cNvPr>
          <p:cNvSpPr txBox="1"/>
          <p:nvPr/>
        </p:nvSpPr>
        <p:spPr>
          <a:xfrm>
            <a:off x="443344" y="3027336"/>
            <a:ext cx="50709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 get the economy back on track: </a:t>
            </a:r>
            <a:r>
              <a:rPr lang="ko-KR" altLang="en-US" sz="1000" dirty="0"/>
              <a:t>경제를 제 궤도에 올린다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03634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43187A-7D06-40F6-8B80-8FBE7522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8BF0D92-E89F-9610-8997-76D2BA0201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129744" y="1106485"/>
            <a:ext cx="2965498" cy="37963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16D7342-3F25-0B0A-0FDA-A310FD17EFC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488957" y="1072473"/>
            <a:ext cx="2682445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4DBAC9-5369-562D-5DA7-810911A7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2BB1924-7DAC-8626-D83B-A1DBF1BE02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69463" y="1085894"/>
            <a:ext cx="2633487" cy="386438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8565235-6186-22AB-7494-47BF9100E78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488972" y="1085894"/>
            <a:ext cx="2667139" cy="386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4DBAC9-5369-562D-5DA7-810911A7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13A40B9-DC97-B2C0-CDF4-9D1417641D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69870" y="1099099"/>
            <a:ext cx="2769994" cy="386438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46EA930-2C4F-6557-9894-679C2B3C1B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9996"/>
          <a:stretch/>
        </p:blipFill>
        <p:spPr>
          <a:xfrm>
            <a:off x="4446823" y="1087525"/>
            <a:ext cx="3868950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421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94DBAC9-5369-562D-5DA7-810911A75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693" y="377590"/>
            <a:ext cx="676715" cy="6401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F4659B6-2E38-798F-C24D-E72F7EB5F2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150778" y="1075014"/>
            <a:ext cx="3546292" cy="38729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1BC5512-333A-6267-1DFB-8320544FC3F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404514" y="1075014"/>
            <a:ext cx="3918239" cy="356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752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879527E-6476-405E-AE2A-29A0D037C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775" y="1037915"/>
            <a:ext cx="8207836" cy="3841212"/>
          </a:xfrm>
        </p:spPr>
        <p:txBody>
          <a:bodyPr/>
          <a:lstStyle/>
          <a:p>
            <a:pPr latinLnBrk="1">
              <a:lnSpc>
                <a:spcPct val="150000"/>
              </a:lnSpc>
            </a:pPr>
            <a:r>
              <a:rPr lang="en-US" altLang="ko-KR" sz="1100" dirty="0"/>
              <a:t>Business</a:t>
            </a:r>
            <a:r>
              <a:rPr lang="ko-KR" altLang="en-US" sz="1100" dirty="0"/>
              <a:t> </a:t>
            </a:r>
            <a:r>
              <a:rPr lang="en-US" altLang="ko-KR" sz="1100" dirty="0"/>
              <a:t>owners</a:t>
            </a:r>
            <a:r>
              <a:rPr lang="ko-KR" altLang="en-US" sz="1100" dirty="0"/>
              <a:t> </a:t>
            </a:r>
            <a:r>
              <a:rPr lang="en-US" altLang="ko-KR" sz="1100" dirty="0"/>
              <a:t>and</a:t>
            </a:r>
            <a:r>
              <a:rPr lang="ko-KR" altLang="en-US" sz="1100" dirty="0"/>
              <a:t> </a:t>
            </a:r>
            <a:r>
              <a:rPr lang="en-US" altLang="ko-KR" sz="1100" dirty="0"/>
              <a:t>laborers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struggling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/>
              <a:t>over</a:t>
            </a:r>
            <a:r>
              <a:rPr lang="ko-KR" altLang="en-US" sz="1100" dirty="0"/>
              <a:t> </a:t>
            </a:r>
            <a:r>
              <a:rPr lang="en-US" altLang="ko-KR" sz="1100" dirty="0"/>
              <a:t>minimum</a:t>
            </a:r>
            <a:r>
              <a:rPr lang="ko-KR" altLang="en-US" sz="1100" dirty="0"/>
              <a:t> </a:t>
            </a:r>
            <a:r>
              <a:rPr lang="en-US" altLang="ko-KR" sz="1100" dirty="0"/>
              <a:t>wage.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Chinese electronics companies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 eating away at </a:t>
            </a:r>
            <a:r>
              <a:rPr lang="en-US" altLang="ko-KR" sz="1100" dirty="0"/>
              <a:t>the market share of their Korean competitors, such as Samsung and LG, in the international area. 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Chinese</a:t>
            </a:r>
            <a:r>
              <a:rPr lang="ko-KR" altLang="en-US" sz="1100" dirty="0"/>
              <a:t> </a:t>
            </a:r>
            <a:r>
              <a:rPr lang="en-US" altLang="ko-KR" sz="1100" dirty="0"/>
              <a:t>electronics</a:t>
            </a:r>
            <a:r>
              <a:rPr lang="ko-KR" altLang="en-US" sz="1100" dirty="0"/>
              <a:t> </a:t>
            </a:r>
            <a:r>
              <a:rPr lang="en-US" altLang="ko-KR" sz="1100" dirty="0"/>
              <a:t>companies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</a:t>
            </a:r>
            <a:r>
              <a:rPr lang="en-US" altLang="ko-KR" sz="1100" dirty="0"/>
              <a:t> gradually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taking away </a:t>
            </a:r>
            <a:r>
              <a:rPr lang="en-US" altLang="ko-KR" sz="1100" dirty="0"/>
              <a:t>the market share of their Korean competitor.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Chinese electronics companies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 eating away at </a:t>
            </a:r>
            <a:r>
              <a:rPr lang="en-US" altLang="ko-KR" sz="1100" dirty="0"/>
              <a:t>the market share of their Korean competitors. 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China’s stagnant economy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is putting </a:t>
            </a:r>
            <a:r>
              <a:rPr lang="en-US" altLang="ko-KR" sz="1100" dirty="0">
                <a:solidFill>
                  <a:schemeClr val="tx1"/>
                </a:solidFill>
              </a:rPr>
              <a:t>financial strain on </a:t>
            </a:r>
            <a:r>
              <a:rPr lang="en-US" altLang="ko-KR" sz="1100" dirty="0"/>
              <a:t>leading industries of Korea.</a:t>
            </a:r>
            <a:endParaRPr lang="ko-KR" altLang="en-US" sz="1100" dirty="0"/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Leading</a:t>
            </a:r>
            <a:r>
              <a:rPr lang="ko-KR" altLang="en-US" sz="1100" dirty="0"/>
              <a:t> </a:t>
            </a:r>
            <a:r>
              <a:rPr lang="en-US" altLang="ko-KR" sz="1100" dirty="0"/>
              <a:t>industries</a:t>
            </a:r>
            <a:r>
              <a:rPr lang="ko-KR" altLang="en-US" sz="1100" dirty="0"/>
              <a:t> </a:t>
            </a:r>
            <a:r>
              <a:rPr lang="en-US" altLang="ko-KR" sz="1100" dirty="0"/>
              <a:t>of</a:t>
            </a:r>
            <a:r>
              <a:rPr lang="ko-KR" altLang="en-US" sz="1100" dirty="0"/>
              <a:t> </a:t>
            </a:r>
            <a:r>
              <a:rPr lang="en-US" altLang="ko-KR" sz="1100" dirty="0"/>
              <a:t>Korea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is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suffering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/>
              <a:t>financially</a:t>
            </a:r>
            <a:r>
              <a:rPr lang="ko-KR" altLang="en-US" sz="1100" dirty="0"/>
              <a:t> </a:t>
            </a:r>
            <a:r>
              <a:rPr lang="en-US" altLang="ko-KR" sz="1100" dirty="0"/>
              <a:t>due</a:t>
            </a:r>
            <a:r>
              <a:rPr lang="ko-KR" altLang="en-US" sz="1100" dirty="0"/>
              <a:t> </a:t>
            </a:r>
            <a:r>
              <a:rPr lang="en-US" altLang="ko-KR" sz="1100" dirty="0"/>
              <a:t>to</a:t>
            </a:r>
            <a:r>
              <a:rPr lang="ko-KR" altLang="en-US" sz="1100" dirty="0"/>
              <a:t> </a:t>
            </a:r>
            <a:r>
              <a:rPr lang="en-US" altLang="ko-KR" sz="1100" dirty="0"/>
              <a:t>China’s</a:t>
            </a:r>
            <a:r>
              <a:rPr lang="ko-KR" altLang="en-US" sz="1100" dirty="0"/>
              <a:t> </a:t>
            </a:r>
            <a:r>
              <a:rPr lang="en-US" altLang="ko-KR" sz="1100" dirty="0"/>
              <a:t>stagnant</a:t>
            </a:r>
            <a:r>
              <a:rPr lang="ko-KR" altLang="en-US" sz="1100" dirty="0"/>
              <a:t> </a:t>
            </a:r>
            <a:r>
              <a:rPr lang="en-US" altLang="ko-KR" sz="1100" dirty="0"/>
              <a:t>economy.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</a:rPr>
              <a:t>China’s stagnant economy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is putting </a:t>
            </a:r>
            <a:r>
              <a:rPr lang="en-US" altLang="ko-KR" sz="1100" dirty="0">
                <a:solidFill>
                  <a:schemeClr val="tx1"/>
                </a:solidFill>
              </a:rPr>
              <a:t>financial strain on leading industries of Korea. </a:t>
            </a:r>
            <a:endParaRPr lang="ko-KR" altLang="en-US" sz="1100" dirty="0">
              <a:solidFill>
                <a:schemeClr val="tx1"/>
              </a:solidFill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The incomes of most families’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aren’t increasing </a:t>
            </a:r>
            <a:r>
              <a:rPr lang="en-US" altLang="ko-KR" sz="1100" dirty="0"/>
              <a:t>sufficiently for them to </a:t>
            </a:r>
            <a:r>
              <a:rPr lang="en-US" altLang="ko-KR" sz="1100" dirty="0">
                <a:solidFill>
                  <a:schemeClr val="bg2"/>
                </a:solidFill>
              </a:rPr>
              <a:t>pay off the principal.</a:t>
            </a:r>
            <a:endParaRPr lang="ko-KR" altLang="en-US" sz="1100" dirty="0">
              <a:solidFill>
                <a:schemeClr val="bg2"/>
              </a:solidFill>
            </a:endParaRP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The</a:t>
            </a:r>
            <a:r>
              <a:rPr lang="ko-KR" altLang="en-US" sz="1100" dirty="0"/>
              <a:t> </a:t>
            </a:r>
            <a:r>
              <a:rPr lang="en-US" altLang="ko-KR" sz="1100" dirty="0"/>
              <a:t>incomes</a:t>
            </a:r>
            <a:r>
              <a:rPr lang="ko-KR" altLang="en-US" sz="1100" dirty="0"/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aren’t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increasing</a:t>
            </a:r>
            <a:r>
              <a:rPr lang="ko-KR" altLang="en-US" sz="11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altLang="ko-KR" sz="1100" dirty="0"/>
              <a:t>sufficiently</a:t>
            </a:r>
            <a:r>
              <a:rPr lang="ko-KR" altLang="en-US" sz="1100" dirty="0"/>
              <a:t> </a:t>
            </a:r>
            <a:r>
              <a:rPr lang="en-US" altLang="ko-KR" sz="1100" dirty="0"/>
              <a:t>to</a:t>
            </a:r>
            <a:r>
              <a:rPr lang="ko-KR" altLang="en-US" sz="1100" dirty="0"/>
              <a:t> </a:t>
            </a:r>
            <a:r>
              <a:rPr lang="en-US" altLang="ko-KR" sz="1100" dirty="0"/>
              <a:t>repay</a:t>
            </a:r>
            <a:r>
              <a:rPr lang="ko-KR" altLang="en-US" sz="1100" dirty="0"/>
              <a:t> </a:t>
            </a:r>
            <a:r>
              <a:rPr lang="en-US" altLang="ko-KR" sz="1100" dirty="0"/>
              <a:t>the</a:t>
            </a:r>
            <a:r>
              <a:rPr lang="ko-KR" altLang="en-US" sz="1100" dirty="0"/>
              <a:t> </a:t>
            </a:r>
            <a:r>
              <a:rPr lang="en-US" altLang="ko-KR" sz="1100" dirty="0"/>
              <a:t>borrowed</a:t>
            </a:r>
            <a:r>
              <a:rPr lang="ko-KR" altLang="en-US" sz="1100" dirty="0"/>
              <a:t> </a:t>
            </a:r>
            <a:r>
              <a:rPr lang="en-US" altLang="ko-KR" sz="1100" dirty="0"/>
              <a:t>money.</a:t>
            </a:r>
            <a:r>
              <a:rPr lang="ko-KR" altLang="en-US" sz="1100" dirty="0"/>
              <a:t>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Household debt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is increasing </a:t>
            </a:r>
            <a:r>
              <a:rPr lang="en-US" altLang="ko-KR" sz="1100" dirty="0"/>
              <a:t>at a very fast pace.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As household incomes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 not increasing</a:t>
            </a:r>
            <a:r>
              <a:rPr lang="en-US" altLang="ko-KR" sz="1100" dirty="0"/>
              <a:t>, some of these debts may become insolvent. It’s as if many indebted families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 sitting </a:t>
            </a:r>
            <a:r>
              <a:rPr lang="en-US" altLang="ko-KR" sz="1100" dirty="0">
                <a:solidFill>
                  <a:schemeClr val="tx1"/>
                </a:solidFill>
              </a:rPr>
              <a:t>on a ticking time bomb. </a:t>
            </a:r>
          </a:p>
          <a:p>
            <a:pPr latinLnBrk="1">
              <a:lnSpc>
                <a:spcPct val="150000"/>
              </a:lnSpc>
            </a:pPr>
            <a:r>
              <a:rPr lang="en-US" altLang="ko-KR" sz="1100" dirty="0"/>
              <a:t>Many indebted families </a:t>
            </a:r>
            <a:r>
              <a:rPr lang="en-US" altLang="ko-KR" sz="1100" dirty="0">
                <a:solidFill>
                  <a:schemeClr val="accent1">
                    <a:lumMod val="50000"/>
                  </a:schemeClr>
                </a:solidFill>
              </a:rPr>
              <a:t>are sitting </a:t>
            </a:r>
            <a:r>
              <a:rPr lang="en-US" altLang="ko-KR" sz="1100" dirty="0">
                <a:solidFill>
                  <a:schemeClr val="tx1"/>
                </a:solidFill>
              </a:rPr>
              <a:t>on a ticking time bomb. </a:t>
            </a:r>
            <a:endParaRPr lang="ko-KR" altLang="en-US" sz="1100" dirty="0">
              <a:solidFill>
                <a:schemeClr val="accent2"/>
              </a:solidFill>
            </a:endParaRPr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en-US" altLang="ko-KR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latinLnBrk="1">
              <a:lnSpc>
                <a:spcPct val="150000"/>
              </a:lnSpc>
            </a:pPr>
            <a:endParaRPr lang="en-US" altLang="ko-KR" sz="1100" dirty="0"/>
          </a:p>
          <a:p>
            <a:pPr latinLnBrk="1">
              <a:lnSpc>
                <a:spcPct val="150000"/>
              </a:lnSpc>
            </a:pPr>
            <a:endParaRPr lang="ko-KR" altLang="en-US" sz="11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1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sz="1100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</p:spTree>
    <p:extLst>
      <p:ext uri="{BB962C8B-B14F-4D97-AF65-F5344CB8AC3E}">
        <p14:creationId xmlns:p14="http://schemas.microsoft.com/office/powerpoint/2010/main" val="3328899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현재진행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202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200000"/>
              </a:lnSpc>
            </a:pP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현재진행 시제는 현재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말하는 시점에서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now)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진행 중인 행위를 나타냅니다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200000"/>
              </a:lnSpc>
            </a:pPr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현재진행 시제는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현재분사 형태로 만듭니다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</a:p>
          <a:p>
            <a:pPr algn="l">
              <a:lnSpc>
                <a:spcPct val="200000"/>
              </a:lnSpc>
            </a:pPr>
            <a:endParaRPr lang="en-US" altLang="ko-KR" sz="1000" b="1" i="0" dirty="0">
              <a:solidFill>
                <a:srgbClr val="2B394A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am 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현재분사</a:t>
            </a:r>
          </a:p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You/We/They are 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현재분사</a:t>
            </a:r>
          </a:p>
          <a:p>
            <a:pPr algn="l">
              <a:lnSpc>
                <a:spcPct val="200000"/>
              </a:lnSpc>
            </a:pP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He/She/It is 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현재분사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759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1.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현재 시점에서 진행 중인 일을 말할 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1842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 시점이란 말하고 있는 순간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의미합니다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만일 운전을 하고 있는데 전화가 와서 지금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무엇을 하고 있냐고 물어보면 아래와 같이 말할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driv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운전하고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 문법책을 보고 있는데 옆에 있는 사람이 지금 뭐하고 있냐고 물어보면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순간 나는 공부 중이므로 다음과 같이 말할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study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English grammar.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영어문법 공부를 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말하는 시점에서 공부하고 있는 행위가 진행 중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(=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현재진행</a:t>
            </a: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이기 때문에 현재진행 시제를 사용하고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2348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2.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현재 시점을 넓혀서 말할 때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근황을 말할 때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3298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현재진행 시제의 가장 기본적인 의미는 위에서 설명한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지금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진행 중인 일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말하는 것입니다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지금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범위를 좀 넓혀보면 요즘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(these days),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오늘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(today),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이번주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(this week),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올해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(this year)...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이런식으로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확장할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모두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now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품고 있는 개념입니다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그래서 이 경우에도 현재진행 시제를 사용할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요즘 근황을 친구가 물어보면 다음과 같이 대답할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study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English these days.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난 요즘 영어공부를 하고 있어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비록 지금 말하고 있는 순간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에는 영어공부를 하고 있지 않고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TV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시청을 하고 있더라도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요즘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(these days)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 같이 현재 시점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(now)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포함하고 있다면 현재진행 시제를 사용하면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물론 그때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(those days),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어제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(yesterday),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저번주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(last week),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작년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(last year)...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이와 같이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now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개념이 포함되지 않은 부사구와 현재진행 시제를 함께 쓸 수는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그리고 요즘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(these days)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과 같은 부사구를 쓰지 않더라도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writi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novel.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소설 집필 중이다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위와 같이 현재 진행 중임을 강조할 때 현재진행 시제를 씁니다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419414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3.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점진적인 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311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점진적으로 변화되고 있는 것 또는 일정 기간 동안 진행되고 있는 행위를 말할 때에도 현재진행 시제를 사용할 수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More and more people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becom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vegetarian.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점점 많은 사람들이 채식주의자가 되고 있어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사람들이 채식을 선택하는 것은 눈에 잘 보이지 않고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말하는 순간에 진행 중이라고 말하기 힘들지만 점진적인 변화나 추세를 말하는 것이므로 현재진행 시제가 어울립니다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특히 아래와 같은 동사들이 이럴 때 현재진행으로 쓰입니다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become, get, change, increase, rise, fall, grow, improve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Your English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improving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영어실력이 점점 나아지고 있어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weather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getting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warmer.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날씨가 점점 더워지고 있어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population of the world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increasing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very fast.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세계인구가 빠르게 증가하고 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6782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4.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예정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준비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되어 있는 미래를 말할 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예정되어 있는 미래의 일을 말할 때 현재진행 시제를 사용합니다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예정되어 있다는 말은 미리 약속되어 있거나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예약이 되어있거나 준비가 되어있다는 의미입니다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will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meet my girlfriend tomorrow.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내일 여자친구를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만날거야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막연히 내일 여자친구를 만날 생각을 했다면 위와 같이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will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사용하면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그러나 미리 약속도 했고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만날 시간과 장소도 정해서 확실하게 만날 것이 예정되어 있다면 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이미 만남은 진행 중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!)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현재진행 시제를 사용하는 것이 더 어울립니다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meet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my girlfriend tomorrow.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내일 여자친구를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만날거야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친구의 다음주 일정을 묻고 싶다면 다음과 같이 말하면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do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next week?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다음주에 뭐해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이미 휴가 계획을 다 세워 놓고 항공편 예약도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해놨다면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다음과 같이 말하면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 going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on vacation next week.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 주에 휴가를 갑니다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미래를 나타내는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will, be going to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비교하면 다음과 같습니다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1305F36-CFD9-4C54-4A50-E09DB4069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3199849"/>
              </p:ext>
            </p:extLst>
          </p:nvPr>
        </p:nvGraphicFramePr>
        <p:xfrm>
          <a:off x="531771" y="4283054"/>
          <a:ext cx="8095614" cy="685800"/>
        </p:xfrm>
        <a:graphic>
          <a:graphicData uri="http://schemas.openxmlformats.org/drawingml/2006/table">
            <a:tbl>
              <a:tblPr/>
              <a:tblGrid>
                <a:gridCol w="2698538">
                  <a:extLst>
                    <a:ext uri="{9D8B030D-6E8A-4147-A177-3AD203B41FA5}">
                      <a16:colId xmlns:a16="http://schemas.microsoft.com/office/drawing/2014/main" val="3997519697"/>
                    </a:ext>
                  </a:extLst>
                </a:gridCol>
                <a:gridCol w="2698538">
                  <a:extLst>
                    <a:ext uri="{9D8B030D-6E8A-4147-A177-3AD203B41FA5}">
                      <a16:colId xmlns:a16="http://schemas.microsoft.com/office/drawing/2014/main" val="3679356438"/>
                    </a:ext>
                  </a:extLst>
                </a:gridCol>
                <a:gridCol w="2698538">
                  <a:extLst>
                    <a:ext uri="{9D8B030D-6E8A-4147-A177-3AD203B41FA5}">
                      <a16:colId xmlns:a16="http://schemas.microsoft.com/office/drawing/2014/main" val="42272834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will 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be going to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현재진행</a:t>
                      </a:r>
                    </a:p>
                  </a:txBody>
                  <a:tcPr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33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하기로 마음 먹었을 때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하기로 예정되어 있을 때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하기로 예정되어 있고</a:t>
                      </a:r>
                      <a:r>
                        <a:rPr lang="en-US" altLang="ko-KR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rgbClr val="404040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구체적인 계획까지 있을 때</a:t>
                      </a:r>
                    </a:p>
                  </a:txBody>
                  <a:tcPr marL="76200" marR="47625" marT="66675" marB="476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6182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478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현재진행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5. always + 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현재진행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일상적이고 반복적인 동작은 단순현재 시제로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get up at 7 A.M.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every day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매일 아침 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7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시에 일어나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일상적으로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반복적으로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7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시에 일어나기 때문에 단순현재 시제를 사용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endParaRPr lang="en-US" altLang="ko-KR" sz="1100" dirty="0">
              <a:solidFill>
                <a:srgbClr val="333333"/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그러나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너무 자주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일어나는 상황을 말할 때는 </a:t>
            </a:r>
            <a:r>
              <a:rPr lang="ko-KR" altLang="en-US" sz="11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강조의 의미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현재진행 시제를 사용합니다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always(forever)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함께 쓰는 경우가 많습니다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always getting up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late!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항상 늦게 일어나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!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 forever complaining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!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너는 항상 불평만 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!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 is a very pleasant man. He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always laughing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아주 유쾌한 사람이야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항상 웃어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72591A82-FD88-7150-50F7-02CBB434A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A237D9-9893-29A0-E207-D70EC72B7491}"/>
              </a:ext>
            </a:extLst>
          </p:cNvPr>
          <p:cNvSpPr txBox="1"/>
          <p:nvPr/>
        </p:nvSpPr>
        <p:spPr>
          <a:xfrm>
            <a:off x="6002931" y="4907403"/>
            <a:ext cx="314106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https://www.englishcube.net/grammar_exam.php?category2=25</a:t>
            </a:r>
          </a:p>
        </p:txBody>
      </p:sp>
    </p:spTree>
    <p:extLst>
      <p:ext uri="{BB962C8B-B14F-4D97-AF65-F5344CB8AC3E}">
        <p14:creationId xmlns:p14="http://schemas.microsoft.com/office/powerpoint/2010/main" val="3460782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진행시제 불가 동사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진행형 불가 동사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B5F42-36CD-D72C-BAA1-49F4BDE03FAD}"/>
              </a:ext>
            </a:extLst>
          </p:cNvPr>
          <p:cNvSpPr txBox="1"/>
          <p:nvPr/>
        </p:nvSpPr>
        <p:spPr>
          <a:xfrm>
            <a:off x="247545" y="1613789"/>
            <a:ext cx="8664066" cy="311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1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상태동사</a:t>
            </a:r>
            <a:r>
              <a:rPr lang="en-US" altLang="ko-KR" sz="1100" b="0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(stative verb)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보통 진행 시제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현재진행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현재완료진행 등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쓸 수 없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습니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우리말로 해석하면 진행형이 가능해 보이기 때문에 유의해야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like(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좋아하다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hate(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미워하다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want(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prefer(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더 좋아하다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need(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필요로 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100" b="0" i="0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know(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알다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</a:t>
            </a:r>
            <a:r>
              <a:rPr lang="en-US" altLang="ko-KR" sz="1100" b="1" i="0" dirty="0" err="1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realise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알아차리다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suppose(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추측하다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mean(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의미하다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understand(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이해하다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believe(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믿다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100" b="0" i="0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belong to(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속하다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own(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소유하다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fit(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맞다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contain(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들어있다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consist(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이루어져 있다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), seem(</a:t>
            </a:r>
            <a:r>
              <a:rPr lang="ko-KR" altLang="en-US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인 것 같다</a:t>
            </a:r>
            <a:r>
              <a:rPr lang="en-US" altLang="ko-KR" sz="1100" b="1" i="0" dirty="0">
                <a:solidFill>
                  <a:schemeClr val="accent5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endParaRPr lang="ko-KR" altLang="en-US" sz="1100" b="0" i="0" dirty="0">
              <a:solidFill>
                <a:schemeClr val="accent5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know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you mean.</a:t>
            </a:r>
            <a:b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100" b="1" i="0" strike="sngStrike" dirty="0">
                <a:solidFill>
                  <a:srgbClr val="907E6D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 knowing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you mean.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네가 무엇을 의미하는지 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알고 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고 진행형으로 해석할 수 있지만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know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알고 있는 상태를 나타내기 때문에 진행형 불가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house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belongs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to me.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집은 내 소유다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소유하고 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고 진행형으로 해석할 수 있지만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belongs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은 소유하고 있는 상태를 나타내기 때문에 진행형 불가</a:t>
            </a:r>
          </a:p>
        </p:txBody>
      </p:sp>
    </p:spTree>
    <p:extLst>
      <p:ext uri="{BB962C8B-B14F-4D97-AF65-F5344CB8AC3E}">
        <p14:creationId xmlns:p14="http://schemas.microsoft.com/office/powerpoint/2010/main" val="31069535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진행시제 불가 동사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진행형 불가동사 구분법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보통 의미상 동작이면 진행형이 가능하고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상태이면 진행형이 불가라고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동작과 상태의 의미를 명확하게 구분하는 방법은 멈추었다가 재개할 수 있는지 여부에 달렸습니다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예문에서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know, belong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이라는 동사는 의미적으로 볼 때 잠시 멈췄다가 다시 시작할 수는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상대방의 말을 알아들었는데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못알아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들었다가 다시 알아들을 수는 없겠죠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집이 내 소유인데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내 소유가 아니었다가 다시 소유가 될 수도 없습니다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진행형 시제로 쓸 수 있는 동작을 나타내는 동사들은 잠시 멈췄다가 다시 시작하는 것이 가능합니다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 running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난 달리고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달리기를 멈추었다가 다시 달릴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  진행형 가능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</a:p>
          <a:p>
            <a:pPr algn="l"/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think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that you are so beautiful.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네가 매우 아름답다고 생각한다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아름답다고 생각하는 것을 멈추었다가 다시 생각하는 것은 말이 안된다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  진행형 불가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en-US" altLang="ko-KR" sz="1000" b="1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보통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"~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라고 생각한다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의 의미는 멈췄다가 재개할 수 없는 상태동사로 봅니다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buFont typeface="Wingdings" panose="05000000000000000000" pitchFamily="2" charset="2"/>
              <a:buChar char="§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think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무언가를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곰곰히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생각하다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"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의미일 때는 동작으로 보고 진행형이 가능합니다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친구를 불렀는데 친구가 무언가를 생각하고 있어서 잘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못들었을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때 다음과 같이 물을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thinking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무슨 생각을 하고 있어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생각을 멈추었다가 다시 생각할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  진행형 가능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1432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진행시제 불가 동사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진행형 불가동사 구분법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31A44-6418-4F22-04ED-BE8E6840EA7A}"/>
              </a:ext>
            </a:extLst>
          </p:cNvPr>
          <p:cNvSpPr txBox="1"/>
          <p:nvPr/>
        </p:nvSpPr>
        <p:spPr>
          <a:xfrm>
            <a:off x="247545" y="1613789"/>
            <a:ext cx="8664066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have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three children.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난 아이가 셋이다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아이가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4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 이었다가 다시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3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명이 되는 것은 말이 안된다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  진행형 불가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am having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 shower now.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</a:t>
            </a:r>
            <a:r>
              <a:rPr lang="ko-KR" altLang="en-US" sz="10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샤워중이다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샤워를 잠시 멈추었다가 다시 시작할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  진행형 가능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Did you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see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what happened?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무슨 일이 있었는지 당신이 봤나요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?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봤으면 봤고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못봤으면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못봤음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멈추었다가 재개할 수 없다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  진행형 불가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 seeing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doctor now.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지금 진찰을 받고 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진찰 받는 행위는 잠시 멈추었다가 다시 시작할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  진행형 가능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This cake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tastes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delicious.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케이크는 맛있다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맛있거나 없거나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잠시 멈추었다가 재개할 수 없다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상태  진행형 불가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He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is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always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tasting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food while I'm cooking!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그는 내가 요리하는 동안 항상 음식을 맛본다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맛보는 행위는 잠시 멈추었다가 다시 시작할 수 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동작  진행형 가능</a:t>
            </a:r>
            <a:r>
              <a:rPr lang="en-US" altLang="ko-KR" sz="1000" b="1" i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endParaRPr lang="ko-KR" altLang="en-US" sz="1000" b="1" i="0" dirty="0">
              <a:solidFill>
                <a:schemeClr val="accent1">
                  <a:lumMod val="50000"/>
                </a:schemeClr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C439C065-DB94-13B3-0AB8-DD9B40D7FF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362" y="4468453"/>
            <a:ext cx="1511939" cy="4389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75B6AF-E7BF-DF8A-D425-591EC6EFFC8A}"/>
              </a:ext>
            </a:extLst>
          </p:cNvPr>
          <p:cNvSpPr txBox="1"/>
          <p:nvPr/>
        </p:nvSpPr>
        <p:spPr>
          <a:xfrm>
            <a:off x="5976553" y="4928056"/>
            <a:ext cx="316744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https://www.englishcube.net/grammar_exam.php?category2=160</a:t>
            </a:r>
          </a:p>
        </p:txBody>
      </p:sp>
    </p:spTree>
    <p:extLst>
      <p:ext uri="{BB962C8B-B14F-4D97-AF65-F5344CB8AC3E}">
        <p14:creationId xmlns:p14="http://schemas.microsoft.com/office/powerpoint/2010/main" val="1590312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온라인 미디어 3" title="Is 'I'm loving it' correct grammar in English? | IMPORTANT grammar rules">
            <a:hlinkClick r:id="" action="ppaction://media"/>
            <a:extLst>
              <a:ext uri="{FF2B5EF4-FFF2-40B4-BE49-F238E27FC236}">
                <a16:creationId xmlns:a16="http://schemas.microsoft.com/office/drawing/2014/main" id="{16FB1894-9AD7-F196-1F26-81B2C62F9CB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466220" y="1303094"/>
            <a:ext cx="6009524" cy="3395381"/>
          </a:xfrm>
          <a:prstGeom prst="rect">
            <a:avLst/>
          </a:prstGeom>
        </p:spPr>
      </p:pic>
      <p:sp>
        <p:nvSpPr>
          <p:cNvPr id="5" name="제목 2">
            <a:extLst>
              <a:ext uri="{FF2B5EF4-FFF2-40B4-BE49-F238E27FC236}">
                <a16:creationId xmlns:a16="http://schemas.microsoft.com/office/drawing/2014/main" id="{987095A2-46CB-06B2-7F93-C4E3FE4F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</p:spPr>
        <p:txBody>
          <a:bodyPr/>
          <a:lstStyle/>
          <a:p>
            <a:r>
              <a:rPr lang="en-US" altLang="ko-KR" dirty="0"/>
              <a:t>3. Grammar: </a:t>
            </a:r>
            <a:r>
              <a:rPr lang="ko-KR" altLang="en-US" dirty="0">
                <a:latin typeface="+mj-ea"/>
                <a:ea typeface="+mj-ea"/>
              </a:rPr>
              <a:t>상태동사</a:t>
            </a:r>
            <a:r>
              <a:rPr lang="en-US" altLang="ko-KR" dirty="0">
                <a:latin typeface="+mj-ea"/>
                <a:ea typeface="+mj-ea"/>
              </a:rPr>
              <a:t>(Stative verbs)</a:t>
            </a:r>
            <a:endParaRPr lang="ko-KR" altLang="en-US" dirty="0">
              <a:latin typeface="+mj-ea"/>
              <a:ea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B1D61-7D74-4850-80F5-536D26001581}"/>
              </a:ext>
            </a:extLst>
          </p:cNvPr>
          <p:cNvSpPr txBox="1"/>
          <p:nvPr/>
        </p:nvSpPr>
        <p:spPr>
          <a:xfrm>
            <a:off x="6250921" y="4928056"/>
            <a:ext cx="289307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https://www.youtube.com/watch?v=MD6B4GGskhU&amp;t=2s</a:t>
            </a:r>
          </a:p>
        </p:txBody>
      </p:sp>
    </p:spTree>
    <p:extLst>
      <p:ext uri="{BB962C8B-B14F-4D97-AF65-F5344CB8AC3E}">
        <p14:creationId xmlns:p14="http://schemas.microsoft.com/office/powerpoint/2010/main" val="99551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7927</TotalTime>
  <Words>2842</Words>
  <Application>Microsoft Office PowerPoint</Application>
  <PresentationFormat>화면 슬라이드 쇼(16:9)</PresentationFormat>
  <Paragraphs>342</Paragraphs>
  <Slides>27</Slides>
  <Notes>4</Notes>
  <HiddenSlides>0</HiddenSlides>
  <MMClips>1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6" baseType="lpstr">
      <vt:lpstr>Arial</vt:lpstr>
      <vt:lpstr>Wingdings</vt:lpstr>
      <vt:lpstr>Calibri</vt:lpstr>
      <vt:lpstr>Righteous</vt:lpstr>
      <vt:lpstr>HY헤드라인M</vt:lpstr>
      <vt:lpstr>맑은 고딕</vt:lpstr>
      <vt:lpstr>Open Sans</vt:lpstr>
      <vt:lpstr>Symbol</vt:lpstr>
      <vt:lpstr>TOWN HALL BUSINESS PLAN</vt:lpstr>
      <vt:lpstr>외국어시험 대체강좌 – 시사영어 </vt:lpstr>
      <vt:lpstr>Table of Contents</vt:lpstr>
      <vt:lpstr>경제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3. Grammar: 현재진행</vt:lpstr>
      <vt:lpstr>3. Grammar: 현재진행</vt:lpstr>
      <vt:lpstr>3. Grammar: 현재진행</vt:lpstr>
      <vt:lpstr>3. Grammar: 현재진행</vt:lpstr>
      <vt:lpstr>3. Grammar: 현재진행</vt:lpstr>
      <vt:lpstr>3. Grammar: 현재진행</vt:lpstr>
      <vt:lpstr>3. Grammar: 현재진행</vt:lpstr>
      <vt:lpstr>3. Grammar: 진행시제 불가 동사</vt:lpstr>
      <vt:lpstr>3. Grammar: 진행시제 불가 동사</vt:lpstr>
      <vt:lpstr>3. Grammar: 진행시제 불가 동사</vt:lpstr>
      <vt:lpstr>3. Grammar: 상태동사(Stative verbs)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Kyunghee Lee</cp:lastModifiedBy>
  <cp:revision>115</cp:revision>
  <dcterms:modified xsi:type="dcterms:W3CDTF">2024-01-02T11:20:57Z</dcterms:modified>
</cp:coreProperties>
</file>