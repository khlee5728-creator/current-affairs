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4"/>
  </p:notesMasterIdLst>
  <p:sldIdLst>
    <p:sldId id="256" r:id="rId2"/>
    <p:sldId id="279" r:id="rId3"/>
    <p:sldId id="261" r:id="rId4"/>
    <p:sldId id="462" r:id="rId5"/>
    <p:sldId id="378" r:id="rId6"/>
    <p:sldId id="420" r:id="rId7"/>
    <p:sldId id="438" r:id="rId8"/>
    <p:sldId id="437" r:id="rId9"/>
    <p:sldId id="448" r:id="rId10"/>
    <p:sldId id="463" r:id="rId11"/>
    <p:sldId id="434" r:id="rId12"/>
    <p:sldId id="309" r:id="rId13"/>
    <p:sldId id="451" r:id="rId14"/>
    <p:sldId id="389" r:id="rId15"/>
    <p:sldId id="412" r:id="rId16"/>
    <p:sldId id="441" r:id="rId17"/>
    <p:sldId id="442" r:id="rId18"/>
    <p:sldId id="458" r:id="rId19"/>
    <p:sldId id="457" r:id="rId20"/>
    <p:sldId id="459" r:id="rId21"/>
    <p:sldId id="460" r:id="rId22"/>
    <p:sldId id="461" r:id="rId23"/>
  </p:sldIdLst>
  <p:sldSz cx="9144000" cy="5143500" type="screen16x9"/>
  <p:notesSz cx="6797675" cy="9926638"/>
  <p:embeddedFontLst>
    <p:embeddedFont>
      <p:font typeface="HY헤드라인M" panose="02030600000101010101" pitchFamily="18" charset="-127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Righteous" panose="020B0600000101010101" charset="0"/>
      <p:regular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94681" autoAdjust="0"/>
  </p:normalViewPr>
  <p:slideViewPr>
    <p:cSldViewPr snapToGrid="0">
      <p:cViewPr varScale="1">
        <p:scale>
          <a:sx n="137" d="100"/>
          <a:sy n="137" d="100"/>
        </p:scale>
        <p:origin x="5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6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view.php?category2=6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대체 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사회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입양 </a:t>
            </a:r>
            <a:r>
              <a:rPr lang="en-US" altLang="ko-KR" b="1" dirty="0"/>
              <a:t>/ </a:t>
            </a:r>
            <a:r>
              <a:rPr lang="ko-KR" altLang="en-US" b="1" dirty="0"/>
              <a:t>금연 </a:t>
            </a:r>
            <a:r>
              <a:rPr lang="en-US" altLang="ko-KR" b="1" dirty="0"/>
              <a:t>/ </a:t>
            </a:r>
            <a:r>
              <a:rPr lang="ko-KR" altLang="en-US" b="1" dirty="0"/>
              <a:t>환경 </a:t>
            </a:r>
            <a:r>
              <a:rPr lang="en-US" altLang="ko-KR" b="1" dirty="0"/>
              <a:t>/ </a:t>
            </a:r>
            <a:r>
              <a:rPr lang="ko-KR" altLang="en-US" b="1" dirty="0"/>
              <a:t>장애인의 권리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3.1 To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부정사 명사적 용법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3.2 To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부정사 형용사적 용법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F4A99721-B933-49C0-A7D7-C66E2C6BD1BF}"/>
              </a:ext>
            </a:extLst>
          </p:cNvPr>
          <p:cNvSpPr/>
          <p:nvPr/>
        </p:nvSpPr>
        <p:spPr>
          <a:xfrm>
            <a:off x="211075" y="1897666"/>
            <a:ext cx="639505" cy="639505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D8B811-C804-4ECD-B30E-8433762C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0" y="1994778"/>
            <a:ext cx="403953" cy="403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사회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입양 </a:t>
            </a:r>
            <a:r>
              <a:rPr lang="en-US" altLang="ko-KR" dirty="0"/>
              <a:t>/ </a:t>
            </a:r>
            <a:r>
              <a:rPr lang="ko-KR" altLang="en-US" dirty="0"/>
              <a:t>금연</a:t>
            </a:r>
            <a:r>
              <a:rPr lang="en-US" altLang="ko-KR" dirty="0"/>
              <a:t>/ </a:t>
            </a:r>
            <a:r>
              <a:rPr lang="ko-KR" altLang="en-US" dirty="0"/>
              <a:t>환경 </a:t>
            </a:r>
            <a:r>
              <a:rPr lang="en-US" altLang="ko-KR" dirty="0"/>
              <a:t>/ </a:t>
            </a:r>
            <a:r>
              <a:rPr lang="ko-KR" altLang="en-US" dirty="0"/>
              <a:t>장애인의 권리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10</a:t>
            </a:r>
            <a:endParaRPr lang="ko-KR" altLang="en-US" sz="4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80B359-9817-41EC-81F1-D42180CD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58" y="1577098"/>
            <a:ext cx="1856154" cy="1856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isn’t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adoption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widely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accepted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Koreans?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Part of the reason is a tradition that values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blood ties</a:t>
                      </a:r>
                      <a:r>
                        <a:rPr lang="en-US" altLang="ko-KR" sz="1000" dirty="0"/>
                        <a:t>. Raising a child born in a different family is not something Koreans are quite accustomed to yet.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혈연관계를 중시한다고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Part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reason is a tradition that values family relationship.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Part of the reason is a tradition that values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blood ties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heard a story of a 40-year-old adoptee who’s looking for his biological parents.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 adoptees visit their birth parents’ country once they’re grown. I hope they all can find what they’re looking for there.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낳아 준 부모를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adoptee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looking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parents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borne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him.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An adoptee is looking for his biological parents.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입양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8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880349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Don’t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smokers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right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smoke?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it’s an issue of individual rights versus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greater good</a:t>
                      </a:r>
                      <a:r>
                        <a:rPr lang="en-US" altLang="ko-KR" sz="1000" dirty="0"/>
                        <a:t>. For the health of many people, smokers’ rights can be restricted.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개인의 권리와 공공이 이익이 충돌한다고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an issue of individual rights versus the general interests of the public.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an issue of individual rights versus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greater good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about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smoking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takes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on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society,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quitting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smoking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must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encouraged.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agree. The medical bill we all have to pay must be in the billions of dollars.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부정적인 영향을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We should think about the negative impact of smoking on society.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 think about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toll </a:t>
                      </a:r>
                      <a:r>
                        <a:rPr lang="en-US" altLang="ko-KR" sz="1000" dirty="0"/>
                        <a:t>smoking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takes on</a:t>
                      </a:r>
                      <a:r>
                        <a:rPr lang="en-US" altLang="ko-KR" sz="1000" dirty="0"/>
                        <a:t> society.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금연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381B05-91C5-D6D3-4D4A-340CCC98D3BE}"/>
              </a:ext>
            </a:extLst>
          </p:cNvPr>
          <p:cNvSpPr txBox="1"/>
          <p:nvPr/>
        </p:nvSpPr>
        <p:spPr>
          <a:xfrm>
            <a:off x="495590" y="4874227"/>
            <a:ext cx="5011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good (n.) </a:t>
            </a:r>
            <a:r>
              <a:rPr lang="ko-KR" altLang="en-US" sz="1000" dirty="0"/>
              <a:t>이익</a:t>
            </a:r>
            <a:r>
              <a:rPr lang="en-US" altLang="ko-KR" sz="1000" dirty="0"/>
              <a:t>  greater good </a:t>
            </a:r>
            <a:r>
              <a:rPr lang="ko-KR" altLang="en-US" sz="1000" dirty="0"/>
              <a:t>다수를 위한 더 큰 이익</a:t>
            </a:r>
          </a:p>
        </p:txBody>
      </p:sp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245732"/>
              </p:ext>
            </p:extLst>
          </p:nvPr>
        </p:nvGraphicFramePr>
        <p:xfrm>
          <a:off x="367145" y="1149041"/>
          <a:ext cx="8333511" cy="18796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120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don’t like people who throw away their cigarette butts on the street. Shouldn’t the government impose stronger punishments to prevent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littering</a:t>
                      </a:r>
                      <a:r>
                        <a:rPr lang="en-US" altLang="ko-KR" sz="1000" dirty="0"/>
                        <a:t>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Anyone caught littering is supposed to pay a fine, but there are many violators who get away scot-free.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담배꽁초를 아무데나 버린다고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Stronger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punishments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imposed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prevent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people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from throwing away cigarette butts on the street.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Stronger punishments should be imposed to prevent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littering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D5806-B2F5-1B08-BEFE-6AC43CA982A3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금연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7C6F477-27FF-4177-8077-B08467F9C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88D97B-9A18-6AD3-70FF-07C7F4775D9D}"/>
              </a:ext>
            </a:extLst>
          </p:cNvPr>
          <p:cNvSpPr txBox="1"/>
          <p:nvPr/>
        </p:nvSpPr>
        <p:spPr>
          <a:xfrm>
            <a:off x="495590" y="4874227"/>
            <a:ext cx="5011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*litter </a:t>
            </a:r>
            <a:r>
              <a:rPr lang="ko-KR" altLang="en-US" sz="1000" dirty="0"/>
              <a:t>쓰레기를 무단으로 투기한다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4288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956851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121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Being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environmentally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friendly is fine, but I can’t give up the convenience of single-use products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Reducing the use of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disposable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products and fossil fuels can be an inconvenience, but we should think about the environment.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일회용품의 활용을 줄인다고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Reducing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 use of single-use products can be an inconvenience.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Reducing the use of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disposable</a:t>
                      </a:r>
                      <a:r>
                        <a:rPr lang="en-US" altLang="ko-KR" sz="1000" dirty="0"/>
                        <a:t> products can be an inconvenience.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122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we want to construct a theme park here, the forest will have to be bulldozed.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That’s a choice I’m willing to take.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You can’t make an omelet without breaking a few eggs.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개발을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위해 환경 파괴를 감수해야 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Environment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 be sacrificed for development.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You can’t make an omelet without breaking a few eggs.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환경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08B009-48C2-F9D3-7136-CB3FCA167EFF}"/>
              </a:ext>
            </a:extLst>
          </p:cNvPr>
          <p:cNvSpPr txBox="1"/>
          <p:nvPr/>
        </p:nvSpPr>
        <p:spPr>
          <a:xfrm>
            <a:off x="495590" y="4874227"/>
            <a:ext cx="78481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*You can’t make an omelet without breaking an few eggs </a:t>
            </a:r>
            <a:r>
              <a:rPr lang="ko-KR" altLang="en-US" sz="1000" dirty="0"/>
              <a:t>목표달성을 위해 어느 정도 희생을 감수해야 한다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4638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700235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123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Companies seem to be hesitant to invest in projects that help the environment.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find ways to attract more private-sector investment in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green technology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친환경 기술을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need to find ways to attract more private-sector investment in technologies to protect the environment.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find ways to attract more private-sector investment in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green technology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환경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14499A-8FA3-5A42-B59A-529C7D5132F8}"/>
              </a:ext>
            </a:extLst>
          </p:cNvPr>
          <p:cNvSpPr txBox="1"/>
          <p:nvPr/>
        </p:nvSpPr>
        <p:spPr>
          <a:xfrm>
            <a:off x="495590" y="4874227"/>
            <a:ext cx="5011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*green technology </a:t>
            </a:r>
            <a:r>
              <a:rPr lang="ko-KR" altLang="en-US" sz="1000" dirty="0"/>
              <a:t>친환경 기술</a:t>
            </a:r>
          </a:p>
        </p:txBody>
      </p:sp>
    </p:spTree>
    <p:extLst>
      <p:ext uri="{BB962C8B-B14F-4D97-AF65-F5344CB8AC3E}">
        <p14:creationId xmlns:p14="http://schemas.microsoft.com/office/powerpoint/2010/main" val="3099706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686762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124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believe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society’s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advancement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measured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accessibility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policies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Ours falls short of the standards put in place by other industrialized countries.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장애인이 불편 없이 이용할 수 있어야 한다고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society’s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advancement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measured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how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accessible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facilities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people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disabilities.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 society’s advancement can be measure by its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accessibility policies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125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saw a TV program about how inconvenient it is for people with disabilities to move around Seoul.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Any one of us can become disabled at any time. We must be proactive about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disability rights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장애인의 권리를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must be proactive about the rights of people with disabilities.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must be proactive about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disability rights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장애인의 권리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91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A497438-340E-3B84-6235-BC6840E8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6D8464-E08F-BFA0-58F4-D9D4E436AE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4513649" y="1081531"/>
            <a:ext cx="3012166" cy="3960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7BBF328-C120-7992-354C-6DD6032815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646" r="50000"/>
          <a:stretch/>
        </p:blipFill>
        <p:spPr>
          <a:xfrm>
            <a:off x="180983" y="1088902"/>
            <a:ext cx="2730926" cy="155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38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A0F5263D-0DBF-4364-BB8F-3379A600C685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B8471E-6887-49FD-A161-93F1B284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C6A0E3C-C6D9-F934-53A5-6B6DDABA82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31561" y="1085098"/>
            <a:ext cx="3345905" cy="396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ECC98DE-1C3D-7A2E-5C7B-8C9D7D006C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113"/>
          <a:stretch/>
        </p:blipFill>
        <p:spPr>
          <a:xfrm>
            <a:off x="4495224" y="1102472"/>
            <a:ext cx="3251765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F772D4A2-52C0-45CF-B0D8-D7B75537912A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AC07E7-C4CC-4716-A693-7BCFE9FF3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945726-F47A-1DC7-9D37-0BD4C9983D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180958" y="1088512"/>
            <a:ext cx="2822747" cy="3924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CECF861-7D57-80FE-F5CA-CDB35AF792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527739" y="1081532"/>
            <a:ext cx="2978462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7735CE3-3951-F1D9-BDDF-49741BAC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B89C6D-62A7-33C3-64F8-1827AE9D6F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 b="80424"/>
          <a:stretch/>
        </p:blipFill>
        <p:spPr>
          <a:xfrm>
            <a:off x="194865" y="1100248"/>
            <a:ext cx="3072845" cy="75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84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en-US" altLang="ko-KR" dirty="0">
                <a:latin typeface="+mj-ea"/>
                <a:ea typeface="+mj-ea"/>
              </a:rPr>
              <a:t>To </a:t>
            </a:r>
            <a:r>
              <a:rPr lang="ko-KR" altLang="en-US" dirty="0">
                <a:latin typeface="+mj-ea"/>
                <a:ea typeface="+mj-ea"/>
              </a:rPr>
              <a:t>부정사 명사적 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108990"/>
            <a:ext cx="8664066" cy="5725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부정사는 명사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 역할을 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중 명사 역할을 할 때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부정사의 명사적 용법이라고 부릅니다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명사는 문장에서 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보어로 사용될 수 있으므로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 역시 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보어로 사용될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0FCDD8ED-C4BD-4EA1-B886-28F7D01B4321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75D97D-E582-4533-960F-D65DB02CD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FB34C4-1BF5-0A13-2967-92F922E5E627}"/>
              </a:ext>
            </a:extLst>
          </p:cNvPr>
          <p:cNvSpPr txBox="1"/>
          <p:nvPr/>
        </p:nvSpPr>
        <p:spPr>
          <a:xfrm>
            <a:off x="168784" y="1730256"/>
            <a:ext cx="8664066" cy="57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 명사만 가능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 명사 또는 형용사만 가능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3118D7-C9D4-C437-323B-84FBDE1B7422}"/>
              </a:ext>
            </a:extLst>
          </p:cNvPr>
          <p:cNvSpPr/>
          <p:nvPr/>
        </p:nvSpPr>
        <p:spPr>
          <a:xfrm>
            <a:off x="247545" y="2412966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주어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05E13-3EE3-1D26-E5D1-7CDBA66D1DAB}"/>
              </a:ext>
            </a:extLst>
          </p:cNvPr>
          <p:cNvSpPr txBox="1"/>
          <p:nvPr/>
        </p:nvSpPr>
        <p:spPr>
          <a:xfrm>
            <a:off x="258381" y="2741387"/>
            <a:ext cx="8638073" cy="2349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 자리에는 명사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 등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 가능합니다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부정사는 명사 역할을 할 수 있으므로 주어 자리에 올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tell the truth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is very difficult.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진실을 말하는 것은 매우 어렵다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tell the truth)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(very difficult)</a:t>
            </a:r>
          </a:p>
          <a:p>
            <a:pPr algn="l">
              <a:lnSpc>
                <a:spcPct val="150000"/>
              </a:lnSpc>
            </a:pPr>
            <a:endParaRPr lang="en-US" altLang="ko-KR" sz="11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wait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seemed foolish when bold decision was needed.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과감한 결정이 필요할 때 기다리는 것은 어리석은 일처럼 보였다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wait)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(seemed)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(foolish)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(when bold decision was needed)</a:t>
            </a:r>
          </a:p>
          <a:p>
            <a:pPr algn="l">
              <a:lnSpc>
                <a:spcPct val="150000"/>
              </a:lnSpc>
            </a:pPr>
            <a:endParaRPr lang="en-US" altLang="ko-KR" sz="11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know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oneself is not easy.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자기자신을 아는 것은 쉽지 않다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know oneself)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(not easy)</a:t>
            </a:r>
          </a:p>
        </p:txBody>
      </p:sp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en-US" altLang="ko-KR" dirty="0">
                <a:latin typeface="+mj-ea"/>
                <a:ea typeface="+mj-ea"/>
              </a:rPr>
              <a:t>To </a:t>
            </a:r>
            <a:r>
              <a:rPr lang="ko-KR" altLang="en-US" dirty="0">
                <a:latin typeface="+mj-ea"/>
                <a:ea typeface="+mj-ea"/>
              </a:rPr>
              <a:t>부정사 명사적 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주어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2349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travel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all across Spain is my goal for this year.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스페인 전역을 여행하는 것이 올해의 내 목표이다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travel all across Spain)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(my goal for this year)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주어가 긴 경우에는 가주어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it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사용하여 아래와 같이 표현할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It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is not easy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know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oneself.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자기자신을 아는 것은 쉽지 않다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(It)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(not easy) 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know oneself)</a:t>
            </a:r>
          </a:p>
          <a:p>
            <a:pPr algn="l">
              <a:lnSpc>
                <a:spcPct val="150000"/>
              </a:lnSpc>
            </a:pPr>
            <a:endParaRPr lang="en-US" altLang="ko-KR" sz="11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It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is my goal for this year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 travel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all across Spain.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스페인 전역을 여행하는 것이 올해의 내 목표이다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(It)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(my goal for this year) 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travel all across Spain)</a:t>
            </a:r>
          </a:p>
        </p:txBody>
      </p:sp>
    </p:spTree>
    <p:extLst>
      <p:ext uri="{BB962C8B-B14F-4D97-AF65-F5344CB8AC3E}">
        <p14:creationId xmlns:p14="http://schemas.microsoft.com/office/powerpoint/2010/main" val="1242348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en-US" altLang="ko-KR" dirty="0">
                <a:latin typeface="+mj-ea"/>
                <a:ea typeface="+mj-ea"/>
              </a:rPr>
              <a:t>To </a:t>
            </a:r>
            <a:r>
              <a:rPr lang="ko-KR" altLang="en-US" dirty="0">
                <a:latin typeface="+mj-ea"/>
                <a:ea typeface="+mj-ea"/>
              </a:rPr>
              <a:t>부정사 명사적 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목적어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B4A762-8512-6F20-AB11-C687A6A0CE81}"/>
              </a:ext>
            </a:extLst>
          </p:cNvPr>
          <p:cNvSpPr txBox="1"/>
          <p:nvPr/>
        </p:nvSpPr>
        <p:spPr>
          <a:xfrm>
            <a:off x="247545" y="1547294"/>
            <a:ext cx="8638074" cy="311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 자리에는 명사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 등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 가능합니다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부정사는 명사 역할을 할 수 있으므로 목적어 자리에 올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 agreed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meet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on Friday.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우리는 금요일에 만나기로 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(We)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(agreed)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meet on Friday)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want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read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an interesting book.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재미있는 책 읽기를 원한다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(want)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read an interesting book)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decided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start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 </a:t>
            </a:r>
            <a:r>
              <a:rPr lang="en-US" altLang="ko-KR" sz="1100" b="0" i="0" dirty="0" err="1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Youtube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Channel.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유튜브 채널을 시작하기로 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(decided)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start a </a:t>
            </a:r>
            <a:r>
              <a:rPr lang="en-US" altLang="ko-KR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Youtube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Channel)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intended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leave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early.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일찍 떠날 작정이었다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(intended)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leave early)</a:t>
            </a:r>
          </a:p>
        </p:txBody>
      </p:sp>
    </p:spTree>
    <p:extLst>
      <p:ext uri="{BB962C8B-B14F-4D97-AF65-F5344CB8AC3E}">
        <p14:creationId xmlns:p14="http://schemas.microsoft.com/office/powerpoint/2010/main" val="1779147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en-US" altLang="ko-KR" dirty="0">
                <a:latin typeface="+mj-ea"/>
                <a:ea typeface="+mj-ea"/>
              </a:rPr>
              <a:t>To </a:t>
            </a:r>
            <a:r>
              <a:rPr lang="ko-KR" altLang="en-US" dirty="0">
                <a:latin typeface="+mj-ea"/>
                <a:ea typeface="+mj-ea"/>
              </a:rPr>
              <a:t>부정사 명사적 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보어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4" y="1561025"/>
            <a:ext cx="8896455" cy="26052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 자리에는 명사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 등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와 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 등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 가능합니다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부정사는 명사 역할을 할 수 있으므로 보어 자리에 올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Her ambition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become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 chef.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그녀의 목표는 요리사가 되는 것이다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(Her ambition)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become a chef)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most important thing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provide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opportunities.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가장 중요한 것은 기회를 제공하는 것이다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most important thing)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provide opportunities)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Your only responsibility this weekend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shut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the windows before the storm.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이번 주말 너의 유일한 책임은 폭풍우가 오기 전에 창문을 닫는 것이다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(Your only responsibility this weekend)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shut the windows)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(before the storm)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3F6C00-243E-45BE-B51E-4A2996365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2" name="그림 1">
            <a:hlinkClick r:id="rId3"/>
            <a:extLst>
              <a:ext uri="{FF2B5EF4-FFF2-40B4-BE49-F238E27FC236}">
                <a16:creationId xmlns:a16="http://schemas.microsoft.com/office/drawing/2014/main" id="{9BD18537-005D-199F-4052-EBAFEC1CC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2A34E6-52D7-3E4F-C9F3-FC4F289ED622}"/>
              </a:ext>
            </a:extLst>
          </p:cNvPr>
          <p:cNvSpPr txBox="1"/>
          <p:nvPr/>
        </p:nvSpPr>
        <p:spPr>
          <a:xfrm>
            <a:off x="6062521" y="4904473"/>
            <a:ext cx="30814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https://www.englishcube.net/grammar_exam.php?category2=66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769618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en-US" altLang="ko-KR" dirty="0">
                <a:latin typeface="+mj-ea"/>
                <a:ea typeface="+mj-ea"/>
              </a:rPr>
              <a:t>To </a:t>
            </a:r>
            <a:r>
              <a:rPr lang="ko-KR" altLang="en-US" dirty="0">
                <a:latin typeface="+mj-ea"/>
                <a:ea typeface="+mj-ea"/>
              </a:rPr>
              <a:t>부정사 형용사적 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134283"/>
            <a:ext cx="8664066" cy="1080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부정사는 명사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 역할을 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중 형용사 역할을 할 때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부정사의 형용사적 용법이라고 부릅니다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형용사의 용법은 한정적용법과 서술적용법으로 나눌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 역시 형용사 역할을 할 때는 이와 같이 구분할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부정사의 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한정적 용법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 뒤에서 명사를 수식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부정사의 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서술적 용법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 역할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0FCDD8ED-C4BD-4EA1-B886-28F7D01B4321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75D97D-E582-4533-960F-D65DB02CD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E31D6AA-A3FF-3A38-A14D-6BD8A13572D9}"/>
              </a:ext>
            </a:extLst>
          </p:cNvPr>
          <p:cNvSpPr/>
          <p:nvPr/>
        </p:nvSpPr>
        <p:spPr>
          <a:xfrm>
            <a:off x="247545" y="233619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한정적 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9BC82-2A9F-D3D4-EDAC-046CD817CC3C}"/>
              </a:ext>
            </a:extLst>
          </p:cNvPr>
          <p:cNvSpPr txBox="1"/>
          <p:nvPr/>
        </p:nvSpPr>
        <p:spPr>
          <a:xfrm>
            <a:off x="247545" y="2685883"/>
            <a:ext cx="8638073" cy="237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한정적 용법이란 명사를 수식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하는 것을 말합니다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보통 형용사가 명사를 수식할 때는 명사 앞에 위치합니다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 a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tall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man.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키 큰 남자이다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(tall)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(man)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앞에서 수식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하지만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부정사는 명사 뒤에서 수식합니다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have a lot of things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do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today.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오늘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해야할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일이 많다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do)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(things)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뒤에서 수식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They have an opportunity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escape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그들은 탈출할 기회가 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escape)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(opportunity)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뒤에서 수식</a:t>
            </a:r>
          </a:p>
        </p:txBody>
      </p:sp>
    </p:spTree>
    <p:extLst>
      <p:ext uri="{BB962C8B-B14F-4D97-AF65-F5344CB8AC3E}">
        <p14:creationId xmlns:p14="http://schemas.microsoft.com/office/powerpoint/2010/main" val="19197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en-US" altLang="ko-KR" dirty="0">
                <a:latin typeface="+mj-ea"/>
                <a:ea typeface="+mj-ea"/>
              </a:rPr>
              <a:t>To </a:t>
            </a:r>
            <a:r>
              <a:rPr lang="ko-KR" altLang="en-US" dirty="0">
                <a:latin typeface="+mj-ea"/>
                <a:ea typeface="+mj-ea"/>
              </a:rPr>
              <a:t>부정사 형용사적 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한정적 용법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556F97-9F01-89E3-8625-128BC89A7CFB}"/>
              </a:ext>
            </a:extLst>
          </p:cNvPr>
          <p:cNvSpPr txBox="1"/>
          <p:nvPr/>
        </p:nvSpPr>
        <p:spPr>
          <a:xfrm>
            <a:off x="247545" y="1478314"/>
            <a:ext cx="8638073" cy="2837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 has no desire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be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rich.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부자가 되고 싶은 욕망이 없다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be)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(desire)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뒤에서 수식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solidFill>
                <a:srgbClr val="65432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Yoga is a powerful tool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deal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with the stress.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요가는 스트레스를 다루는 강력한 도구이다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deal)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(tool)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뒤에서 수식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When I am travelling I always take something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read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여행을 할 때 항상 읽을거리를 가지고 간다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read)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(something)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뒤에서 수식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10 easiest recipes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cook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when you have nothing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eat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at home.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집에 먹을 것이 없을 때 요리하기 가장 쉬운 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10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가지 요리법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cook)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(recipes)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뒤에서 수식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eat)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(nothing)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뒤에서 수식</a:t>
            </a:r>
          </a:p>
        </p:txBody>
      </p:sp>
    </p:spTree>
    <p:extLst>
      <p:ext uri="{BB962C8B-B14F-4D97-AF65-F5344CB8AC3E}">
        <p14:creationId xmlns:p14="http://schemas.microsoft.com/office/powerpoint/2010/main" val="3102656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en-US" altLang="ko-KR" dirty="0">
                <a:latin typeface="+mj-ea"/>
                <a:ea typeface="+mj-ea"/>
              </a:rPr>
              <a:t>To </a:t>
            </a:r>
            <a:r>
              <a:rPr lang="ko-KR" altLang="en-US" dirty="0">
                <a:latin typeface="+mj-ea"/>
                <a:ea typeface="+mj-ea"/>
              </a:rPr>
              <a:t>부정사 형용사적 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서술적 용법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(be + to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용법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0EEE15-ED83-1196-E8AE-B164F3CC4949}"/>
              </a:ext>
            </a:extLst>
          </p:cNvPr>
          <p:cNvSpPr txBox="1"/>
          <p:nvPr/>
        </p:nvSpPr>
        <p:spPr>
          <a:xfrm>
            <a:off x="247545" y="1579547"/>
            <a:ext cx="86380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서술적 용법이란 형용사가 명사의 의미를 설명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(=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서술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해주는 용법입니다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명사의 의미를 제한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시키는 것이 아니라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 명사의 성질 혹은 성격이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어떠한지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설명해 주는 용법입니다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형용사가 서술적 용법으로 쓰일 때 문장성분은 보어가 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2D678-AFA4-F724-BEB1-C98B22931C37}"/>
              </a:ext>
            </a:extLst>
          </p:cNvPr>
          <p:cNvSpPr txBox="1"/>
          <p:nvPr/>
        </p:nvSpPr>
        <p:spPr>
          <a:xfrm>
            <a:off x="247545" y="2123870"/>
            <a:ext cx="8648910" cy="40011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명사만 가능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 또는 형용사만 가능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75CDB4-D953-74F6-DD85-CB1B7EEF6590}"/>
              </a:ext>
            </a:extLst>
          </p:cNvPr>
          <p:cNvSpPr txBox="1"/>
          <p:nvPr/>
        </p:nvSpPr>
        <p:spPr>
          <a:xfrm>
            <a:off x="247544" y="2625985"/>
            <a:ext cx="866406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My sister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pretty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 여동생은 예쁘다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(My sister)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(pretty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baby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asleep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아기가 자고 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baby)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(asleep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/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 역시 형용사처럼 쓸 수 있기에 서술적 용법이 가능합니다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This novel seems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be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interesting.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소설은 재미있을 것 같다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novel)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(seems)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be interesting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물론 위 예문에서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부정사를 명사로 볼 수도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 또한 보어 자리에 올 수 있기 때문입니다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중요한 것은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 역할이든 형용사 역할이든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 자리에 올 수 있다는 점입니다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그리고 형용사가 보어 자리에 오는 경우 동사는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동사인 경우가 많습니다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My sister is pretty.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 여동생은 예쁘다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 문장에서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~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상태이다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라는 것을 나타냅니다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~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자리에 형용사가 오는 것이죠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 여동생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(My sister)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예쁜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(pretty)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상태이다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(is).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 여동생은 예쁘다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6826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en-US" altLang="ko-KR" dirty="0">
                <a:latin typeface="+mj-ea"/>
                <a:ea typeface="+mj-ea"/>
              </a:rPr>
              <a:t>To </a:t>
            </a:r>
            <a:r>
              <a:rPr lang="ko-KR" altLang="en-US" dirty="0">
                <a:latin typeface="+mj-ea"/>
                <a:ea typeface="+mj-ea"/>
              </a:rPr>
              <a:t>부정사 형용사적 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서술적 용법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(be + to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용법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0EEE15-ED83-1196-E8AE-B164F3CC4949}"/>
              </a:ext>
            </a:extLst>
          </p:cNvPr>
          <p:cNvSpPr txBox="1"/>
          <p:nvPr/>
        </p:nvSpPr>
        <p:spPr>
          <a:xfrm>
            <a:off x="247545" y="1579547"/>
            <a:ext cx="86380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 다음에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부정사가 이어지는 것을 보통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 + to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용법이라고 하며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예정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운명 등의 의미를 가진다고 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이런식으로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단순 암기를 하면 복잡하고 기억하기도 어렵습니다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보다 아래와 같이 이해하는 방법을 추천합니다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2D678-AFA4-F724-BEB1-C98B22931C37}"/>
              </a:ext>
            </a:extLst>
          </p:cNvPr>
          <p:cNvSpPr txBox="1"/>
          <p:nvPr/>
        </p:nvSpPr>
        <p:spPr>
          <a:xfrm>
            <a:off x="247545" y="2214610"/>
            <a:ext cx="8638074" cy="26161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 다음의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부정사는 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상태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나타내는 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 역할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75CDB4-D953-74F6-DD85-CB1B7EEF6590}"/>
              </a:ext>
            </a:extLst>
          </p:cNvPr>
          <p:cNvSpPr txBox="1"/>
          <p:nvPr/>
        </p:nvSpPr>
        <p:spPr>
          <a:xfrm>
            <a:off x="247544" y="2625985"/>
            <a:ext cx="8664067" cy="209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즉 기본적으로는 형용사처럼 직역한 다음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문맥에 맞게 의역하면 굳이 예정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운명 등으로 구분해서 기억할 필요가 없습니다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They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are to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arrive here tomorrow afternoon.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그들은 내일 오후에 여기 도착할 예정이다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(are)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arrive)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상태를 나타내는 형용사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(They)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내일 오후에 여기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(here tomorrow afternoon)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도착하는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arrive)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상태이다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(are).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예정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are to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obey our parents.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우리는 우리 부모님을 따라야 한다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(are)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obey)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상태를 나타내는 형용사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우리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우리 부모님을 따르는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obey our parents)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상태이다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(are).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의무</a:t>
            </a:r>
          </a:p>
        </p:txBody>
      </p:sp>
    </p:spTree>
    <p:extLst>
      <p:ext uri="{BB962C8B-B14F-4D97-AF65-F5344CB8AC3E}">
        <p14:creationId xmlns:p14="http://schemas.microsoft.com/office/powerpoint/2010/main" val="2540789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en-US" altLang="ko-KR" dirty="0">
                <a:latin typeface="+mj-ea"/>
                <a:ea typeface="+mj-ea"/>
              </a:rPr>
              <a:t>To </a:t>
            </a:r>
            <a:r>
              <a:rPr lang="ko-KR" altLang="en-US" dirty="0">
                <a:latin typeface="+mj-ea"/>
                <a:ea typeface="+mj-ea"/>
              </a:rPr>
              <a:t>부정사 형용사적 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서술적 용법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(be + to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용법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6250E1-D3DC-3B8D-5392-8417B0480DED}"/>
              </a:ext>
            </a:extLst>
          </p:cNvPr>
          <p:cNvSpPr txBox="1"/>
          <p:nvPr/>
        </p:nvSpPr>
        <p:spPr>
          <a:xfrm>
            <a:off x="247544" y="1578965"/>
            <a:ext cx="8664067" cy="285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was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never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see her father again.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그녀의 아버지를 다시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못보게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되었다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(was)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(never to see her father again)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상태를 나타내는 형용사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결코 그녀의 아버지를 다시 볼 수 없는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(never to see her father again)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상태였다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(was).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운명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missing child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was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never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be found out in the woods. 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행방불명된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어린이는 숲에서 찾아낼 수 없었다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(was)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be found out in the woods)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상태를 나타내는 형용사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잃어버린 아이들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missing child)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결코 숲에서 찾을 수 없는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(never to be found out in the woods)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상태였다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(was).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가능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are to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be happy, you must do your best.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행복해지고 싶으면 최선을 다해야 한다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(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소망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(are)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be happy)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상태를 나타내는 형용사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당신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행복한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be happy)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상태가 되려면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(If ~ are).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의도</a:t>
            </a:r>
          </a:p>
        </p:txBody>
      </p:sp>
      <p:pic>
        <p:nvPicPr>
          <p:cNvPr id="4" name="그림 3">
            <a:hlinkClick r:id="rId3"/>
            <a:extLst>
              <a:ext uri="{FF2B5EF4-FFF2-40B4-BE49-F238E27FC236}">
                <a16:creationId xmlns:a16="http://schemas.microsoft.com/office/drawing/2014/main" id="{225EA07F-21BB-4276-9B7E-F73CB81D5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2C0069-6C89-07CC-4F68-016380192710}"/>
              </a:ext>
            </a:extLst>
          </p:cNvPr>
          <p:cNvSpPr txBox="1"/>
          <p:nvPr/>
        </p:nvSpPr>
        <p:spPr>
          <a:xfrm>
            <a:off x="6058773" y="4877653"/>
            <a:ext cx="30852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https://www.englishcube.net/grammar_view.php?category2=67</a:t>
            </a:r>
          </a:p>
        </p:txBody>
      </p:sp>
    </p:spTree>
    <p:extLst>
      <p:ext uri="{BB962C8B-B14F-4D97-AF65-F5344CB8AC3E}">
        <p14:creationId xmlns:p14="http://schemas.microsoft.com/office/powerpoint/2010/main" val="2227179461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13517</TotalTime>
  <Words>2541</Words>
  <Application>Microsoft Office PowerPoint</Application>
  <PresentationFormat>화면 슬라이드 쇼(16:9)</PresentationFormat>
  <Paragraphs>264</Paragraphs>
  <Slides>22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Wingdings</vt:lpstr>
      <vt:lpstr>Symbol</vt:lpstr>
      <vt:lpstr>Open Sans</vt:lpstr>
      <vt:lpstr>Calibri</vt:lpstr>
      <vt:lpstr>맑은 고딕</vt:lpstr>
      <vt:lpstr>HY헤드라인M</vt:lpstr>
      <vt:lpstr>Righteous</vt:lpstr>
      <vt:lpstr>Arial</vt:lpstr>
      <vt:lpstr>TOWN HALL BUSINESS PLAN</vt:lpstr>
      <vt:lpstr>외국어시험 대체  – 시사영어 </vt:lpstr>
      <vt:lpstr>Table of Contents</vt:lpstr>
      <vt:lpstr>사회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2. Word List </vt:lpstr>
      <vt:lpstr>3.1 Grammar: To 부정사 명사적 용법</vt:lpstr>
      <vt:lpstr>3.1 Grammar: To 부정사 명사적 용법</vt:lpstr>
      <vt:lpstr>3.1 Grammar: To 부정사 명사적 용법</vt:lpstr>
      <vt:lpstr>3.1 Grammar: To 부정사 명사적 용법</vt:lpstr>
      <vt:lpstr>3.2 Grammar: To 부정사 형용사적 용법</vt:lpstr>
      <vt:lpstr>3.2 Grammar: To 부정사 형용사적 용법</vt:lpstr>
      <vt:lpstr>3.2 Grammar: To 부정사 형용사적 용법</vt:lpstr>
      <vt:lpstr>3.2 Grammar: To 부정사 형용사적 용법</vt:lpstr>
      <vt:lpstr>3.2 Grammar: To 부정사 형용사적 용법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172</cp:revision>
  <dcterms:modified xsi:type="dcterms:W3CDTF">2024-01-21T11:14:06Z</dcterms:modified>
</cp:coreProperties>
</file>