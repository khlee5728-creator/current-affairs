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30"/>
  </p:notesMasterIdLst>
  <p:sldIdLst>
    <p:sldId id="256" r:id="rId2"/>
    <p:sldId id="279" r:id="rId3"/>
    <p:sldId id="261" r:id="rId4"/>
    <p:sldId id="378" r:id="rId5"/>
    <p:sldId id="369" r:id="rId6"/>
    <p:sldId id="390" r:id="rId7"/>
    <p:sldId id="391" r:id="rId8"/>
    <p:sldId id="392" r:id="rId9"/>
    <p:sldId id="393" r:id="rId10"/>
    <p:sldId id="394" r:id="rId11"/>
    <p:sldId id="395" r:id="rId12"/>
    <p:sldId id="398" r:id="rId13"/>
    <p:sldId id="399" r:id="rId14"/>
    <p:sldId id="309" r:id="rId15"/>
    <p:sldId id="376" r:id="rId16"/>
    <p:sldId id="383" r:id="rId17"/>
    <p:sldId id="400" r:id="rId18"/>
    <p:sldId id="401" r:id="rId19"/>
    <p:sldId id="402" r:id="rId20"/>
    <p:sldId id="364" r:id="rId21"/>
    <p:sldId id="389" r:id="rId22"/>
    <p:sldId id="403" r:id="rId23"/>
    <p:sldId id="404" r:id="rId24"/>
    <p:sldId id="388" r:id="rId25"/>
    <p:sldId id="385" r:id="rId26"/>
    <p:sldId id="386" r:id="rId27"/>
    <p:sldId id="407" r:id="rId28"/>
    <p:sldId id="408" r:id="rId29"/>
  </p:sldIdLst>
  <p:sldSz cx="9144000" cy="5143500" type="screen16x9"/>
  <p:notesSz cx="6797675" cy="9926638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HY헤드라인M" panose="02030600000101010101" pitchFamily="18" charset="-127"/>
      <p:regular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  <p:embeddedFont>
      <p:font typeface="Righteous" panose="020B0600000101010101" charset="0"/>
      <p:regular r:id="rId40"/>
    </p:embeddedFont>
    <p:embeddedFont>
      <p:font typeface="맑은 고딕" panose="020B0503020000020004" pitchFamily="50" charset="-127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>
      <p:cViewPr varScale="1">
        <p:scale>
          <a:sx n="72" d="100"/>
          <a:sy n="72" d="100"/>
        </p:scale>
        <p:origin x="84" y="11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5035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723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12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englishcube.net/grammar_exam.php?category2=123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대체강좌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3" name="Google Shape;1750;p54">
            <a:extLst>
              <a:ext uri="{FF2B5EF4-FFF2-40B4-BE49-F238E27FC236}">
                <a16:creationId xmlns:a16="http://schemas.microsoft.com/office/drawing/2014/main" id="{360E37D8-7847-9874-9BAD-2C40111672C8}"/>
              </a:ext>
            </a:extLst>
          </p:cNvPr>
          <p:cNvSpPr/>
          <p:nvPr/>
        </p:nvSpPr>
        <p:spPr>
          <a:xfrm>
            <a:off x="312881" y="1932020"/>
            <a:ext cx="581368" cy="581368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28010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경제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나랏돈</a:t>
            </a:r>
            <a:r>
              <a:rPr lang="en-US" altLang="ko-KR" b="1" dirty="0"/>
              <a:t>, </a:t>
            </a:r>
            <a:r>
              <a:rPr lang="ko-KR" altLang="en-US" b="1" dirty="0"/>
              <a:t>세금 </a:t>
            </a:r>
            <a:r>
              <a:rPr lang="en-US" altLang="ko-KR" b="1" dirty="0"/>
              <a:t>/ </a:t>
            </a:r>
            <a:r>
              <a:rPr lang="ko-KR" altLang="en-US" b="1" dirty="0"/>
              <a:t>청년실업 </a:t>
            </a:r>
            <a:r>
              <a:rPr lang="en-US" altLang="ko-KR" b="1" dirty="0"/>
              <a:t>/ </a:t>
            </a:r>
            <a:r>
              <a:rPr lang="ko-KR" altLang="en-US" b="1" dirty="0"/>
              <a:t>대기업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2365767" cy="89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수동태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9C055E3-4FAB-4769-A8A6-D6069692B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31" y="2039089"/>
            <a:ext cx="367230" cy="367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690677" y="793952"/>
            <a:ext cx="3555597" cy="35555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>
                <a:latin typeface="+mj-ea"/>
                <a:ea typeface="+mj-ea"/>
              </a:rPr>
              <a:t>경제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757976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나랏돈</a:t>
            </a:r>
            <a:r>
              <a:rPr lang="en-US" altLang="ko-KR" dirty="0"/>
              <a:t>, </a:t>
            </a:r>
            <a:r>
              <a:rPr lang="ko-KR" altLang="en-US" dirty="0"/>
              <a:t>세금 </a:t>
            </a:r>
            <a:r>
              <a:rPr lang="en-US" altLang="ko-KR" dirty="0"/>
              <a:t>/ </a:t>
            </a:r>
            <a:r>
              <a:rPr lang="ko-KR" altLang="en-US" dirty="0"/>
              <a:t>청년실업 </a:t>
            </a:r>
            <a:r>
              <a:rPr lang="en-US" altLang="ko-KR" dirty="0"/>
              <a:t>/ </a:t>
            </a:r>
            <a:r>
              <a:rPr lang="ko-KR" altLang="en-US" dirty="0"/>
              <a:t>대기업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03</a:t>
            </a:r>
            <a:endParaRPr lang="ko-KR" altLang="en-US" sz="4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25B6F0-1E87-4AC5-9D36-FC1DACF29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590" y="1599581"/>
            <a:ext cx="2041769" cy="20417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577613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seems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government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keeps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adding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welfare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programs,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despite the recent tax cuts.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 won’t be long before all this spending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empties out our national coffers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나랏돈을 다 탕진한다고 할 때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This spending will use up all of our nation’s money.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spending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will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empty out our national coffers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really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that more welfare without a tax hike is possible?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For the most part, yes. We can save a lot of money just by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streamlining</a:t>
                      </a:r>
                      <a:r>
                        <a:rPr lang="en-US" altLang="ko-KR" sz="1000" dirty="0"/>
                        <a:t> government expenditure.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지출을 합리화한다고 할 때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 save a lot of money just by saving government expenditure.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can save a lot of money just by streamlining government expenditure.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나랏돈</a:t>
            </a:r>
            <a:r>
              <a:rPr lang="en-US" altLang="ko-KR" sz="1600" dirty="0"/>
              <a:t>, </a:t>
            </a:r>
            <a:r>
              <a:rPr lang="ko-KR" altLang="en-US" sz="1600" dirty="0"/>
              <a:t>세금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1163DA18-3B0F-4448-B972-ABAD4BCA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048DA-1D42-DE44-9ADE-683BA226B30B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나랏돈</a:t>
            </a:r>
            <a:r>
              <a:rPr lang="en-US" altLang="ko-KR" sz="1600" dirty="0"/>
              <a:t>, </a:t>
            </a:r>
            <a:r>
              <a:rPr lang="ko-KR" altLang="en-US" sz="1600" dirty="0"/>
              <a:t>세금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30CE9DE-4A45-905E-2DEA-24AC5033B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008420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Did you hear about those useless construction projects by the government that waste taxpayers’ money?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government is diminishing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soundness</a:t>
                      </a:r>
                      <a:r>
                        <a:rPr lang="en-US" altLang="ko-KR" sz="1000" dirty="0"/>
                        <a:t> of the national budget by doing that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재무 건정성을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government is poorly managing the national budget.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government is diminishing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soundness</a:t>
                      </a:r>
                      <a:r>
                        <a:rPr lang="en-US" altLang="ko-KR" sz="1000" dirty="0"/>
                        <a:t> of the national budget.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don’t think individuals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in the highest income bracket </a:t>
                      </a:r>
                      <a:r>
                        <a:rPr lang="en-US" altLang="ko-KR" sz="1000" dirty="0"/>
                        <a:t>are paying the fair share of tax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not just those in the highest income bracket. We have tax evasion issues with people from every walk of life.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고소득층을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People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who make more money are not paying the fair share of taxes.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Individuals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in the highest income bracket </a:t>
                      </a:r>
                      <a:r>
                        <a:rPr lang="en-US" altLang="ko-KR" sz="1000" dirty="0"/>
                        <a:t>are not paying the fair share of taxes.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E6C3CB-ACFE-1C75-9E7C-FBF3A84D55A5}"/>
              </a:ext>
            </a:extLst>
          </p:cNvPr>
          <p:cNvSpPr txBox="1"/>
          <p:nvPr/>
        </p:nvSpPr>
        <p:spPr>
          <a:xfrm>
            <a:off x="443344" y="4877074"/>
            <a:ext cx="34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bracket: </a:t>
            </a:r>
            <a:r>
              <a:rPr lang="ko-KR" altLang="en-US" sz="1000" dirty="0" err="1"/>
              <a:t>꺽쇠</a:t>
            </a:r>
            <a:r>
              <a:rPr lang="ko-KR" altLang="en-US" sz="1000" dirty="0"/>
              <a:t> 괄호</a:t>
            </a:r>
            <a:r>
              <a:rPr lang="en-US" altLang="ko-KR" sz="1000" dirty="0"/>
              <a:t>[ ], </a:t>
            </a:r>
            <a:r>
              <a:rPr lang="ko-KR" altLang="en-US" sz="1000" dirty="0"/>
              <a:t>구간</a:t>
            </a:r>
          </a:p>
        </p:txBody>
      </p:sp>
    </p:spTree>
    <p:extLst>
      <p:ext uri="{BB962C8B-B14F-4D97-AF65-F5344CB8AC3E}">
        <p14:creationId xmlns:p14="http://schemas.microsoft.com/office/powerpoint/2010/main" val="424226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645466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public wants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government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improve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quality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life,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but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pay for it.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tax resistance </a:t>
                      </a:r>
                      <a:r>
                        <a:rPr lang="en-US" altLang="ko-KR" sz="1000" dirty="0"/>
                        <a:t>we see is only there because our cost of living is already so high.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조세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저항을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people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oppose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tax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increase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because our cost of living is already so high.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tax resistance </a:t>
                      </a:r>
                      <a:r>
                        <a:rPr lang="en-US" altLang="ko-KR" sz="1000" dirty="0"/>
                        <a:t>is there because our cost of living is already so high.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we reduce taxes on large corporations, they’ll be inclined to invest more in the economy.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Just because we give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tax breaks </a:t>
                      </a:r>
                      <a:r>
                        <a:rPr lang="en-US" altLang="ko-KR" sz="1000" dirty="0"/>
                        <a:t>doesn’t mean the money saved will be invested in new opportunities.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세금혜택을 준다고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cut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tax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large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corporations,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money saved will be spent elsewhere.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we give tax breaks to large corporations, the money saved will be spent elsewhere.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나랏돈</a:t>
            </a:r>
            <a:r>
              <a:rPr lang="en-US" altLang="ko-KR" sz="1600" dirty="0"/>
              <a:t>, </a:t>
            </a:r>
            <a:r>
              <a:rPr lang="ko-KR" altLang="en-US" sz="1600" dirty="0"/>
              <a:t>세금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E66BA-B9F2-F765-D16F-2CB202FD85AA}"/>
              </a:ext>
            </a:extLst>
          </p:cNvPr>
          <p:cNvSpPr txBox="1"/>
          <p:nvPr/>
        </p:nvSpPr>
        <p:spPr>
          <a:xfrm>
            <a:off x="443344" y="4877074"/>
            <a:ext cx="34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tax breaks, tax benefits, tax credits: </a:t>
            </a:r>
            <a:r>
              <a:rPr lang="ko-KR" altLang="en-US" sz="1000" dirty="0"/>
              <a:t>조세</a:t>
            </a:r>
            <a:r>
              <a:rPr lang="en-US" altLang="ko-KR" sz="1000" dirty="0"/>
              <a:t> </a:t>
            </a:r>
            <a:r>
              <a:rPr lang="ko-KR" altLang="en-US" sz="1000" dirty="0"/>
              <a:t>혜택</a:t>
            </a:r>
          </a:p>
        </p:txBody>
      </p:sp>
    </p:spTree>
    <p:extLst>
      <p:ext uri="{BB962C8B-B14F-4D97-AF65-F5344CB8AC3E}">
        <p14:creationId xmlns:p14="http://schemas.microsoft.com/office/powerpoint/2010/main" val="2511184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8807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019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unemployment rate among people in their 20s and 30s is at its highest.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jobs available for those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fresh out of college </a:t>
                      </a:r>
                      <a:r>
                        <a:rPr lang="en-US" altLang="ko-KR" sz="1000" dirty="0"/>
                        <a:t>are very limited.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대학을 갓 졸업한 구직자를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jobs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available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those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just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graduated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from college are very limited.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jobs available for those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fresh out of college </a:t>
                      </a:r>
                      <a:r>
                        <a:rPr lang="en-US" altLang="ko-KR" sz="1000" dirty="0"/>
                        <a:t>are very limited.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 young people are having trouble finding jobs, even if they’re highly skilled.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We’d better act fast, or we’ll end up having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lost generation </a:t>
                      </a:r>
                      <a:r>
                        <a:rPr lang="en-US" altLang="ko-KR" sz="1000" dirty="0"/>
                        <a:t>from all these problems.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청년실업으로 고생하는 세대를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We’ll end up having a generation suffering from unemployment.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We’ll end up having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lost generation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청년실업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8830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77153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Promoting</a:t>
                      </a:r>
                      <a:r>
                        <a:rPr lang="en-US" altLang="ko-KR" sz="1000" dirty="0"/>
                        <a:t> the growth of the service industry could be one way to create jobs for youth.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Yeah, I agree. The government should do everything it can to help bring jobs to the younger generation. 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특정 산업을 육성한다고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Helping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service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industry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grow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create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jobs.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Promoting</a:t>
                      </a:r>
                      <a:r>
                        <a:rPr lang="en-US" altLang="ko-KR" sz="1000" dirty="0"/>
                        <a:t> the growth of the service industry could be one way to create jobs.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청년실업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83D8D-E338-246D-009C-A492D7E9DF98}"/>
              </a:ext>
            </a:extLst>
          </p:cNvPr>
          <p:cNvSpPr txBox="1"/>
          <p:nvPr/>
        </p:nvSpPr>
        <p:spPr>
          <a:xfrm>
            <a:off x="443344" y="3090159"/>
            <a:ext cx="34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promote </a:t>
            </a:r>
            <a:r>
              <a:rPr lang="ko-KR" altLang="en-US" sz="1000" dirty="0"/>
              <a:t>성장</a:t>
            </a:r>
            <a:r>
              <a:rPr lang="en-US" altLang="ko-KR" sz="1000" dirty="0"/>
              <a:t>, </a:t>
            </a:r>
            <a:r>
              <a:rPr lang="ko-KR" altLang="en-US" sz="1000" dirty="0"/>
              <a:t>발전을 촉진하다 </a:t>
            </a:r>
            <a:r>
              <a:rPr lang="en-US" altLang="ko-KR" sz="1000" dirty="0"/>
              <a:t>(=encourage,</a:t>
            </a:r>
            <a:r>
              <a:rPr lang="ko-KR" altLang="en-US" sz="1000" dirty="0"/>
              <a:t> </a:t>
            </a:r>
            <a:r>
              <a:rPr lang="en-US" altLang="ko-KR" sz="1000" dirty="0"/>
              <a:t>foster)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86236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139026"/>
              </p:ext>
            </p:extLst>
          </p:nvPr>
        </p:nvGraphicFramePr>
        <p:xfrm>
          <a:off x="367145" y="1149041"/>
          <a:ext cx="8333511" cy="3759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Chaebol’s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reckless</a:t>
                      </a:r>
                      <a:r>
                        <a:rPr lang="en-US" altLang="ko-KR" sz="1000" dirty="0"/>
                        <a:t> business expansion and unfair business practices were the reasons for Korea’s financial crisis in 1997.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hope Korea’s large corporations have done away with all those old practices.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재벌의 사업 확장을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Chaebol’s careless business expansion was one of the reasons for the financial crisis.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Chaebol’s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reckless</a:t>
                      </a:r>
                      <a:r>
                        <a:rPr lang="en-US" altLang="ko-KR" sz="1000" dirty="0"/>
                        <a:t> business expansion was one of the reasons for the financial crisis.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Korean conglomerates have a very strong grip on the domestic market. I don’t think they’re ever going to fail at anything they do.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That’s why we need to open up the market to many foreign companies. The only way to break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too-big-to-fail</a:t>
                      </a:r>
                      <a:r>
                        <a:rPr lang="en-US" altLang="ko-KR" sz="1000" dirty="0"/>
                        <a:t> myth is through competition.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기업이 망하지 않을 거라고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Korean conglomerates are so big that they aren’t going to go bankrupt.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Korean conglomerates are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too big to fail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대기업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3165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47537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Why are hypermarkets closed every other Sunday in Korea?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policy was put in place to help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mom-and-pop stores </a:t>
                      </a:r>
                      <a:r>
                        <a:rPr lang="en-US" altLang="ko-KR" sz="1000" dirty="0"/>
                        <a:t>that have been hit hard by large corporate retailers.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골목상권을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Small business have been hit hard by large corporate retailers.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Mom-and-pop stores </a:t>
                      </a:r>
                      <a:r>
                        <a:rPr lang="en-US" altLang="ko-KR" sz="1000" dirty="0"/>
                        <a:t>have been hit hard by large corporate retailers.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Consumers are pledging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boycott</a:t>
                      </a:r>
                      <a:r>
                        <a:rPr lang="en-US" altLang="ko-KR" sz="1000" dirty="0"/>
                        <a:t> the company’s products following news reports that disclosed its illegal business activities.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the company deserves it. We should take this opportunity to root out such unfair business practices.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불매운동을 벌인다고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Consumers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staging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campaign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stop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buying 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company’s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products.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Consumers are pledging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boycott</a:t>
                      </a:r>
                      <a:r>
                        <a:rPr lang="en-US" altLang="ko-KR" sz="1000" dirty="0"/>
                        <a:t> the company’s products.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대기업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78509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999991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company once again resorted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strong-arm tactics </a:t>
                      </a:r>
                      <a:r>
                        <a:rPr lang="en-US" altLang="ko-KR" sz="1000" dirty="0"/>
                        <a:t>when selling its products to the franchises.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They should be punished severely this time so that similar unfair practices are never repeated.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강압적인 방식을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company once again resorted to threats or violence.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company once again resorted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strong-arm tactics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Chaebols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have their hands in</a:t>
                      </a:r>
                      <a:r>
                        <a:rPr lang="en-US" altLang="ko-KR" sz="1000" dirty="0"/>
                        <a:t> every facet of Korean society. The government should expand the scope of industries that chaebols are banned from entering.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agree. If those corner stores are all dominated by big business, those small-sized store owners will have nowhere to go.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손을 </a:t>
                      </a:r>
                      <a:r>
                        <a:rPr lang="ko-KR" altLang="en-US" sz="1000" dirty="0" err="1"/>
                        <a:t>대다라고</a:t>
                      </a:r>
                      <a:r>
                        <a:rPr lang="ko-KR" altLang="en-US" sz="1000" dirty="0"/>
                        <a:t>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Chaebols are doing business in every sector.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Chaebols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have their hands in</a:t>
                      </a:r>
                      <a:r>
                        <a:rPr lang="en-US" altLang="ko-KR" sz="1000" dirty="0"/>
                        <a:t> every sector.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대기업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23312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180608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large corporations are the reason for every problem we have in society.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you keep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demonizing</a:t>
                      </a:r>
                      <a:r>
                        <a:rPr lang="en-US" altLang="ko-KR" sz="1000" dirty="0"/>
                        <a:t> them, you’ll never be able to address the underlying issues.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지나치게 매도한다고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Stop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describing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large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corporations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negatively.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Stop demonizing large corporations.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029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been twenty years already since the 1997 financial crisis. I think Korea’s economic system has gone through fundamental change over these past years.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Well, there hasn’t seemed to be much change in the way these conglomerates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establish cozy ties </a:t>
                      </a:r>
                      <a:r>
                        <a:rPr lang="en-US" altLang="ko-KR" sz="1000" dirty="0"/>
                        <a:t>with politicians.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정경유착을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Conglomerates set up close relationship with politicians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Conglomerates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establish cozy tie </a:t>
                      </a:r>
                      <a:r>
                        <a:rPr lang="en-US" altLang="ko-KR" sz="1000" dirty="0"/>
                        <a:t>with politicians.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대기업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3C8A4-095E-EE95-1636-E06993680E57}"/>
              </a:ext>
            </a:extLst>
          </p:cNvPr>
          <p:cNvSpPr txBox="1"/>
          <p:nvPr/>
        </p:nvSpPr>
        <p:spPr>
          <a:xfrm>
            <a:off x="443344" y="4877074"/>
            <a:ext cx="34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demonize </a:t>
            </a:r>
            <a:r>
              <a:rPr lang="ko-KR" altLang="en-US" sz="1000" dirty="0"/>
              <a:t>악마로 만들다</a:t>
            </a:r>
            <a:r>
              <a:rPr lang="en-US" altLang="ko-KR" sz="1000" dirty="0"/>
              <a:t>, </a:t>
            </a:r>
            <a:r>
              <a:rPr lang="ko-KR" altLang="en-US" sz="1000" dirty="0"/>
              <a:t>악마로 묘사한다 </a:t>
            </a:r>
            <a:r>
              <a:rPr lang="en-US" altLang="ko-KR" sz="1000" dirty="0"/>
              <a:t>(= vilify)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42416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323473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What should we do to prevent bribery cases involving politicians and large business owners?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 people say we need more transparent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corporate governance </a:t>
                      </a:r>
                      <a:r>
                        <a:rPr lang="en-US" altLang="ko-KR" sz="1000" dirty="0"/>
                        <a:t>and more advanced corporate management.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투명한 기업 지배구조를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companies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directed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controlled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transparently.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 companies need more transparent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corporate governance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대기업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03634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43187A-7D06-40F6-8B80-8FBE7522F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015A774-7D96-FE36-9C2D-EA5F2BCFA8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38"/>
          <a:stretch/>
        </p:blipFill>
        <p:spPr>
          <a:xfrm>
            <a:off x="62926" y="1066592"/>
            <a:ext cx="3507051" cy="4032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6E889A-50D9-CC99-B08D-16B9557A7EA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82"/>
          <a:stretch/>
        </p:blipFill>
        <p:spPr>
          <a:xfrm>
            <a:off x="4467300" y="1087525"/>
            <a:ext cx="3524779" cy="384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4DBAC9-5369-562D-5DA7-810911A7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86D7514-78E3-D8E1-13A9-062583B5CC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25488" y="1069971"/>
            <a:ext cx="3550227" cy="39044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10A7C48-2066-5B45-3201-F1C5DACA9F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381099" y="1083931"/>
            <a:ext cx="3460414" cy="39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05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1A33316-0B67-9CDC-7002-93E707CBE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7663705-D5B7-3A37-88AF-B4A73EBDCE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35748" y="1066976"/>
            <a:ext cx="3558099" cy="33455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D49BBE-DF86-7E9E-BDC5-2E3E476D57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4727"/>
          <a:stretch/>
        </p:blipFill>
        <p:spPr>
          <a:xfrm>
            <a:off x="4450400" y="1094004"/>
            <a:ext cx="3571824" cy="351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38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1A33316-0B67-9CDC-7002-93E707CBE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4A3706-99CA-0738-E928-4B04CC9852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83167" y="1080545"/>
            <a:ext cx="3252526" cy="36997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CF2BC6B-DF5A-B7B7-F836-3686E4FC56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3197"/>
          <a:stretch/>
        </p:blipFill>
        <p:spPr>
          <a:xfrm>
            <a:off x="3716667" y="1080545"/>
            <a:ext cx="4974075" cy="374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1A33316-0B67-9CDC-7002-93E707CBE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1669538-2599-BDB9-60CB-B7819B6B2A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53140"/>
          <a:stretch/>
        </p:blipFill>
        <p:spPr>
          <a:xfrm>
            <a:off x="157488" y="1071600"/>
            <a:ext cx="3396224" cy="26512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1883C20-A7EB-12A2-7777-626F30F169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65" r="50000"/>
          <a:stretch/>
        </p:blipFill>
        <p:spPr>
          <a:xfrm>
            <a:off x="4481260" y="1095596"/>
            <a:ext cx="3396224" cy="309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66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1A33316-0B67-9CDC-7002-93E707CBE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1612203-385A-45C0-2E07-5D5C885B2B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09530" y="1100247"/>
            <a:ext cx="2678922" cy="38643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818FF9-461A-BCCC-6928-F512976F3B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460320" y="1086287"/>
            <a:ext cx="2837225" cy="386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55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879527E-6476-405E-AE2A-29A0D037C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775" y="1037915"/>
            <a:ext cx="8207836" cy="3492204"/>
          </a:xfrm>
        </p:spPr>
        <p:txBody>
          <a:bodyPr/>
          <a:lstStyle/>
          <a:p>
            <a:pPr latinLnBrk="1">
              <a:lnSpc>
                <a:spcPct val="150000"/>
              </a:lnSpc>
            </a:pPr>
            <a:r>
              <a:rPr lang="en-US" altLang="ko-KR" sz="1100" dirty="0"/>
              <a:t>It</a:t>
            </a:r>
            <a:r>
              <a:rPr lang="ko-KR" altLang="en-US" sz="1100" dirty="0"/>
              <a:t> </a:t>
            </a:r>
            <a:r>
              <a:rPr lang="en-US" altLang="ko-KR" sz="1100" dirty="0"/>
              <a:t>seems</a:t>
            </a:r>
            <a:r>
              <a:rPr lang="ko-KR" altLang="en-US" sz="1100" dirty="0"/>
              <a:t> </a:t>
            </a:r>
            <a:r>
              <a:rPr lang="en-US" altLang="ko-KR" sz="1100" dirty="0"/>
              <a:t>the</a:t>
            </a:r>
            <a:r>
              <a:rPr lang="ko-KR" altLang="en-US" sz="1100" dirty="0"/>
              <a:t> </a:t>
            </a:r>
            <a:r>
              <a:rPr lang="en-US" altLang="ko-KR" sz="1100" dirty="0"/>
              <a:t>government</a:t>
            </a:r>
            <a:r>
              <a:rPr lang="ko-KR" altLang="en-US" sz="1100" dirty="0"/>
              <a:t>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keeps</a:t>
            </a:r>
            <a:r>
              <a:rPr lang="ko-KR" altLang="en-US" sz="1100" dirty="0"/>
              <a:t>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adding</a:t>
            </a:r>
            <a:r>
              <a:rPr lang="ko-KR" altLang="en-US" sz="1100" dirty="0"/>
              <a:t> </a:t>
            </a:r>
            <a:r>
              <a:rPr lang="en-US" altLang="ko-KR" sz="1100" dirty="0"/>
              <a:t>new</a:t>
            </a:r>
            <a:r>
              <a:rPr lang="ko-KR" altLang="en-US" sz="1100" dirty="0"/>
              <a:t> </a:t>
            </a:r>
            <a:r>
              <a:rPr lang="en-US" altLang="ko-KR" sz="1100" dirty="0"/>
              <a:t>welfare</a:t>
            </a:r>
            <a:r>
              <a:rPr lang="ko-KR" altLang="en-US" sz="1100" dirty="0"/>
              <a:t> </a:t>
            </a:r>
            <a:r>
              <a:rPr lang="en-US" altLang="ko-KR" sz="1100" dirty="0"/>
              <a:t>programs,</a:t>
            </a:r>
            <a:r>
              <a:rPr lang="ko-KR" altLang="en-US" sz="1100" dirty="0"/>
              <a:t> </a:t>
            </a:r>
            <a:r>
              <a:rPr lang="en-US" altLang="ko-KR" sz="1100" dirty="0"/>
              <a:t>despite the recent tax cuts. 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This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spending</a:t>
            </a:r>
            <a:r>
              <a:rPr lang="en-US" altLang="ko-KR" sz="1100" dirty="0"/>
              <a:t> will use up all of our nation’s money. </a:t>
            </a:r>
            <a:endParaRPr lang="ko-KR" altLang="en-US" sz="1100" dirty="0"/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This</a:t>
            </a:r>
            <a:r>
              <a:rPr lang="ko-KR" altLang="en-US" sz="1100" dirty="0"/>
              <a:t>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spending</a:t>
            </a:r>
            <a:r>
              <a:rPr lang="ko-KR" altLang="en-US" sz="1100" dirty="0"/>
              <a:t> </a:t>
            </a:r>
            <a:r>
              <a:rPr lang="en-US" altLang="ko-KR" sz="1100" dirty="0"/>
              <a:t>will</a:t>
            </a:r>
            <a:r>
              <a:rPr lang="ko-KR" altLang="en-US" sz="1100" dirty="0"/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empty out our national coffers. 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We</a:t>
            </a:r>
            <a:r>
              <a:rPr lang="ko-KR" altLang="en-US" sz="1100" dirty="0"/>
              <a:t> </a:t>
            </a:r>
            <a:r>
              <a:rPr lang="en-US" altLang="ko-KR" sz="1100" dirty="0"/>
              <a:t>can save a lot of money just by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saving</a:t>
            </a:r>
            <a:r>
              <a:rPr lang="en-US" altLang="ko-KR" sz="1100" dirty="0"/>
              <a:t> government expenditure.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We can save a lot of money just by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streamlining</a:t>
            </a:r>
            <a:r>
              <a:rPr lang="en-US" altLang="ko-KR" sz="1100" dirty="0"/>
              <a:t> government expenditure.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We’ll end up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having</a:t>
            </a:r>
            <a:r>
              <a:rPr lang="en-US" altLang="ko-KR" sz="1100" dirty="0"/>
              <a:t> a generation suffering from unemployment. </a:t>
            </a:r>
            <a:endParaRPr lang="ko-KR" altLang="en-US" sz="1100" dirty="0"/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We’ll end up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having</a:t>
            </a:r>
            <a:r>
              <a:rPr lang="en-US" altLang="ko-KR" sz="1100" dirty="0">
                <a:solidFill>
                  <a:schemeClr val="tx1"/>
                </a:solidFill>
              </a:rPr>
              <a:t> a lost generation. </a:t>
            </a:r>
            <a:endParaRPr lang="ko-KR" altLang="en-US" sz="1100" dirty="0">
              <a:solidFill>
                <a:schemeClr val="tx1"/>
              </a:solidFill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Helping</a:t>
            </a:r>
            <a:r>
              <a:rPr lang="ko-KR" altLang="en-US" sz="1100" dirty="0"/>
              <a:t> </a:t>
            </a:r>
            <a:r>
              <a:rPr lang="en-US" altLang="ko-KR" sz="1100" dirty="0"/>
              <a:t>the</a:t>
            </a:r>
            <a:r>
              <a:rPr lang="ko-KR" altLang="en-US" sz="1100" dirty="0"/>
              <a:t> </a:t>
            </a:r>
            <a:r>
              <a:rPr lang="en-US" altLang="ko-KR" sz="1100" dirty="0"/>
              <a:t>service</a:t>
            </a:r>
            <a:r>
              <a:rPr lang="ko-KR" altLang="en-US" sz="1100" dirty="0"/>
              <a:t> </a:t>
            </a:r>
            <a:r>
              <a:rPr lang="en-US" altLang="ko-KR" sz="1100" dirty="0"/>
              <a:t>industry</a:t>
            </a:r>
            <a:r>
              <a:rPr lang="ko-KR" altLang="en-US" sz="1100" dirty="0"/>
              <a:t> </a:t>
            </a:r>
            <a:r>
              <a:rPr lang="en-US" altLang="ko-KR" sz="1100" dirty="0"/>
              <a:t>grow</a:t>
            </a:r>
            <a:r>
              <a:rPr lang="ko-KR" altLang="en-US" sz="1100" dirty="0"/>
              <a:t> </a:t>
            </a:r>
            <a:r>
              <a:rPr lang="en-US" altLang="ko-KR" sz="1100" dirty="0"/>
              <a:t>could</a:t>
            </a:r>
            <a:r>
              <a:rPr lang="ko-KR" altLang="en-US" sz="1100" dirty="0"/>
              <a:t> </a:t>
            </a:r>
            <a:r>
              <a:rPr lang="en-US" altLang="ko-KR" sz="1100" dirty="0"/>
              <a:t>be</a:t>
            </a:r>
            <a:r>
              <a:rPr lang="ko-KR" altLang="en-US" sz="1100" dirty="0"/>
              <a:t> </a:t>
            </a:r>
            <a:r>
              <a:rPr lang="en-US" altLang="ko-KR" sz="1100" dirty="0"/>
              <a:t>one</a:t>
            </a:r>
            <a:r>
              <a:rPr lang="ko-KR" altLang="en-US" sz="1100" dirty="0"/>
              <a:t> </a:t>
            </a:r>
            <a:r>
              <a:rPr lang="en-US" altLang="ko-KR" sz="1100" dirty="0"/>
              <a:t>way</a:t>
            </a:r>
            <a:r>
              <a:rPr lang="ko-KR" altLang="en-US" sz="1100" dirty="0"/>
              <a:t> </a:t>
            </a:r>
            <a:r>
              <a:rPr lang="en-US" altLang="ko-KR" sz="1100" dirty="0"/>
              <a:t>to</a:t>
            </a:r>
            <a:r>
              <a:rPr lang="ko-KR" altLang="en-US" sz="1100" dirty="0"/>
              <a:t> </a:t>
            </a:r>
            <a:r>
              <a:rPr lang="en-US" altLang="ko-KR" sz="1100" dirty="0"/>
              <a:t>create</a:t>
            </a:r>
            <a:r>
              <a:rPr lang="ko-KR" altLang="en-US" sz="1100" dirty="0"/>
              <a:t> </a:t>
            </a:r>
            <a:r>
              <a:rPr lang="en-US" altLang="ko-KR" sz="1100" dirty="0"/>
              <a:t>jobs.</a:t>
            </a:r>
            <a:r>
              <a:rPr lang="ko-KR" altLang="en-US" sz="1100" dirty="0"/>
              <a:t> 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Promoting </a:t>
            </a:r>
            <a:r>
              <a:rPr lang="en-US" altLang="ko-KR" sz="1100" dirty="0"/>
              <a:t>the growth of the service industry could be one way to create jobs. </a:t>
            </a:r>
            <a:endParaRPr lang="ko-KR" altLang="en-US" sz="1100" dirty="0"/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If you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keep</a:t>
            </a:r>
            <a:r>
              <a:rPr lang="en-US" altLang="ko-KR" sz="1100" dirty="0"/>
              <a:t>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demonizing</a:t>
            </a:r>
            <a:r>
              <a:rPr lang="en-US" altLang="ko-KR" sz="1100" dirty="0"/>
              <a:t> them, you’ll never be able to address the underlying issues.</a:t>
            </a:r>
            <a:endParaRPr lang="ko-KR" altLang="en-US" sz="1100" dirty="0"/>
          </a:p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Stop</a:t>
            </a:r>
            <a:r>
              <a:rPr lang="ko-KR" altLang="en-US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describing</a:t>
            </a:r>
            <a:r>
              <a:rPr lang="ko-KR" altLang="en-US" sz="1100" dirty="0"/>
              <a:t> </a:t>
            </a:r>
            <a:r>
              <a:rPr lang="en-US" altLang="ko-KR" sz="1100" dirty="0"/>
              <a:t>large</a:t>
            </a:r>
            <a:r>
              <a:rPr lang="ko-KR" altLang="en-US" sz="1100" dirty="0"/>
              <a:t> </a:t>
            </a:r>
            <a:r>
              <a:rPr lang="en-US" altLang="ko-KR" sz="1100" dirty="0"/>
              <a:t>corporations</a:t>
            </a:r>
            <a:r>
              <a:rPr lang="ko-KR" altLang="en-US" sz="1100" dirty="0"/>
              <a:t> </a:t>
            </a:r>
            <a:r>
              <a:rPr lang="en-US" altLang="ko-KR" sz="1100" dirty="0"/>
              <a:t>too</a:t>
            </a:r>
            <a:r>
              <a:rPr lang="ko-KR" altLang="en-US" sz="1100" dirty="0"/>
              <a:t> </a:t>
            </a:r>
            <a:r>
              <a:rPr lang="en-US" altLang="ko-KR" sz="1100" dirty="0"/>
              <a:t>negatively.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Stop demonizing </a:t>
            </a:r>
            <a:r>
              <a:rPr lang="en-US" altLang="ko-KR" sz="1100" dirty="0"/>
              <a:t>large corporations.</a:t>
            </a:r>
            <a:endParaRPr lang="ko-KR" altLang="en-US" sz="1100" dirty="0"/>
          </a:p>
          <a:p>
            <a:pPr latinLnBrk="1">
              <a:lnSpc>
                <a:spcPct val="150000"/>
              </a:lnSpc>
            </a:pPr>
            <a:endParaRPr lang="ko-KR" altLang="en-US" sz="1100" dirty="0"/>
          </a:p>
          <a:p>
            <a:pPr latinLnBrk="1">
              <a:lnSpc>
                <a:spcPct val="150000"/>
              </a:lnSpc>
            </a:pPr>
            <a:endParaRPr lang="ko-KR" altLang="en-US" sz="1100" dirty="0"/>
          </a:p>
          <a:p>
            <a:pPr latinLnBrk="1">
              <a:lnSpc>
                <a:spcPct val="150000"/>
              </a:lnSpc>
            </a:pPr>
            <a:endParaRPr lang="en-US" altLang="ko-KR" sz="1100" dirty="0"/>
          </a:p>
          <a:p>
            <a:pPr latinLnBrk="1">
              <a:lnSpc>
                <a:spcPct val="150000"/>
              </a:lnSpc>
            </a:pPr>
            <a:endParaRPr lang="ko-KR" altLang="en-US" sz="1100" dirty="0"/>
          </a:p>
          <a:p>
            <a:pPr latinLnBrk="1">
              <a:lnSpc>
                <a:spcPct val="150000"/>
              </a:lnSpc>
            </a:pPr>
            <a:endParaRPr lang="en-US" altLang="ko-KR" sz="1100" dirty="0"/>
          </a:p>
          <a:p>
            <a:pPr latinLnBrk="1">
              <a:lnSpc>
                <a:spcPct val="150000"/>
              </a:lnSpc>
            </a:pPr>
            <a:endParaRPr lang="ko-KR" alt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100" dirty="0"/>
          </a:p>
          <a:p>
            <a:pPr marL="0" indent="0">
              <a:lnSpc>
                <a:spcPct val="150000"/>
              </a:lnSpc>
              <a:buNone/>
            </a:pPr>
            <a:endParaRPr lang="ko-KR" altLang="en-US" sz="11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동명사</a:t>
            </a:r>
          </a:p>
        </p:txBody>
      </p:sp>
    </p:spTree>
    <p:extLst>
      <p:ext uri="{BB962C8B-B14F-4D97-AF65-F5344CB8AC3E}">
        <p14:creationId xmlns:p14="http://schemas.microsoft.com/office/powerpoint/2010/main" val="3328899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동명사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동명사의 역할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51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(1)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Running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is the easiest way to lose weight.</a:t>
            </a:r>
          </a:p>
          <a:p>
            <a:pPr algn="l">
              <a:lnSpc>
                <a:spcPct val="200000"/>
              </a:lnSpc>
            </a:pP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달리기는 살을 빼는 가장 손쉬운 방법이다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(Running)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easiest way)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lose weight)</a:t>
            </a:r>
          </a:p>
          <a:p>
            <a:pPr algn="l">
              <a:lnSpc>
                <a:spcPct val="200000"/>
              </a:lnSpc>
            </a:pPr>
            <a:endParaRPr lang="en-US" altLang="ko-KR" sz="10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Writing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 novel was one of my life goals.</a:t>
            </a:r>
            <a:b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</a:b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소설을 쓰는 것은 내 인생 목표 중 하나였다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(Writing a novel)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(one of my life goals)</a:t>
            </a:r>
          </a:p>
        </p:txBody>
      </p:sp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동명사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동명사의 역할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418349"/>
            <a:ext cx="8664066" cy="3529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(2)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like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fishing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and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hunting</a:t>
            </a:r>
            <a:r>
              <a:rPr lang="en-US" altLang="ko-KR" sz="1000" dirty="0">
                <a:solidFill>
                  <a:srgbClr val="65432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낚시와 사냥을 좋아한다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(like) +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(fishing and hunting)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 enjoys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cooking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dinner for her family.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가족을 위해 저녁을 요리하는 것을 즐긴다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(enjoys) +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(cooking dinner)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(for her family)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부정사는 동사의 목적어만 가능하지만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동명사는 동사 뿐 아니라 전치사의 목적어도 가능합니다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 good at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singing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노래를 잘한다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(good)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(at singing)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전치사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(at) +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전치사의 목적어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(singing)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 left without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saying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goodbye.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작별 인사도 없이 떠났다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(left) +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(without saying goodbye)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전치사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(without) +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전치사의 목적어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(saying goodbye)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648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동명사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동명사의 역할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14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(3)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My hobby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listening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to music. </a:t>
            </a:r>
            <a:b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</a:b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 취미는 음악 감상이다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(My hobby)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(listening to music)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One of his responsibilities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attending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meetings​.</a:t>
            </a:r>
            <a:b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</a:b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그의 책임 중 하나는 회의에 참석하는 것이다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(One of his responsibilities)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(attending meetings)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B1D202-C1A4-417A-A556-E3BF373CBBA4}"/>
              </a:ext>
            </a:extLst>
          </p:cNvPr>
          <p:cNvSpPr/>
          <p:nvPr/>
        </p:nvSpPr>
        <p:spPr>
          <a:xfrm>
            <a:off x="6019799" y="4928056"/>
            <a:ext cx="317502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https://www.englishcube.net/grammar_exam.php?category2=41</a:t>
            </a:r>
          </a:p>
        </p:txBody>
      </p:sp>
    </p:spTree>
    <p:extLst>
      <p:ext uri="{BB962C8B-B14F-4D97-AF65-F5344CB8AC3E}">
        <p14:creationId xmlns:p14="http://schemas.microsoft.com/office/powerpoint/2010/main" val="3611426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동명사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3668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동명사의 특성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4C4CE-D9AA-D23B-3BBF-0B1969EA7FF7}"/>
              </a:ext>
            </a:extLst>
          </p:cNvPr>
          <p:cNvSpPr txBox="1"/>
          <p:nvPr/>
        </p:nvSpPr>
        <p:spPr>
          <a:xfrm>
            <a:off x="247545" y="1613789"/>
            <a:ext cx="8664066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(1)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동명사는 명사 역할을 하지만 명사와 달리 동사처럼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목적어와 보어를 취할 수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like reading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 detective story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탐정 소설 읽는 것을 좋아해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(like)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(reading a detective story)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(reading a detective story):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(reading) +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동명사의 목적어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 detective story)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Being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 nurse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is very rewarding.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간호사가 되는 것은 매우 보람 있는 일이다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(Being a nurse)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(very rewarding)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(Being a nurse):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(Being) +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동명사의 보어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 nurse)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(2)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명사는 부사의 수식을 받지 못하지만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동명사는 동사의 성격이 있기 때문에 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부사의 수식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받을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Running slowly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is the best way to build endurance, which you need to run long distances.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</a:p>
          <a:p>
            <a:pPr algn="l"/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천천히 달리는 것은 장거리를 달리는 데 필요한 지구력을 기르는 가장 좋은 방법이다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(Running slowly)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best way to build endurance)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(Running) +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 수식 부사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(slowly)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 will get back to you after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carefully reviewing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your proposal.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당신의 제안을 신중하게 검토한 후 다시 연락 드리겠습니다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(will get back)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you) 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(after carefully reviewing your proposal)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 수식 부사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(carefully)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+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(reviewing)</a:t>
            </a:r>
          </a:p>
          <a:p>
            <a:pPr algn="l"/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hlinkClick r:id="rId3"/>
            <a:extLst>
              <a:ext uri="{FF2B5EF4-FFF2-40B4-BE49-F238E27FC236}">
                <a16:creationId xmlns:a16="http://schemas.microsoft.com/office/drawing/2014/main" id="{4C1BF83F-9F1B-7AB0-867F-9718B1285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030" y="4512912"/>
            <a:ext cx="1511939" cy="438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39D105-A898-720F-C204-44EB39914FB8}"/>
              </a:ext>
            </a:extLst>
          </p:cNvPr>
          <p:cNvSpPr txBox="1"/>
          <p:nvPr/>
        </p:nvSpPr>
        <p:spPr>
          <a:xfrm>
            <a:off x="6002932" y="4928056"/>
            <a:ext cx="314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https://www.englishcube.net/grammar_exam.php?category2=122</a:t>
            </a:r>
          </a:p>
        </p:txBody>
      </p:sp>
    </p:spTree>
    <p:extLst>
      <p:ext uri="{BB962C8B-B14F-4D97-AF65-F5344CB8AC3E}">
        <p14:creationId xmlns:p14="http://schemas.microsoft.com/office/powerpoint/2010/main" val="3552313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동명사와 </a:t>
            </a:r>
            <a:r>
              <a:rPr lang="en-US" altLang="ko-KR" dirty="0">
                <a:latin typeface="+mj-ea"/>
                <a:ea typeface="+mj-ea"/>
              </a:rPr>
              <a:t>To</a:t>
            </a:r>
            <a:r>
              <a:rPr lang="ko-KR" altLang="en-US" dirty="0">
                <a:latin typeface="+mj-ea"/>
                <a:ea typeface="+mj-ea"/>
              </a:rPr>
              <a:t>부정사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2120877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동명사와 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to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부정사의 의미상 차이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82ADB-2C9A-D8F1-ABC7-83C5133DADD3}"/>
              </a:ext>
            </a:extLst>
          </p:cNvPr>
          <p:cNvSpPr txBox="1"/>
          <p:nvPr/>
        </p:nvSpPr>
        <p:spPr>
          <a:xfrm>
            <a:off x="247545" y="2630782"/>
            <a:ext cx="866406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일반적으로 미래의 일이나 구체적인 행위를 표현할 때는 부정사를 사용하고 과거의 일이나 일상적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반복적인 일에는 동명사를 사용합니다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 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en-US" altLang="ko-KR" sz="1000" b="1" i="0" dirty="0" err="1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ing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명사처럼 사용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반복적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: 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+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명사처럼 사용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미래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구체적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(1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회적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/>
            <a:endParaRPr lang="en-US" altLang="ko-KR" sz="10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sell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my old car was hard. 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나의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헌차를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팔기가 어려웠다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나의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헌차를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파는 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구체적인 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1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회적인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sell )</a:t>
            </a:r>
          </a:p>
          <a:p>
            <a:pPr algn="l"/>
            <a:endParaRPr lang="en-US" altLang="ko-KR" sz="10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Selling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insurance is hard work.  </a:t>
            </a:r>
            <a:r>
              <a:rPr lang="ko-KR" altLang="en-US" sz="10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보험을 파는 것은 어려운 일이다</a:t>
            </a:r>
            <a:r>
              <a:rPr lang="en-US" altLang="ko-KR" sz="10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보험을 파는 일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반복적인 일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(Selling)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My wish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transfer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Korea University.  </a:t>
            </a:r>
            <a:r>
              <a:rPr lang="ko-KR" altLang="en-US" sz="10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 소망은 고려대로 편입하는 것이다</a:t>
            </a:r>
            <a:r>
              <a:rPr lang="en-US" altLang="ko-KR" sz="1000" b="0" i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편입하는 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구체적인 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1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회적인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일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transfer)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Her hobby is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collecting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foreign coins.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그녀의 취미는 외국 동전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모으기이다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동전 모으기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반복적인 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(collecting)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30A53-4F57-36E3-B4D2-30F521A55013}"/>
              </a:ext>
            </a:extLst>
          </p:cNvPr>
          <p:cNvSpPr txBox="1"/>
          <p:nvPr/>
        </p:nvSpPr>
        <p:spPr>
          <a:xfrm>
            <a:off x="335048" y="952602"/>
            <a:ext cx="8208658" cy="99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동명사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 </a:t>
            </a:r>
            <a:r>
              <a:rPr lang="ko-KR" altLang="en-US" sz="1000" b="0" i="0" strike="sngStrike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</a:t>
            </a:r>
            <a:r>
              <a:rPr lang="en-US" altLang="ko-KR" sz="1000" b="0" i="0" strike="sngStrike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strike="sngStrike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부정사와 동명사의 공통점은 둘 다 명사 역할을 할 수 있다는 점입니다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like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cook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= I like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cooking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요리하는 것을 좋아한다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8941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동명사와 </a:t>
            </a:r>
            <a:r>
              <a:rPr lang="en-US" altLang="ko-KR" dirty="0">
                <a:latin typeface="+mj-ea"/>
                <a:ea typeface="+mj-ea"/>
              </a:rPr>
              <a:t>To</a:t>
            </a:r>
            <a:r>
              <a:rPr lang="ko-KR" altLang="en-US" dirty="0">
                <a:latin typeface="+mj-ea"/>
                <a:ea typeface="+mj-ea"/>
              </a:rPr>
              <a:t>부정사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3668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동사의 목적어로 사용되는 경우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82ADB-2C9A-D8F1-ABC7-83C5133DADD3}"/>
              </a:ext>
            </a:extLst>
          </p:cNvPr>
          <p:cNvSpPr txBox="1"/>
          <p:nvPr/>
        </p:nvSpPr>
        <p:spPr>
          <a:xfrm>
            <a:off x="247545" y="1646585"/>
            <a:ext cx="8664066" cy="285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부정사와 동명사는 명사 역할을 할 수 있으므로 당연히 목적어로 가능합니다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하지만 모든 동사가 이 둘을 목적어로 다 사용하지는 않습니다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 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동사에 따라서 둘 중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부정사만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또는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동명사만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목적어로 취하는 동사도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둘 다 가능한 경우도 있고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이때 의미가 달라지는 경우도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즉 아래와 같이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가지 경우로 정리할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(1) to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부정사만 가능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동명사만 가능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둘 다 가능</a:t>
            </a:r>
            <a:endParaRPr lang="en-US" altLang="ko-KR" sz="1100" b="0" i="0" dirty="0">
              <a:solidFill>
                <a:srgbClr val="333333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의미가 동일</a:t>
            </a:r>
            <a:endParaRPr lang="en-US" altLang="ko-KR" sz="1100" b="0" i="0" dirty="0">
              <a:solidFill>
                <a:srgbClr val="333333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의미가 다름</a:t>
            </a:r>
          </a:p>
        </p:txBody>
      </p:sp>
    </p:spTree>
    <p:extLst>
      <p:ext uri="{BB962C8B-B14F-4D97-AF65-F5344CB8AC3E}">
        <p14:creationId xmlns:p14="http://schemas.microsoft.com/office/powerpoint/2010/main" val="240401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동명사와 </a:t>
            </a:r>
            <a:r>
              <a:rPr lang="en-US" altLang="ko-KR" dirty="0">
                <a:latin typeface="+mj-ea"/>
                <a:ea typeface="+mj-ea"/>
              </a:rPr>
              <a:t>To</a:t>
            </a:r>
            <a:r>
              <a:rPr lang="ko-KR" altLang="en-US" dirty="0">
                <a:latin typeface="+mj-ea"/>
                <a:ea typeface="+mj-ea"/>
              </a:rPr>
              <a:t>부정사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3668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동명사만 목적어로 취할 수 있는 동사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176EE-4426-66E3-48FD-EC912E9CFFFD}"/>
              </a:ext>
            </a:extLst>
          </p:cNvPr>
          <p:cNvSpPr txBox="1"/>
          <p:nvPr/>
        </p:nvSpPr>
        <p:spPr>
          <a:xfrm>
            <a:off x="202078" y="1608863"/>
            <a:ext cx="8512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admit(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인정하다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avoid(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피하다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deny(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부인하다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dislike(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싫어하다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enjoy(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즐기다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finish(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끝내다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give up(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포기하다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keep(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계속 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~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하다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mind(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꺼리다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 recommend(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추천하다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 suggest(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제안하다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stop(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멈추다</a:t>
            </a:r>
            <a:r>
              <a:rPr lang="en-US" altLang="ko-KR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등</a:t>
            </a:r>
            <a:endParaRPr lang="ko-KR" altLang="en-US" sz="1000" b="0" i="0" dirty="0">
              <a:solidFill>
                <a:schemeClr val="accent5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 동사들은 주로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소극적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과거지향적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반복적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인 의미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가지고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admits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having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done it himself. 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자신이 직접 그것을 했다는 것을 인정한다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(admits)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(having done it himself)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could not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avoid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saying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so.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그렇게 말하지 않을 수 없었다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(could not avoid)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(saying so)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denied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having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been there at the time.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당시 그곳에 있었다는 사실을 부인했다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(denied)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(having been there at the time)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dislike wasting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my time on trivial matters.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사소한 일에 시간을 낭비하는 것을 싫어한다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(dislike)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(wasting my time)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(on trivial matters)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enjoys playing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squash with her husband.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남편과 스쿼시를 즐긴다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(enjoys)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(playing squash with her husband)</a:t>
            </a:r>
          </a:p>
        </p:txBody>
      </p:sp>
    </p:spTree>
    <p:extLst>
      <p:ext uri="{BB962C8B-B14F-4D97-AF65-F5344CB8AC3E}">
        <p14:creationId xmlns:p14="http://schemas.microsoft.com/office/powerpoint/2010/main" val="1695424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동명사와 </a:t>
            </a:r>
            <a:r>
              <a:rPr lang="en-US" altLang="ko-KR" dirty="0">
                <a:latin typeface="+mj-ea"/>
                <a:ea typeface="+mj-ea"/>
              </a:rPr>
              <a:t>To</a:t>
            </a:r>
            <a:r>
              <a:rPr lang="ko-KR" altLang="en-US" dirty="0">
                <a:latin typeface="+mj-ea"/>
                <a:ea typeface="+mj-ea"/>
              </a:rPr>
              <a:t>부정사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36680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동명사만 목적어로 취할 수 있는 동사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176EE-4426-66E3-48FD-EC912E9CFFFD}"/>
              </a:ext>
            </a:extLst>
          </p:cNvPr>
          <p:cNvSpPr txBox="1"/>
          <p:nvPr/>
        </p:nvSpPr>
        <p:spPr>
          <a:xfrm>
            <a:off x="202078" y="1608863"/>
            <a:ext cx="851250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finished doing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his homework.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숙제를 끝냈다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(finished)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(doing his homework)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investment bank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has given up trying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to find a buyer.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투자 은행은 구매자를 찾는 것을 포기했다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investment bank)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(has given up)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(trying to find a buyer)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suggested going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for a walk in the park before dinner.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저녁 식사 전에 공원에 산책 가자고 제안했다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(suggested)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(going for a walk ) 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(in the park before dinner)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Please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stop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calling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me. 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나한테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전화하는 걸 중단해 주세요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(stop)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(calling me)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bus stopped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pick up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the children.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버스는 아이들을 태우기 위해 멈췄다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bus)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(stopped)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 pick up the children)</a:t>
            </a: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stop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다음의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부정사는 목적어가 아닌 수식어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23" name="그림 22">
            <a:hlinkClick r:id="rId2"/>
            <a:extLst>
              <a:ext uri="{FF2B5EF4-FFF2-40B4-BE49-F238E27FC236}">
                <a16:creationId xmlns:a16="http://schemas.microsoft.com/office/drawing/2014/main" id="{53EA1F05-B20D-236F-2141-95E630BC6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362" y="4468453"/>
            <a:ext cx="1511939" cy="438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A59EF1-CEB4-E3A0-6C4C-4C2A6F472B34}"/>
              </a:ext>
            </a:extLst>
          </p:cNvPr>
          <p:cNvSpPr txBox="1"/>
          <p:nvPr/>
        </p:nvSpPr>
        <p:spPr>
          <a:xfrm>
            <a:off x="5922659" y="4907403"/>
            <a:ext cx="3144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https://www.englishcube.net/grammar_exam.php?category2=123</a:t>
            </a:r>
          </a:p>
        </p:txBody>
      </p:sp>
    </p:spTree>
    <p:extLst>
      <p:ext uri="{BB962C8B-B14F-4D97-AF65-F5344CB8AC3E}">
        <p14:creationId xmlns:p14="http://schemas.microsoft.com/office/powerpoint/2010/main" val="3348805875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6220</TotalTime>
  <Words>2954</Words>
  <Application>Microsoft Office PowerPoint</Application>
  <PresentationFormat>화면 슬라이드 쇼(16:9)</PresentationFormat>
  <Paragraphs>367</Paragraphs>
  <Slides>28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HY헤드라인M</vt:lpstr>
      <vt:lpstr>Arial</vt:lpstr>
      <vt:lpstr>Wingdings</vt:lpstr>
      <vt:lpstr>Calibri</vt:lpstr>
      <vt:lpstr>Open Sans</vt:lpstr>
      <vt:lpstr>맑은 고딕</vt:lpstr>
      <vt:lpstr>Righteous</vt:lpstr>
      <vt:lpstr>TOWN HALL BUSINESS PLAN</vt:lpstr>
      <vt:lpstr>외국어시험 대체강좌 – 시사영어 </vt:lpstr>
      <vt:lpstr>Table of Contents</vt:lpstr>
      <vt:lpstr>경제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2. Word List </vt:lpstr>
      <vt:lpstr>2. Word List </vt:lpstr>
      <vt:lpstr>2. Word List </vt:lpstr>
      <vt:lpstr>3. Grammar: 동명사</vt:lpstr>
      <vt:lpstr>3. Grammar: 동명사</vt:lpstr>
      <vt:lpstr>3. Grammar: 동명사</vt:lpstr>
      <vt:lpstr>3. Grammar: 동명사</vt:lpstr>
      <vt:lpstr>3. Grammar: 동명사</vt:lpstr>
      <vt:lpstr>3. Grammar: 동명사와 To부정사</vt:lpstr>
      <vt:lpstr>3. Grammar: 동명사와 To부정사</vt:lpstr>
      <vt:lpstr>3. Grammar: 동명사와 To부정사</vt:lpstr>
      <vt:lpstr>3. Grammar: 동명사와 To부정사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91</cp:revision>
  <dcterms:modified xsi:type="dcterms:W3CDTF">2024-01-02T08:23:13Z</dcterms:modified>
</cp:coreProperties>
</file>