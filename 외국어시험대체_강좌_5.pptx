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31"/>
  </p:notesMasterIdLst>
  <p:sldIdLst>
    <p:sldId id="256" r:id="rId2"/>
    <p:sldId id="279" r:id="rId3"/>
    <p:sldId id="261" r:id="rId4"/>
    <p:sldId id="378" r:id="rId5"/>
    <p:sldId id="390" r:id="rId6"/>
    <p:sldId id="420" r:id="rId7"/>
    <p:sldId id="421" r:id="rId8"/>
    <p:sldId id="422" r:id="rId9"/>
    <p:sldId id="393" r:id="rId10"/>
    <p:sldId id="394" r:id="rId11"/>
    <p:sldId id="395" r:id="rId12"/>
    <p:sldId id="309" r:id="rId13"/>
    <p:sldId id="376" r:id="rId14"/>
    <p:sldId id="409" r:id="rId15"/>
    <p:sldId id="433" r:id="rId16"/>
    <p:sldId id="434" r:id="rId17"/>
    <p:sldId id="389" r:id="rId18"/>
    <p:sldId id="412" r:id="rId19"/>
    <p:sldId id="423" r:id="rId20"/>
    <p:sldId id="424" r:id="rId21"/>
    <p:sldId id="425" r:id="rId22"/>
    <p:sldId id="426" r:id="rId23"/>
    <p:sldId id="413" r:id="rId24"/>
    <p:sldId id="427" r:id="rId25"/>
    <p:sldId id="428" r:id="rId26"/>
    <p:sldId id="429" r:id="rId27"/>
    <p:sldId id="430" r:id="rId28"/>
    <p:sldId id="431" r:id="rId29"/>
    <p:sldId id="432" r:id="rId30"/>
  </p:sldIdLst>
  <p:sldSz cx="9144000" cy="5143500" type="screen16x9"/>
  <p:notesSz cx="6797675" cy="9926638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HY헤드라인M" panose="02030600000101010101" pitchFamily="18" charset="-127"/>
      <p:regular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  <p:embeddedFont>
      <p:font typeface="Righteous" panose="020B0600000101010101" charset="0"/>
      <p:regular r:id="rId41"/>
    </p:embeddedFont>
    <p:embeddedFont>
      <p:font typeface="맑은 고딕" panose="020B0503020000020004" pitchFamily="50" charset="-127"/>
      <p:regular r:id="rId42"/>
      <p:bold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CAE"/>
    <a:srgbClr val="A3CAF7"/>
    <a:srgbClr val="F8C379"/>
    <a:srgbClr val="663D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A76DC9-9F1E-41F9-AC6C-C94DD4396BF5}">
  <a:tblStyle styleId="{EAA76DC9-9F1E-41F9-AC6C-C94DD4396B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2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" y="12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p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6b628f12ae_0_15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6b628f12ae_0_1581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70bcfaa05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70bcfaa05b_0_508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149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26300" y="1288975"/>
            <a:ext cx="58914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23850" y="1953225"/>
            <a:ext cx="54963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8775" y="-20375"/>
            <a:ext cx="2771700" cy="51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176992" y="2560534"/>
            <a:ext cx="353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1176992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76992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TWO_COLUMNS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601ED383-4240-451C-AF24-F5BEBCACFF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0B2C87-6623-7087-CBE0-7109EC4CC4FE}"/>
              </a:ext>
            </a:extLst>
          </p:cNvPr>
          <p:cNvSpPr/>
          <p:nvPr userDrawn="1"/>
        </p:nvSpPr>
        <p:spPr>
          <a:xfrm>
            <a:off x="3758472" y="1320077"/>
            <a:ext cx="5159468" cy="2902423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FA2A9844-F7AA-4437-8D4C-790546ED92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92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6856800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E15FA631-D0C2-45C4-B074-C5C35779E8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31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SECTION_HEADER_1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-13350" y="1853400"/>
            <a:ext cx="9170700" cy="334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1165031" y="2560525"/>
            <a:ext cx="4387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48" name="Google Shape;148;p23"/>
          <p:cNvSpPr txBox="1">
            <a:spLocks noGrp="1"/>
          </p:cNvSpPr>
          <p:nvPr>
            <p:ph type="title" idx="2" hasCustomPrompt="1"/>
          </p:nvPr>
        </p:nvSpPr>
        <p:spPr>
          <a:xfrm>
            <a:off x="1165031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"/>
          </p:nvPr>
        </p:nvSpPr>
        <p:spPr>
          <a:xfrm>
            <a:off x="1165031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ighteous"/>
              <a:buNone/>
              <a:defRPr sz="28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Open Sans"/>
              <a:buChar char="●"/>
              <a:defRPr sz="18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80" r:id="rId4"/>
    <p:sldLayoutId id="2147483679" r:id="rId5"/>
    <p:sldLayoutId id="214748366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ea"/>
          <a:ea typeface="+mn-ea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exam.php?category2=153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exam.php?category2=200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exam.php?category2=15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ctrTitle"/>
          </p:nvPr>
        </p:nvSpPr>
        <p:spPr>
          <a:xfrm>
            <a:off x="783925" y="1288975"/>
            <a:ext cx="75762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외국어시험 대체 강좌</a:t>
            </a:r>
            <a:r>
              <a:rPr lang="en-US" altLang="ko-KR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– </a:t>
            </a: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시사영어 </a:t>
            </a:r>
            <a:endParaRPr sz="3200" b="1" dirty="0">
              <a:solidFill>
                <a:srgbClr val="A3CAF7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6" name="Google Shape;356;p32"/>
          <p:cNvSpPr txBox="1">
            <a:spLocks noGrp="1"/>
          </p:cNvSpPr>
          <p:nvPr>
            <p:ph type="subTitle" idx="1"/>
          </p:nvPr>
        </p:nvSpPr>
        <p:spPr>
          <a:xfrm>
            <a:off x="1639637" y="2081574"/>
            <a:ext cx="5496300" cy="980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Current English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55"/>
          <p:cNvSpPr txBox="1">
            <a:spLocks noGrp="1"/>
          </p:cNvSpPr>
          <p:nvPr>
            <p:ph type="title" idx="2"/>
          </p:nvPr>
        </p:nvSpPr>
        <p:spPr>
          <a:xfrm>
            <a:off x="338557" y="945225"/>
            <a:ext cx="4559285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Table of Contents</a:t>
            </a:r>
            <a:endParaRPr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960D9-03BA-60D3-95A2-F3D5083B510D}"/>
              </a:ext>
            </a:extLst>
          </p:cNvPr>
          <p:cNvSpPr txBox="1"/>
          <p:nvPr/>
        </p:nvSpPr>
        <p:spPr>
          <a:xfrm>
            <a:off x="905047" y="1940420"/>
            <a:ext cx="4748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정치 외교</a:t>
            </a:r>
            <a:endParaRPr lang="en-US" altLang="ko-KR" sz="16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ko-KR" altLang="en-US" b="1" dirty="0"/>
              <a:t>부정부패</a:t>
            </a:r>
            <a:r>
              <a:rPr lang="en-US" altLang="ko-KR" b="1" dirty="0"/>
              <a:t>/ </a:t>
            </a:r>
            <a:r>
              <a:rPr lang="ko-KR" altLang="en-US" b="1" dirty="0"/>
              <a:t>현실정치 </a:t>
            </a:r>
            <a:r>
              <a:rPr lang="en-US" altLang="ko-KR" b="1" dirty="0"/>
              <a:t>/ </a:t>
            </a:r>
            <a:r>
              <a:rPr lang="ko-KR" altLang="en-US" b="1" dirty="0"/>
              <a:t>남북관계</a:t>
            </a:r>
            <a:r>
              <a:rPr lang="en-US" altLang="ko-KR" b="1" dirty="0"/>
              <a:t>, </a:t>
            </a:r>
            <a:r>
              <a:rPr lang="ko-KR" altLang="en-US" b="1" dirty="0"/>
              <a:t>북한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3B164-1416-E22A-B07D-4ECB67E734D7}"/>
              </a:ext>
            </a:extLst>
          </p:cNvPr>
          <p:cNvSpPr txBox="1"/>
          <p:nvPr/>
        </p:nvSpPr>
        <p:spPr>
          <a:xfrm>
            <a:off x="292156" y="2517335"/>
            <a:ext cx="4089070" cy="172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Expressions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Word List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Grammar: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3.1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문장 성분과 품사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3.2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문장 성분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3.3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품사를 알면 문장구조가 보인다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FF67903-1780-4677-B503-79E03CBE74B0}"/>
              </a:ext>
            </a:extLst>
          </p:cNvPr>
          <p:cNvGrpSpPr/>
          <p:nvPr/>
        </p:nvGrpSpPr>
        <p:grpSpPr>
          <a:xfrm>
            <a:off x="211075" y="1897666"/>
            <a:ext cx="639505" cy="639505"/>
            <a:chOff x="8343693" y="377904"/>
            <a:chExt cx="639505" cy="639505"/>
          </a:xfrm>
        </p:grpSpPr>
        <p:sp>
          <p:nvSpPr>
            <p:cNvPr id="9" name="Google Shape;1750;p54">
              <a:extLst>
                <a:ext uri="{FF2B5EF4-FFF2-40B4-BE49-F238E27FC236}">
                  <a16:creationId xmlns:a16="http://schemas.microsoft.com/office/drawing/2014/main" id="{F4A99721-B933-49C0-A7D7-C66E2C6BD1BF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rgbClr val="FDDC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8A518E3-1A49-4116-A41E-338E20EF7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750;p54">
            <a:extLst>
              <a:ext uri="{FF2B5EF4-FFF2-40B4-BE49-F238E27FC236}">
                <a16:creationId xmlns:a16="http://schemas.microsoft.com/office/drawing/2014/main" id="{B59FF772-E584-79B9-ECAB-9369D6249537}"/>
              </a:ext>
            </a:extLst>
          </p:cNvPr>
          <p:cNvSpPr/>
          <p:nvPr/>
        </p:nvSpPr>
        <p:spPr>
          <a:xfrm>
            <a:off x="4999220" y="1102495"/>
            <a:ext cx="2938510" cy="293851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7"/>
          <p:cNvSpPr txBox="1">
            <a:spLocks noGrp="1"/>
          </p:cNvSpPr>
          <p:nvPr>
            <p:ph type="title"/>
          </p:nvPr>
        </p:nvSpPr>
        <p:spPr>
          <a:xfrm>
            <a:off x="1177000" y="2560525"/>
            <a:ext cx="387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정치 외교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730" name="Google Shape;730;p37"/>
          <p:cNvSpPr txBox="1">
            <a:spLocks noGrp="1"/>
          </p:cNvSpPr>
          <p:nvPr>
            <p:ph type="subTitle" idx="1"/>
          </p:nvPr>
        </p:nvSpPr>
        <p:spPr>
          <a:xfrm>
            <a:off x="132623" y="3591825"/>
            <a:ext cx="4802345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부정부패</a:t>
            </a:r>
            <a:r>
              <a:rPr lang="en-US" altLang="ko-KR" dirty="0"/>
              <a:t>/ </a:t>
            </a:r>
            <a:r>
              <a:rPr lang="ko-KR" altLang="en-US" dirty="0"/>
              <a:t>현실정치 </a:t>
            </a:r>
            <a:r>
              <a:rPr lang="en-US" altLang="ko-KR" dirty="0"/>
              <a:t>/ </a:t>
            </a:r>
            <a:r>
              <a:rPr lang="ko-KR" altLang="en-US" dirty="0"/>
              <a:t>남북관계</a:t>
            </a:r>
            <a:r>
              <a:rPr lang="en-US" altLang="ko-KR" dirty="0"/>
              <a:t>, </a:t>
            </a:r>
            <a:r>
              <a:rPr lang="ko-KR" altLang="en-US" dirty="0"/>
              <a:t>북한 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1" name="제목 2">
            <a:extLst>
              <a:ext uri="{FF2B5EF4-FFF2-40B4-BE49-F238E27FC236}">
                <a16:creationId xmlns:a16="http://schemas.microsoft.com/office/drawing/2014/main" id="{B8CC920F-C452-0ABE-B7D2-CF578CEADA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76992" y="945225"/>
            <a:ext cx="2511900" cy="789300"/>
          </a:xfrm>
        </p:spPr>
        <p:txBody>
          <a:bodyPr/>
          <a:lstStyle/>
          <a:p>
            <a:r>
              <a:rPr lang="en-US" altLang="ko-KR" sz="4400" dirty="0"/>
              <a:t>05</a:t>
            </a:r>
            <a:endParaRPr lang="ko-KR" altLang="en-US" sz="4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83AAD3-62F1-4ADE-B84F-F16934531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609" y="1716819"/>
            <a:ext cx="1687413" cy="16874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943018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046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scandal once again showed how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rampant</a:t>
                      </a:r>
                      <a:r>
                        <a:rPr lang="en-US" altLang="ko-KR" sz="1000" dirty="0"/>
                        <a:t> various kinds of corruption are in our society.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Yeah. When will we be able to live in a transparent society free of corruption?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문제점이 만연해 있다고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There are many kinds of corruption in our society.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Various kinds of corruption are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rampant</a:t>
                      </a:r>
                      <a:r>
                        <a:rPr lang="en-US" altLang="ko-KR" sz="1000" dirty="0"/>
                        <a:t> in our society.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048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you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think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newly-enacted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anti-corruption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law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will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really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eradicate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corruption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our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society?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 won’t be easy to root out the decades-long problem overnight, but the law is really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far-reaching</a:t>
                      </a:r>
                      <a:r>
                        <a:rPr lang="en-US" altLang="ko-KR" sz="1000" dirty="0"/>
                        <a:t>, so it will at least do something.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영향력이 널리 미친다고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law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will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have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huge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influence.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law is really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far-reaching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4" y="621234"/>
            <a:ext cx="1465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부정부패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070BE19-8CA9-4CB7-AC6E-6EC0FF175078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7" name="Google Shape;1750;p54">
              <a:extLst>
                <a:ext uri="{FF2B5EF4-FFF2-40B4-BE49-F238E27FC236}">
                  <a16:creationId xmlns:a16="http://schemas.microsoft.com/office/drawing/2014/main" id="{4B604909-6D3B-44ED-9A51-917E7C1FEEA7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EC20688-F53D-4ADB-9934-41F6C9801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5376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068076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049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Politicians who take corporate payouts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under the table </a:t>
                      </a:r>
                      <a:r>
                        <a:rPr lang="en-US" altLang="ko-KR" sz="1000" dirty="0"/>
                        <a:t>really have no sense of integrity.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Companies line the pockets of public officials all the time. What’s new?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은밀하게 뇌물을 받는다고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Politicians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take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corporate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payouts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secretly.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Politicians take corporate payouts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under the table.</a:t>
                      </a:r>
                      <a:r>
                        <a:rPr lang="en-US" altLang="ko-KR" sz="1000" dirty="0"/>
                        <a:t>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050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With the recent reports of police officers taking bribes, I’ve lost all trust in our law enforcement officials.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You can’t let a few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bad apples </a:t>
                      </a:r>
                      <a:r>
                        <a:rPr lang="en-US" altLang="ko-KR" sz="1000" dirty="0"/>
                        <a:t>ruin your perception of the whole police force.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일부 부패한 공직자를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Don’t let a few corrupt policemen ruin your perception of the whole police force.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Don’t let a few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bad apples</a:t>
                      </a:r>
                      <a:r>
                        <a:rPr lang="en-US" altLang="ko-KR" sz="1000" dirty="0"/>
                        <a:t> ruin your perception of the whole police force.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부정부패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00A6CAF-F70C-41AE-A6B7-B0ED5B722970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BB6BA8BE-A480-405E-A2CC-C32E36641633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6CC522D-13AC-47F7-91CD-07990E962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1184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509653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052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comment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was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politically</a:t>
                      </a:r>
                      <a:r>
                        <a:rPr lang="ko-KR" altLang="en-US" sz="10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motivated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even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though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tried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hide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intention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behind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veil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neutrality.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Yeah, I also was able to see he was trying to shield the president.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정치적인 의도를 지니고 있다고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His comment had political intentions.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His comment was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politically motivated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053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Did you hear about the ruling? I think it’s major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setback</a:t>
                      </a:r>
                      <a:r>
                        <a:rPr lang="en-US" altLang="ko-KR" sz="1000" dirty="0"/>
                        <a:t> for democracy.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Well, I’m not so sure about that. Let’s look at the decision from a slightly different angle.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민주주의의 후퇴라고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think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it’s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major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problem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democracy.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think it’s a major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setback </a:t>
                      </a:r>
                      <a:r>
                        <a:rPr lang="en-US" altLang="ko-KR" sz="1000" dirty="0"/>
                        <a:t>for democracy.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현실정치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00A6CAF-F70C-41AE-A6B7-B0ED5B722970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BB6BA8BE-A480-405E-A2CC-C32E36641633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6CC522D-13AC-47F7-91CD-07990E962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2880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145923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054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Do you think it’s better for the president not to have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political affiliation </a:t>
                      </a:r>
                      <a:r>
                        <a:rPr lang="en-US" altLang="ko-KR" sz="1000" dirty="0"/>
                        <a:t>with any party?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On the contrary, I think the president should be affiliated with a certain political party to fulfill his duty in a more responsible manner.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당적을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지닌다고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president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not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belong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any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political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party.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president should not have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political affiliation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055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That candidate was a human rights lawyer, but listen to him deny the rights of women.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As a politician, everything’s easier when you lack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moral fiber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도덕성을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As a politician, everything’s easier when you lack morality.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As a politician, everything’s easier when you lack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moral fiber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현실정치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00A6CAF-F70C-41AE-A6B7-B0ED5B722970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BB6BA8BE-A480-405E-A2CC-C32E36641633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6CC522D-13AC-47F7-91CD-07990E962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6073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226675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056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This proposal will take long talks with opposition members of parliament to be passed.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If the proposers can reach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across party lines</a:t>
                      </a:r>
                      <a:r>
                        <a:rPr lang="en-US" altLang="ko-KR" sz="1000" dirty="0"/>
                        <a:t>, they should be able to succeed.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초당적인 협력을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 proposers cooperate, the proposal will be passed.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If the proposers reach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across party lines</a:t>
                      </a:r>
                      <a:r>
                        <a:rPr lang="en-US" altLang="ko-KR" sz="1000" dirty="0"/>
                        <a:t>, the proposal will be passed.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057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Politicians are all the same. That’s why I don’t care who’s elected as our next president, and I don’t want to vote.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president is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only as good as the people who vote for him</a:t>
                      </a:r>
                      <a:r>
                        <a:rPr lang="en-US" altLang="ko-KR" sz="1000" dirty="0"/>
                        <a:t>. In that sense, you are also responsible for having an underqualified president. You should vote.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국민의 수준이 대통령의 수준을 결정한다고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level of the president is determined by the people.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president is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only as good as the people who vote for him. </a:t>
                      </a:r>
                      <a:endParaRPr lang="ko-KR" altLang="en-US" sz="10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현실정치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00A6CAF-F70C-41AE-A6B7-B0ED5B722970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BB6BA8BE-A480-405E-A2CC-C32E36641633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6CC522D-13AC-47F7-91CD-07990E962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5615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899923"/>
              </p:ext>
            </p:extLst>
          </p:nvPr>
        </p:nvGraphicFramePr>
        <p:xfrm>
          <a:off x="367145" y="1149041"/>
          <a:ext cx="8333511" cy="3759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058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may be “our” reunification, but it will be practically impossible for it to take place without the consent of the countries surrounding the Korean peninsula.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Yes, I think so, too. Any form of reunification that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puts</a:t>
                      </a:r>
                      <a:r>
                        <a:rPr lang="en-US" altLang="ko-KR" sz="1000" dirty="0"/>
                        <a:t> the four superpowers – the U.S., Japan, China, and Russia-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at odds </a:t>
                      </a:r>
                      <a:r>
                        <a:rPr lang="en-US" altLang="ko-KR" sz="1000" dirty="0"/>
                        <a:t>would be unthinkable.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강대국들이 동의하지 않는다고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Any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form of reunification that the four superpowers disagree with would be unthinkable.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Any form of reunification that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puts</a:t>
                      </a:r>
                      <a:r>
                        <a:rPr lang="en-US" altLang="ko-KR" sz="1000" dirty="0"/>
                        <a:t> the four superpowers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at odds </a:t>
                      </a:r>
                      <a:r>
                        <a:rPr lang="en-US" altLang="ko-KR" sz="1000" dirty="0"/>
                        <a:t>would be unthinkable.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060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Do you think we should reunify with North Korea and live as one nation?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think we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are better off </a:t>
                      </a:r>
                      <a:r>
                        <a:rPr lang="en-US" altLang="ko-KR" sz="1000" dirty="0"/>
                        <a:t>now than if we were to live with North Koreans as citizens of a unified country.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지금이 더 낫다고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think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now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much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better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than~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 think we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are better off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now than~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4" y="621234"/>
            <a:ext cx="2457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남북관계</a:t>
            </a:r>
            <a:r>
              <a:rPr lang="en-US" altLang="ko-KR" sz="1600" dirty="0"/>
              <a:t>, </a:t>
            </a:r>
            <a:r>
              <a:rPr lang="ko-KR" altLang="en-US" sz="1600" dirty="0"/>
              <a:t>북한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CA47117-2963-4789-9041-76A6FC095815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7" name="Google Shape;1750;p54">
              <a:extLst>
                <a:ext uri="{FF2B5EF4-FFF2-40B4-BE49-F238E27FC236}">
                  <a16:creationId xmlns:a16="http://schemas.microsoft.com/office/drawing/2014/main" id="{7CE3E608-5F2D-4889-82E1-27D76DC2B22C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D373DAD-60B7-4153-8C23-9D6059F65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BBFE45B-05C9-B1E3-9762-94772CEFD36C}"/>
              </a:ext>
            </a:extLst>
          </p:cNvPr>
          <p:cNvSpPr txBox="1"/>
          <p:nvPr/>
        </p:nvSpPr>
        <p:spPr>
          <a:xfrm>
            <a:off x="443344" y="4877074"/>
            <a:ext cx="6871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be better off~ : ~</a:t>
            </a:r>
            <a:r>
              <a:rPr lang="ko-KR" altLang="en-US" sz="1000" dirty="0"/>
              <a:t>인 상태가 더 낫다</a:t>
            </a:r>
          </a:p>
        </p:txBody>
      </p:sp>
    </p:spTree>
    <p:extLst>
      <p:ext uri="{BB962C8B-B14F-4D97-AF65-F5344CB8AC3E}">
        <p14:creationId xmlns:p14="http://schemas.microsoft.com/office/powerpoint/2010/main" val="2331656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986774"/>
              </p:ext>
            </p:extLst>
          </p:nvPr>
        </p:nvGraphicFramePr>
        <p:xfrm>
          <a:off x="367145" y="1149041"/>
          <a:ext cx="8333511" cy="3759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061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China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announced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that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repatriate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all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20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North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Korean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defectors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who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were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arrested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last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month.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Thinking about the miserable situation they have to go back to, I’m really saddened by China’s decision.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본국으로 송환한다고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China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send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back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all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20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North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Korean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defectors.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China would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repatriate</a:t>
                      </a:r>
                      <a:r>
                        <a:rPr lang="en-US" altLang="ko-KR" sz="1000" dirty="0"/>
                        <a:t> all 20 North Korean defectors.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062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Some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North Korean defectors fail to adapt to our society and live in poverty or even become criminals. I think it’s because they are unfamiliar with capitalism.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think the government should help them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assimilate into </a:t>
                      </a:r>
                      <a:r>
                        <a:rPr lang="en-US" altLang="ko-KR" sz="1000" dirty="0"/>
                        <a:t>our society, and the defectors themselves also have to do their best to integrate into our society.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한국 사회에 적응한다고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government should help them become a member of our society.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government should help them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assimilate into </a:t>
                      </a:r>
                      <a:r>
                        <a:rPr lang="en-US" altLang="ko-KR" sz="1000" dirty="0"/>
                        <a:t>our society.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6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남북관계</a:t>
            </a:r>
            <a:r>
              <a:rPr lang="en-US" altLang="ko-KR" sz="1600" dirty="0"/>
              <a:t>, </a:t>
            </a:r>
            <a:r>
              <a:rPr lang="ko-KR" altLang="en-US" sz="1600" dirty="0"/>
              <a:t>북한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FBD0113-43EB-4591-B9F6-51C24D590F0D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7" name="Google Shape;1750;p54">
              <a:extLst>
                <a:ext uri="{FF2B5EF4-FFF2-40B4-BE49-F238E27FC236}">
                  <a16:creationId xmlns:a16="http://schemas.microsoft.com/office/drawing/2014/main" id="{F2DD3BC2-6CFD-4B5A-BE0D-F6FAA326A6B1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8C8B82F-D354-4944-8F31-7B0130C5C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8509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050933"/>
              </p:ext>
            </p:extLst>
          </p:nvPr>
        </p:nvGraphicFramePr>
        <p:xfrm>
          <a:off x="367145" y="1149041"/>
          <a:ext cx="8333511" cy="1854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063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primary role of helping these defectors become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full-fledged</a:t>
                      </a:r>
                      <a:r>
                        <a:rPr lang="en-US" altLang="ko-KR" sz="1000" dirty="0"/>
                        <a:t> members of society should be played by the government.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The public also has to welcome them into our society.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완전한 구성원이 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North Korean defectors should become complete members of society.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North Korea defectors should become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full-fledged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members of society.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B178688-2DE2-F041-1C9B-1C46B32C345F}"/>
              </a:ext>
            </a:extLst>
          </p:cNvPr>
          <p:cNvSpPr txBox="1"/>
          <p:nvPr/>
        </p:nvSpPr>
        <p:spPr>
          <a:xfrm>
            <a:off x="3950763" y="621234"/>
            <a:ext cx="2226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남북관계</a:t>
            </a:r>
            <a:r>
              <a:rPr lang="en-US" altLang="ko-KR" sz="1600" dirty="0"/>
              <a:t>, </a:t>
            </a:r>
            <a:r>
              <a:rPr lang="ko-KR" altLang="en-US" sz="1600" dirty="0"/>
              <a:t>북한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EFC2D46-80C0-419E-9BFE-0638D9DFD9CE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6" name="Google Shape;1750;p54">
              <a:extLst>
                <a:ext uri="{FF2B5EF4-FFF2-40B4-BE49-F238E27FC236}">
                  <a16:creationId xmlns:a16="http://schemas.microsoft.com/office/drawing/2014/main" id="{96495F62-E234-4307-90F2-7EED269662EF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ED61C9D-722B-448A-A9D1-6AFB4D821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1C864D0-AA14-4577-6D30-1DF1D5BE1006}"/>
              </a:ext>
            </a:extLst>
          </p:cNvPr>
          <p:cNvSpPr txBox="1"/>
          <p:nvPr/>
        </p:nvSpPr>
        <p:spPr>
          <a:xfrm>
            <a:off x="443344" y="4877074"/>
            <a:ext cx="6871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full-fledged: </a:t>
            </a:r>
            <a:r>
              <a:rPr lang="ko-KR" altLang="en-US" sz="1000" dirty="0"/>
              <a:t>완전한 자격을 갖춘</a:t>
            </a:r>
            <a:r>
              <a:rPr lang="en-US" altLang="ko-KR" sz="1000" dirty="0"/>
              <a:t>  *fledge: </a:t>
            </a:r>
            <a:r>
              <a:rPr lang="ko-KR" altLang="en-US" sz="1000" dirty="0"/>
              <a:t>깃털</a:t>
            </a:r>
          </a:p>
        </p:txBody>
      </p:sp>
    </p:spTree>
    <p:extLst>
      <p:ext uri="{BB962C8B-B14F-4D97-AF65-F5344CB8AC3E}">
        <p14:creationId xmlns:p14="http://schemas.microsoft.com/office/powerpoint/2010/main" val="2123312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F91226E-1754-4FAF-817F-995AD4596BAD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7" name="Google Shape;1750;p54">
              <a:extLst>
                <a:ext uri="{FF2B5EF4-FFF2-40B4-BE49-F238E27FC236}">
                  <a16:creationId xmlns:a16="http://schemas.microsoft.com/office/drawing/2014/main" id="{F772D4A2-52C0-45CF-B0D8-D7B75537912A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7A41C2B-378E-40C7-8F96-EB9DB614C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E7346573-C0BE-6188-11F2-BB00E1B69D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175689" y="1083200"/>
            <a:ext cx="3191698" cy="37928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A7A313E-2D58-0C77-83D0-4B2F4E5FB9C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000"/>
          <a:stretch/>
        </p:blipFill>
        <p:spPr>
          <a:xfrm>
            <a:off x="4477421" y="1089778"/>
            <a:ext cx="3526612" cy="388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14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0401709-E446-4AE5-8E52-E63F5CC451EA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9" name="Google Shape;1750;p54">
              <a:extLst>
                <a:ext uri="{FF2B5EF4-FFF2-40B4-BE49-F238E27FC236}">
                  <a16:creationId xmlns:a16="http://schemas.microsoft.com/office/drawing/2014/main" id="{7C8FC4C4-14FA-4EAD-BC6A-FE19A4439869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70DA038-63B1-45DF-AFA9-EF0EE9608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A5D7B6F6-FFB7-894E-5882-D6F184780E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144471" y="1093107"/>
            <a:ext cx="3530548" cy="38651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E9DFCCF-35BD-E60E-EB8B-B0B055830F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4473079" y="1066795"/>
            <a:ext cx="3870614" cy="381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505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3380F28-D199-4F3C-8F6E-962FA5AC06E2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9" name="Google Shape;1750;p54">
              <a:extLst>
                <a:ext uri="{FF2B5EF4-FFF2-40B4-BE49-F238E27FC236}">
                  <a16:creationId xmlns:a16="http://schemas.microsoft.com/office/drawing/2014/main" id="{A0F5263D-0DBF-4364-BB8F-3379A600C685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A27668E-AD8E-4E37-9F5D-E7D3E5133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24DE6BDC-F838-2EF5-E21C-E42135D6CD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169043" y="1092091"/>
            <a:ext cx="3173807" cy="37355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D7C4246-B12B-CC44-0023-5CA81B19E3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1319"/>
          <a:stretch/>
        </p:blipFill>
        <p:spPr>
          <a:xfrm>
            <a:off x="4506220" y="1092091"/>
            <a:ext cx="3608045" cy="386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21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3380F28-D199-4F3C-8F6E-962FA5AC06E2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9" name="Google Shape;1750;p54">
              <a:extLst>
                <a:ext uri="{FF2B5EF4-FFF2-40B4-BE49-F238E27FC236}">
                  <a16:creationId xmlns:a16="http://schemas.microsoft.com/office/drawing/2014/main" id="{A0F5263D-0DBF-4364-BB8F-3379A600C685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A27668E-AD8E-4E37-9F5D-E7D3E5133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0EF3FB12-139F-1881-AE8A-820F4E3876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149949" y="1093602"/>
            <a:ext cx="3184541" cy="35351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817ADF5-1624-D42C-32D7-83A31B85D0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4503160" y="1089767"/>
            <a:ext cx="3479380" cy="331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554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3380F28-D199-4F3C-8F6E-962FA5AC06E2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9" name="Google Shape;1750;p54">
              <a:extLst>
                <a:ext uri="{FF2B5EF4-FFF2-40B4-BE49-F238E27FC236}">
                  <a16:creationId xmlns:a16="http://schemas.microsoft.com/office/drawing/2014/main" id="{A0F5263D-0DBF-4364-BB8F-3379A600C685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A27668E-AD8E-4E37-9F5D-E7D3E5133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9B3D89EC-CC3B-BC81-2720-3926A62F18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4962"/>
          <a:stretch/>
        </p:blipFill>
        <p:spPr>
          <a:xfrm>
            <a:off x="166056" y="1096871"/>
            <a:ext cx="3509380" cy="288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63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문장성분과 품사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1.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문장성분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613789"/>
            <a:ext cx="8664066" cy="3558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200000"/>
              </a:lnSpc>
            </a:pPr>
            <a:r>
              <a:rPr lang="ko-KR" altLang="en-US" sz="1000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문장을 이루는 구성요소를 문장성분이라고 합니다</a:t>
            </a:r>
            <a:r>
              <a:rPr lang="en-US" altLang="ko-KR" sz="1000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영어의 문장성분은 아래와 같이 나누어 볼 수 있습니다</a:t>
            </a:r>
            <a:r>
              <a:rPr lang="en-US" altLang="ko-KR" sz="1000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endParaRPr lang="en-US" altLang="ko-KR" sz="100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9E6740F-697B-40DC-8CF9-8735B47A320D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0FCDD8ED-C4BD-4EA1-B886-28F7D01B4321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28507A9-844A-4D07-A247-A78D60C54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6A2B33A-711D-C5FE-8B9C-93EEF24D7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749824"/>
              </p:ext>
            </p:extLst>
          </p:nvPr>
        </p:nvGraphicFramePr>
        <p:xfrm>
          <a:off x="524192" y="2146983"/>
          <a:ext cx="8095616" cy="1333500"/>
        </p:xfrm>
        <a:graphic>
          <a:graphicData uri="http://schemas.openxmlformats.org/drawingml/2006/table">
            <a:tbl>
              <a:tblPr/>
              <a:tblGrid>
                <a:gridCol w="4047808">
                  <a:extLst>
                    <a:ext uri="{9D8B030D-6E8A-4147-A177-3AD203B41FA5}">
                      <a16:colId xmlns:a16="http://schemas.microsoft.com/office/drawing/2014/main" val="3216861414"/>
                    </a:ext>
                  </a:extLst>
                </a:gridCol>
                <a:gridCol w="4047808">
                  <a:extLst>
                    <a:ext uri="{9D8B030D-6E8A-4147-A177-3AD203B41FA5}">
                      <a16:colId xmlns:a16="http://schemas.microsoft.com/office/drawing/2014/main" val="26624955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주어</a:t>
                      </a:r>
                      <a:r>
                        <a:rPr lang="en-US" altLang="ko-KR" sz="1000" b="1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Subject)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문장의 주인공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동작의 주체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958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동사</a:t>
                      </a:r>
                      <a:r>
                        <a:rPr lang="en-US" altLang="ko-KR" sz="1000" b="1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Verb)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서술어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주어의 동작이나 상태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동사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를 나타내는 말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32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목적어</a:t>
                      </a:r>
                      <a:r>
                        <a:rPr lang="en-US" altLang="ko-KR" sz="10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Object)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동작의 대상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836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보어</a:t>
                      </a:r>
                      <a:r>
                        <a:rPr lang="en-US" altLang="ko-KR" sz="10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Complement)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주어 또는 목적어를 보충 설명해주는 말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713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수식어</a:t>
                      </a:r>
                      <a:r>
                        <a:rPr lang="en-US" altLang="ko-KR" sz="10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000" b="1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Modifier)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  <a:latin typeface="+mn-ea"/>
                          <a:ea typeface="+mn-ea"/>
                        </a:rPr>
                        <a:t>다른 문장성분을 꾸며주는 역할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0019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FF34F98-F600-B34C-C36F-AE89688D7EA0}"/>
              </a:ext>
            </a:extLst>
          </p:cNvPr>
          <p:cNvSpPr txBox="1"/>
          <p:nvPr/>
        </p:nvSpPr>
        <p:spPr>
          <a:xfrm>
            <a:off x="247545" y="3657874"/>
            <a:ext cx="866406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위 문장성분 중에서 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(S),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(V),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(O),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는 필수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문장성분입니다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는 필수 문장성분으로 보지 않습니다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</a:p>
          <a:p>
            <a:pPr algn="l"/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문장성분을 약어로 표시하면 다음과 같습니다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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(S),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(V),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(O),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(C),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(M)</a:t>
            </a:r>
            <a:endParaRPr lang="ko-KR" altLang="en-US" sz="1000" b="0" i="0" dirty="0">
              <a:solidFill>
                <a:schemeClr val="accent5">
                  <a:lumMod val="50000"/>
                </a:schemeClr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7593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문장성분과 품사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2.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필수 문장성분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510908"/>
            <a:ext cx="8664066" cy="759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5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가지 문장성분 준에서 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제외한 나머지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4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개를 필수 문장성분이라고 부릅니다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1" dirty="0">
                <a:solidFill>
                  <a:srgbClr val="2B394A"/>
                </a:solidFill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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문장을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5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형식으로 구분할 때도 이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4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가지를 기준으로 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D21CEBD-4F34-49B9-A574-6BF1C5022A1E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5EFC9552-1E21-4B17-A336-736421E0D8BC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00C8C15-9E4E-42EF-ADC5-D2661088E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7306EAA-25E1-AFBC-BC71-6CE0BCDF7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759432"/>
              </p:ext>
            </p:extLst>
          </p:nvPr>
        </p:nvGraphicFramePr>
        <p:xfrm>
          <a:off x="473392" y="2345178"/>
          <a:ext cx="8095616" cy="1333500"/>
        </p:xfrm>
        <a:graphic>
          <a:graphicData uri="http://schemas.openxmlformats.org/drawingml/2006/table">
            <a:tbl>
              <a:tblPr/>
              <a:tblGrid>
                <a:gridCol w="2428685">
                  <a:extLst>
                    <a:ext uri="{9D8B030D-6E8A-4147-A177-3AD203B41FA5}">
                      <a16:colId xmlns:a16="http://schemas.microsoft.com/office/drawing/2014/main" val="781865681"/>
                    </a:ext>
                  </a:extLst>
                </a:gridCol>
                <a:gridCol w="5666931">
                  <a:extLst>
                    <a:ext uri="{9D8B030D-6E8A-4147-A177-3AD203B41FA5}">
                      <a16:colId xmlns:a16="http://schemas.microsoft.com/office/drawing/2014/main" val="5094988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형식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주어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동사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18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형식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주어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동사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보어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617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형식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주어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동사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목적어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93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형식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주어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동사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목적어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 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목적어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250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형식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주어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동사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목적어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보어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8632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3EC16C5-3DBD-0ADC-6016-D872BC1C479C}"/>
              </a:ext>
            </a:extLst>
          </p:cNvPr>
          <p:cNvSpPr txBox="1"/>
          <p:nvPr/>
        </p:nvSpPr>
        <p:spPr>
          <a:xfrm>
            <a:off x="247545" y="3739372"/>
            <a:ext cx="8664066" cy="990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문장의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5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형식 모두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 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+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동사로 시작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5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형식으로 나눈 표가 복잡해 보이지만 주어와 동사로 시작하는 부분을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빼버리면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나머지는 그렇게 복잡하지 않습니다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문장에서 주어와 동사를 찾을 수 있다면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나머지는 목적어와 보어만 남습니다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그리고 수식어까지 이해하면 문장의 구조를 명확하게 파악할 수 있고 복잡하고 긴 문장도 쉽게 해석할 수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2348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문장성분과 품사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3.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품사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560543"/>
            <a:ext cx="8664066" cy="528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품사는 단어를 문법적 기능에 따라서 분류한 것입니다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영어의 품사는 아래와 같이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8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개로 나눠볼 수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영어의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8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품사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D21CEBD-4F34-49B9-A574-6BF1C5022A1E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5EFC9552-1E21-4B17-A336-736421E0D8BC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00C8C15-9E4E-42EF-ADC5-D2661088E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AD9091D-A94B-5524-A5B9-CD2D16DF6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378439"/>
              </p:ext>
            </p:extLst>
          </p:nvPr>
        </p:nvGraphicFramePr>
        <p:xfrm>
          <a:off x="345655" y="2298175"/>
          <a:ext cx="8095616" cy="2400300"/>
        </p:xfrm>
        <a:graphic>
          <a:graphicData uri="http://schemas.openxmlformats.org/drawingml/2006/table">
            <a:tbl>
              <a:tblPr/>
              <a:tblGrid>
                <a:gridCol w="4047808">
                  <a:extLst>
                    <a:ext uri="{9D8B030D-6E8A-4147-A177-3AD203B41FA5}">
                      <a16:colId xmlns:a16="http://schemas.microsoft.com/office/drawing/2014/main" val="2829488164"/>
                    </a:ext>
                  </a:extLst>
                </a:gridCol>
                <a:gridCol w="4047808">
                  <a:extLst>
                    <a:ext uri="{9D8B030D-6E8A-4147-A177-3AD203B41FA5}">
                      <a16:colId xmlns:a16="http://schemas.microsoft.com/office/drawing/2014/main" val="23638973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333333"/>
                          </a:solidFill>
                          <a:effectLst/>
                        </a:rPr>
                        <a:t>품사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333333"/>
                          </a:solidFill>
                          <a:effectLst/>
                        </a:rPr>
                        <a:t>문법적 기능</a:t>
                      </a:r>
                      <a:r>
                        <a:rPr lang="en-US" altLang="ko-KR" sz="1000" b="1">
                          <a:solidFill>
                            <a:srgbClr val="333333"/>
                          </a:solidFill>
                          <a:effectLst/>
                        </a:rPr>
                        <a:t>(</a:t>
                      </a:r>
                      <a:r>
                        <a:rPr lang="ko-KR" altLang="en-US" sz="1000" b="1">
                          <a:solidFill>
                            <a:srgbClr val="333333"/>
                          </a:solidFill>
                          <a:effectLst/>
                        </a:rPr>
                        <a:t>문장에서의 역할</a:t>
                      </a:r>
                      <a:r>
                        <a:rPr lang="en-US" altLang="ko-KR" sz="1000" b="1">
                          <a:solidFill>
                            <a:srgbClr val="333333"/>
                          </a:solidFill>
                          <a:effectLst/>
                        </a:rPr>
                        <a:t>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500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명사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이름을 담당하는 말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971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대명사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명사를 대신하는 말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180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동사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주어가 하는 행위를 나타내는 말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9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형용사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명사를 서술하거나 명사를 수식하는 말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543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부사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명사를 제외한 나머지 품사를 수식하는 말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628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전치사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명사 앞에 위치하여 명사를 수식어로 만드는 말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092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접속사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두 문장이나 낱말을 이어주는 말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90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감탄사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감탄하는 느낌을 나타내는 말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210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6559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문장성분과 품사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4.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문장성분과 품사의 관계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415657"/>
            <a:ext cx="8664066" cy="759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문장성분은 단어들의 자리 배치도를 나타내는 단위라고 할 수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각 문장성분의 자리에 올 수 있는 단어들이 정해져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이때 어떤 단어들이 올 수 있는지 기준이 되는 것이 품사입니다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필수 문장성분인 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 자리에 올 수 있는 품사는 아래와 같습니다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D21CEBD-4F34-49B9-A574-6BF1C5022A1E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5EFC9552-1E21-4B17-A336-736421E0D8BC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00C8C15-9E4E-42EF-ADC5-D2661088E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39222B4-D15F-FAD5-6758-CF0D3FFAD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870366"/>
              </p:ext>
            </p:extLst>
          </p:nvPr>
        </p:nvGraphicFramePr>
        <p:xfrm>
          <a:off x="454342" y="2212236"/>
          <a:ext cx="8095616" cy="1333500"/>
        </p:xfrm>
        <a:graphic>
          <a:graphicData uri="http://schemas.openxmlformats.org/drawingml/2006/table">
            <a:tbl>
              <a:tblPr/>
              <a:tblGrid>
                <a:gridCol w="4047808">
                  <a:extLst>
                    <a:ext uri="{9D8B030D-6E8A-4147-A177-3AD203B41FA5}">
                      <a16:colId xmlns:a16="http://schemas.microsoft.com/office/drawing/2014/main" val="669262083"/>
                    </a:ext>
                  </a:extLst>
                </a:gridCol>
                <a:gridCol w="4047808">
                  <a:extLst>
                    <a:ext uri="{9D8B030D-6E8A-4147-A177-3AD203B41FA5}">
                      <a16:colId xmlns:a16="http://schemas.microsoft.com/office/drawing/2014/main" val="135551306"/>
                    </a:ext>
                  </a:extLst>
                </a:gridCol>
              </a:tblGrid>
              <a:tr h="23192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문장성분</a:t>
                      </a:r>
                      <a:r>
                        <a:rPr lang="en-US" altLang="ko-KR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자리</a:t>
                      </a:r>
                      <a:r>
                        <a:rPr lang="en-US" altLang="ko-KR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올 수 있는 품사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35250"/>
                  </a:ext>
                </a:extLst>
              </a:tr>
              <a:tr h="23192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주어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명사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대명사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893351"/>
                  </a:ext>
                </a:extLst>
              </a:tr>
              <a:tr h="23192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서술어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동사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동사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540566"/>
                  </a:ext>
                </a:extLst>
              </a:tr>
              <a:tr h="23192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목적어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명사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대명사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539899"/>
                  </a:ext>
                </a:extLst>
              </a:tr>
              <a:tr h="23192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보어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명사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대명사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형용사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2382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C82BD33-45B7-1AA7-802F-B8113D85C31A}"/>
              </a:ext>
            </a:extLst>
          </p:cNvPr>
          <p:cNvSpPr txBox="1"/>
          <p:nvPr/>
        </p:nvSpPr>
        <p:spPr>
          <a:xfrm>
            <a:off x="247544" y="3606453"/>
            <a:ext cx="8735653" cy="99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 자리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에 올 수 있는 품사는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대명사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 자리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에 올 수 있는 품사도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대명사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서술어자리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에는 반드시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와야 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그러므로 문장성분을 말할 때도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서술어라고 하지 않고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동사라고 부릅니다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 자리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에는 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또는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올 수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16" name="그림 15">
            <a:hlinkClick r:id="rId3"/>
            <a:extLst>
              <a:ext uri="{FF2B5EF4-FFF2-40B4-BE49-F238E27FC236}">
                <a16:creationId xmlns:a16="http://schemas.microsoft.com/office/drawing/2014/main" id="{3AEE81B4-14FB-F622-27EB-CF080E04C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362" y="4468453"/>
            <a:ext cx="1511939" cy="4389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17AC0F8-C041-1DE6-D289-E075C2072B6F}"/>
              </a:ext>
            </a:extLst>
          </p:cNvPr>
          <p:cNvSpPr txBox="1"/>
          <p:nvPr/>
        </p:nvSpPr>
        <p:spPr>
          <a:xfrm>
            <a:off x="5875795" y="4907403"/>
            <a:ext cx="31793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https://www.englishcube.net/grammar_exam.php?category2=153</a:t>
            </a:r>
          </a:p>
        </p:txBody>
      </p:sp>
    </p:spTree>
    <p:extLst>
      <p:ext uri="{BB962C8B-B14F-4D97-AF65-F5344CB8AC3E}">
        <p14:creationId xmlns:p14="http://schemas.microsoft.com/office/powerpoint/2010/main" val="2645177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문장성분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1.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영어의 문장 성분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453757"/>
            <a:ext cx="8664066" cy="759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문장성분이란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문장을 이루는 구성요소입니다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한 단어가 될 수도 있고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여러 단어가 될 수도 있고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절이 될 수도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즉 단어 보다는 큰 개념입니다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영어의 문장성분은 아래와 같이 나눌 수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D21CEBD-4F34-49B9-A574-6BF1C5022A1E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5EFC9552-1E21-4B17-A336-736421E0D8BC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00C8C15-9E4E-42EF-ADC5-D2661088E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3EC16C5-3DBD-0ADC-6016-D872BC1C479C}"/>
              </a:ext>
            </a:extLst>
          </p:cNvPr>
          <p:cNvSpPr txBox="1"/>
          <p:nvPr/>
        </p:nvSpPr>
        <p:spPr>
          <a:xfrm>
            <a:off x="247545" y="4075329"/>
            <a:ext cx="8664066" cy="3186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중 수식어를 제외한 나머지 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필수 문장성분이라고 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183E209-0469-4D20-8718-888BB4850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936851"/>
              </p:ext>
            </p:extLst>
          </p:nvPr>
        </p:nvGraphicFramePr>
        <p:xfrm>
          <a:off x="524192" y="2486025"/>
          <a:ext cx="8095616" cy="1333500"/>
        </p:xfrm>
        <a:graphic>
          <a:graphicData uri="http://schemas.openxmlformats.org/drawingml/2006/table">
            <a:tbl>
              <a:tblPr/>
              <a:tblGrid>
                <a:gridCol w="4047808">
                  <a:extLst>
                    <a:ext uri="{9D8B030D-6E8A-4147-A177-3AD203B41FA5}">
                      <a16:colId xmlns:a16="http://schemas.microsoft.com/office/drawing/2014/main" val="2831828637"/>
                    </a:ext>
                  </a:extLst>
                </a:gridCol>
                <a:gridCol w="4047808">
                  <a:extLst>
                    <a:ext uri="{9D8B030D-6E8A-4147-A177-3AD203B41FA5}">
                      <a16:colId xmlns:a16="http://schemas.microsoft.com/office/drawing/2014/main" val="2153588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주어</a:t>
                      </a:r>
                      <a:r>
                        <a:rPr lang="en-US" altLang="ko-KR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Subject)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문장의 주인공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동작의 주체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002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동사</a:t>
                      </a:r>
                      <a:r>
                        <a:rPr lang="en-US" altLang="ko-KR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Verb)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서술어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주어의 동작이나 상태를 나타내는 말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487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목적어</a:t>
                      </a:r>
                      <a:r>
                        <a:rPr lang="en-US" altLang="ko-KR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Object)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동작의 대상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47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보어</a:t>
                      </a:r>
                      <a:r>
                        <a:rPr lang="en-US" altLang="ko-KR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Complement)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주어 또는 목적어를 보충 설명해주는 말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996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수식어</a:t>
                      </a:r>
                      <a:r>
                        <a:rPr lang="en-US" altLang="ko-KR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</a:rPr>
                        <a:t>Modifier)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다른 문장성분을 꾸며주는 역할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245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6194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문장성분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2.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주어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469112"/>
            <a:ext cx="8664066" cy="28372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주어는 문장의 주인공이자 행위의 주체입니다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한국어는 주어가 생략되는 경우가 많지만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영어는 특별한 경우가 아니면 반드시 주어가 있어야 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Tom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runs everyday.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Tom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은 매일 달린다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(Tom)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(runs)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(everyday)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(Tom):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문장의 주인공이자 행위의 주체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반드시 주어가 있어야 한다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 자리에 올 수 있는 품사는 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(Tom):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문장성분은 여러 단어가 될 수 있는데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이때 수식어가 포함될 수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His run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starts at 6:00 am.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그의 달리기는 오전 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6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시에 시작된다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(His run)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(starts)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(at 6:00 am)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(His run):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(His)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(run)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수식어가 포함되었지만 중요한 것은 주어 자리에 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(run)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왔다는 점입니다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D21CEBD-4F34-49B9-A574-6BF1C5022A1E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5EFC9552-1E21-4B17-A336-736421E0D8BC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00C8C15-9E4E-42EF-ADC5-D2661088E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5002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문장성분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3.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동사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495380"/>
            <a:ext cx="8664066" cy="3529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동사는 주어의 동작이나 상태를 나타냅니다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주어의 동작을 나타내면 동작동사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주어의 상태를 나타내면 상태동사라고 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threw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ball.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공을 던졌다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(threw)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 ball)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(threw):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주어의 동작을 나타낸다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동작동사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have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 car.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차가 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(have)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 car)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(have):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주어의 상태를 나타낸다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상태동사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상태를 나타낸다는 말이 살짝 모호한데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동작을 나타낸다고 볼 수 없는 경우 상태를 나타낸다고 보면 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대표적으로 상태를 나타내는 동사는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동사가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is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 teacher.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선생님이다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 teacher)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주어의 상태를 나타낸다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상태동사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4AEBB99-FF3F-4E81-A8B8-0CA85D42BDEF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F3717191-5B52-4EAD-9755-FC412217120E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B34E324-C924-4E81-B58B-E9C565E41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6782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문장성분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4.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목적어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613789"/>
            <a:ext cx="8664066" cy="2145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목적어는 동작의 대상입니다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즉 동사의 대상입니다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threw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ball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공을 던졌다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 ball)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는 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(threw)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 대상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목적어라는 그릇에 담을 수 있는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 자리에 올 수 있는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품사는 주어와 마찬가지로 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can throw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very far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아주 멀리 던질 수 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(very)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(far)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조합으로 목적어가 아닌 수식어입니다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의미적으로 보더라도 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(throw)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 대상이 아닙니다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4AEBB99-FF3F-4E81-A8B8-0CA85D42BDEF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F3717191-5B52-4EAD-9755-FC412217120E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B34E324-C924-4E81-B58B-E9C565E41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8268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문장성분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5.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보어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495380"/>
            <a:ext cx="8664066" cy="3298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보어는 보충해 주는 말입니다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 또는 목적어를 보충해 주는 말입니다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주어를 보충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주격 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목적어를 보충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목적격 보어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보어자리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에 올 수 있는 품사는 </a:t>
            </a:r>
            <a:r>
              <a:rPr lang="ko-KR" altLang="en-US" sz="10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</a:t>
            </a:r>
            <a:r>
              <a:rPr lang="en-US" altLang="ko-KR" sz="10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대명사</a:t>
            </a:r>
            <a:r>
              <a:rPr lang="en-US" altLang="ko-KR" sz="10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와 </a:t>
            </a:r>
            <a:r>
              <a:rPr lang="ko-KR" altLang="en-US" sz="10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 is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 teacher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선생님이다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 teacher)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 is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만으로는 의미가 완성되지 않는다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그래서 주어를 보충해 주는 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 teacher)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필요하다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 teacher):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 자리에 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(teacher)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온다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She seems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happy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그녀는 행복해 보인다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(She)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(seems)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(happy)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She seems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만으로는 의미가 완성되지 않는다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그래서 주어를 보충해 주는 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(happy)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필요하다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(happy):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 자리에 형용사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(happy)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온다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4AEBB99-FF3F-4E81-A8B8-0CA85D42BDEF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F3717191-5B52-4EAD-9755-FC412217120E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B34E324-C924-4E81-B58B-E9C565E41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1044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Grammar: </a:t>
            </a:r>
            <a:r>
              <a:rPr lang="ko-KR" altLang="en-US" dirty="0">
                <a:latin typeface="+mj-ea"/>
                <a:ea typeface="+mj-ea"/>
              </a:rPr>
              <a:t>문장성분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6.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수식어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488801"/>
            <a:ext cx="8664066" cy="297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문장성분 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5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개 중 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4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개가 필수 </a:t>
            </a:r>
            <a:r>
              <a:rPr lang="ko-KR" altLang="en-US" sz="9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문장성분이고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나머지 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1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개인 수식어는 필수 문장성분에 포함되지 않습니다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수식어는 필수 문장성분을 수식하는 역할을 합니다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그래서 어떤 자리에도 올 수 있고 생략해도 문장의 성립요건에는 영향을 미치지 않습니다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9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Tom</a:t>
            </a:r>
            <a:r>
              <a:rPr lang="ko-KR" altLang="en-US" sz="9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9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runs everyday.</a:t>
            </a:r>
            <a:r>
              <a:rPr lang="ko-KR" altLang="en-US" sz="9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en-US" altLang="ko-KR" sz="9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Tom</a:t>
            </a:r>
            <a:r>
              <a:rPr lang="ko-KR" altLang="en-US" sz="9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은 매일 달린다</a:t>
            </a:r>
            <a:r>
              <a:rPr lang="en-US" altLang="ko-KR" sz="9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9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(Tom) +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(runs) +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(everyday)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(everyday):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(runs)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수식</a:t>
            </a:r>
            <a:endParaRPr lang="en-US" altLang="ko-KR" sz="9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9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9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 runs </a:t>
            </a:r>
            <a:r>
              <a:rPr lang="en-US" altLang="ko-KR" sz="9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very fast</a:t>
            </a:r>
            <a:r>
              <a:rPr lang="en-US" altLang="ko-KR" sz="9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9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9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매우 빨리 달린다</a:t>
            </a:r>
            <a:r>
              <a:rPr lang="en-US" altLang="ko-KR" sz="9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9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(He) +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(runs) +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(very fast)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(very fast): 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(runs)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수식</a:t>
            </a:r>
          </a:p>
          <a:p>
            <a:pPr algn="l">
              <a:lnSpc>
                <a:spcPct val="150000"/>
              </a:lnSpc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위와 같이 수식어를 쉽게 구분할 수 있는 경우에는 수식어라고 따로 구분해도 되지만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많은 경우 수식어를 따로 구분하면 불필요하게 복잡해 집니다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이때는 그냥 필수 문장성분에 포함시켜서 간단하게 구분하는 것이 좋습니다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9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9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His run is slower than my walk.</a:t>
            </a:r>
            <a:r>
              <a:rPr lang="ko-KR" altLang="en-US" sz="9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9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그의 달리기는 나의 걷는 것보다 느리다</a:t>
            </a:r>
            <a:r>
              <a:rPr lang="en-US" altLang="ko-KR" sz="9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9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(His run) +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(slower than my walk)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4AEBB99-FF3F-4E81-A8B8-0CA85D42BDEF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F3717191-5B52-4EAD-9755-FC412217120E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B34E324-C924-4E81-B58B-E9C565E41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pic>
        <p:nvPicPr>
          <p:cNvPr id="10" name="그림 9">
            <a:hlinkClick r:id="rId3"/>
            <a:extLst>
              <a:ext uri="{FF2B5EF4-FFF2-40B4-BE49-F238E27FC236}">
                <a16:creationId xmlns:a16="http://schemas.microsoft.com/office/drawing/2014/main" id="{38D6E8D7-1756-2B4D-E510-4616C598A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362" y="4468453"/>
            <a:ext cx="1511939" cy="438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89BA64C-27F1-ACB1-6E3F-9CA87292F671}"/>
              </a:ext>
            </a:extLst>
          </p:cNvPr>
          <p:cNvSpPr txBox="1"/>
          <p:nvPr/>
        </p:nvSpPr>
        <p:spPr>
          <a:xfrm>
            <a:off x="5930900" y="4895471"/>
            <a:ext cx="32131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https://www.englishcube.net/grammar_exam.php?category2=200</a:t>
            </a:r>
          </a:p>
        </p:txBody>
      </p:sp>
    </p:spTree>
    <p:extLst>
      <p:ext uri="{BB962C8B-B14F-4D97-AF65-F5344CB8AC3E}">
        <p14:creationId xmlns:p14="http://schemas.microsoft.com/office/powerpoint/2010/main" val="4050989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Grammar: </a:t>
            </a:r>
            <a:r>
              <a:rPr lang="ko-KR" altLang="en-US" sz="2000" dirty="0">
                <a:latin typeface="+mj-ea"/>
                <a:ea typeface="+mj-ea"/>
              </a:rPr>
              <a:t>품사를 알면 문장구조가 보인다</a:t>
            </a:r>
            <a:r>
              <a:rPr lang="en-US" altLang="ko-KR" sz="2000" dirty="0">
                <a:latin typeface="+mj-ea"/>
                <a:ea typeface="+mj-ea"/>
              </a:rPr>
              <a:t>.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042289"/>
            <a:ext cx="8664066" cy="380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문장성분은 단어들의 자리 배치도 역할을 합니다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각 문장성분의 자리에는 올 수 있는 단어의 품사가 한정되어 있습니다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9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주어와 목적어 자리에는 명사</a:t>
            </a:r>
            <a:r>
              <a:rPr lang="en-US" altLang="ko-KR" sz="9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9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대명사</a:t>
            </a:r>
            <a:r>
              <a:rPr lang="en-US" altLang="ko-KR" sz="9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오고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9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 자리에는 형용사 또는 명사</a:t>
            </a:r>
            <a:r>
              <a:rPr lang="ko-KR" altLang="en-US" sz="9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</a:t>
            </a:r>
            <a:r>
              <a:rPr lang="ko-KR" altLang="en-US" sz="900" b="0" i="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올 수 있습니다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9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Almost all computer users know Google.  </a:t>
            </a:r>
            <a:r>
              <a:rPr lang="ko-KR" altLang="en-US" sz="9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거의 모든 컴퓨터 사용자가 </a:t>
            </a:r>
            <a:r>
              <a:rPr lang="en-US" altLang="ko-KR" sz="9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Google</a:t>
            </a:r>
            <a:r>
              <a:rPr lang="ko-KR" altLang="en-US" sz="9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알고 있다</a:t>
            </a:r>
            <a:r>
              <a:rPr lang="en-US" altLang="ko-KR" sz="9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9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(Almost all computer users) + 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(know) + 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(Google)</a:t>
            </a:r>
          </a:p>
          <a:p>
            <a:pPr algn="l">
              <a:lnSpc>
                <a:spcPct val="150000"/>
              </a:lnSpc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우리가 영어문장을 보고 이렇게 문장성분으로 분류할 수 있는 이유는 각 단어의 품사를 알고 있기 때문입니다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만약 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users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라는 단어가 명사가 아닌 동사라고 이해했다면 주어를 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Almost all computer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로 착각할 수 있습니다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9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9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went </a:t>
            </a:r>
            <a:r>
              <a:rPr lang="en-US" altLang="ko-KR" sz="9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home</a:t>
            </a:r>
            <a:r>
              <a:rPr lang="en-US" altLang="ko-KR" sz="9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 </a:t>
            </a:r>
            <a:r>
              <a:rPr lang="ko-KR" altLang="en-US" sz="9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집에 갔다</a:t>
            </a:r>
            <a:r>
              <a:rPr lang="en-US" altLang="ko-KR" sz="9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9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(went) +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(home)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(home):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</a:t>
            </a:r>
          </a:p>
          <a:p>
            <a:pPr algn="l">
              <a:lnSpc>
                <a:spcPct val="150000"/>
              </a:lnSpc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위 문장에서 수식어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(home)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 품사는 부사입니다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그래서 아래와 같이 앞에 전치사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(to)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쓰면 안됩니다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.(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전치사는 명사구 앞에서만 쓸 수 있다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.)</a:t>
            </a:r>
          </a:p>
          <a:p>
            <a:pPr algn="l">
              <a:lnSpc>
                <a:spcPct val="150000"/>
              </a:lnSpc>
            </a:pPr>
            <a:r>
              <a:rPr lang="en-US" altLang="ko-KR" sz="9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went </a:t>
            </a:r>
            <a:r>
              <a:rPr lang="en-US" altLang="ko-KR" sz="900" b="1" i="0" strike="sngStrike" dirty="0">
                <a:solidFill>
                  <a:srgbClr val="907E6D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</a:t>
            </a:r>
            <a:r>
              <a:rPr lang="ko-KR" altLang="en-US" sz="9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9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home</a:t>
            </a:r>
            <a:r>
              <a:rPr lang="en-US" altLang="ko-KR" sz="9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9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하지만 아래 문장에서 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home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은 명사로 쓰이기 때문에 전치사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(to)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사용할 수 있습니다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9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went </a:t>
            </a:r>
            <a:r>
              <a:rPr lang="en-US" altLang="ko-KR" sz="9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my home</a:t>
            </a:r>
            <a:r>
              <a:rPr lang="en-US" altLang="ko-KR" sz="9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9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9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집에 갔다</a:t>
            </a:r>
            <a:r>
              <a:rPr lang="en-US" altLang="ko-KR" sz="9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9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(went) +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my home)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my home):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 역할을 하는 전치사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(to) +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명사구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(my home)</a:t>
            </a:r>
          </a:p>
          <a:p>
            <a:pPr algn="l">
              <a:lnSpc>
                <a:spcPct val="150000"/>
              </a:lnSpc>
            </a:pP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차이를 이해하기 위해서는 품사를 알아야 합니다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단어를 공부할 때 의미만 기억하면 안되고 꼭 품사까지 함께 기억해야 합니다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home: </a:t>
            </a:r>
            <a:r>
              <a:rPr lang="en-US" altLang="ko-KR" sz="9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[</a:t>
            </a:r>
            <a:r>
              <a:rPr lang="ko-KR" altLang="en-US" sz="9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</a:t>
            </a:r>
            <a:r>
              <a:rPr lang="en-US" altLang="ko-KR" sz="9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]</a:t>
            </a:r>
            <a:r>
              <a:rPr lang="ko-KR" altLang="en-US" sz="9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집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주택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고향 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 </a:t>
            </a:r>
            <a:r>
              <a:rPr lang="en-US" altLang="ko-KR" sz="9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[</a:t>
            </a:r>
            <a:r>
              <a:rPr lang="ko-KR" altLang="en-US" sz="9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</a:t>
            </a:r>
            <a:r>
              <a:rPr lang="en-US" altLang="ko-KR" sz="9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]</a:t>
            </a:r>
            <a:r>
              <a:rPr lang="ko-KR" altLang="en-US" sz="9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집의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가정의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집에서 만든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국내의 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 </a:t>
            </a:r>
            <a:r>
              <a:rPr lang="en-US" altLang="ko-KR" sz="9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[</a:t>
            </a:r>
            <a:r>
              <a:rPr lang="ko-KR" altLang="en-US" sz="9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</a:t>
            </a:r>
            <a:r>
              <a:rPr lang="en-US" altLang="ko-KR" sz="9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]</a:t>
            </a:r>
            <a:r>
              <a:rPr lang="ko-KR" altLang="en-US" sz="9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집에</a:t>
            </a:r>
            <a:r>
              <a:rPr lang="en-US" altLang="ko-KR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9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집으로</a:t>
            </a:r>
            <a:endParaRPr lang="en-US" altLang="ko-KR" sz="9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4AEBB99-FF3F-4E81-A8B8-0CA85D42BDEF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F3717191-5B52-4EAD-9755-FC412217120E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B34E324-C924-4E81-B58B-E9C565E41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9671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Grammar: 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5193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Righteous"/>
              </a:rPr>
              <a:t>품사를 알면 문장구조가 보인다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5193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Righteous"/>
              </a:rPr>
              <a:t>.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문장구조 이해를 위한 품사 구분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613789"/>
            <a:ext cx="86640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문장 성분을 설명할 때 품사를 아래와 같이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4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개로 단순화 시키면 좀 더 간단해 집니다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4AEBB99-FF3F-4E81-A8B8-0CA85D42BDEF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F3717191-5B52-4EAD-9755-FC412217120E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B34E324-C924-4E81-B58B-E9C565E41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1EE37C3-3E7E-ACA4-E9C6-4D116F90E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408357"/>
              </p:ext>
            </p:extLst>
          </p:nvPr>
        </p:nvGraphicFramePr>
        <p:xfrm>
          <a:off x="524192" y="2008505"/>
          <a:ext cx="8095616" cy="1066800"/>
        </p:xfrm>
        <a:graphic>
          <a:graphicData uri="http://schemas.openxmlformats.org/drawingml/2006/table">
            <a:tbl>
              <a:tblPr/>
              <a:tblGrid>
                <a:gridCol w="2428685">
                  <a:extLst>
                    <a:ext uri="{9D8B030D-6E8A-4147-A177-3AD203B41FA5}">
                      <a16:colId xmlns:a16="http://schemas.microsoft.com/office/drawing/2014/main" val="2408678637"/>
                    </a:ext>
                  </a:extLst>
                </a:gridCol>
                <a:gridCol w="5666931">
                  <a:extLst>
                    <a:ext uri="{9D8B030D-6E8A-4147-A177-3AD203B41FA5}">
                      <a16:colId xmlns:a16="http://schemas.microsoft.com/office/drawing/2014/main" val="2583188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명사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명사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명사구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대명사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동명사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to 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부정사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명사절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653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동사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동사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 dirty="0" err="1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동사구</a:t>
                      </a:r>
                      <a:endParaRPr lang="ko-KR" altLang="en-US" sz="1000" b="0" baseline="0" dirty="0">
                        <a:solidFill>
                          <a:srgbClr val="40404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13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형용사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형용사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형용사구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형용사절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74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부사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부사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부사구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부사절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284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5C7FE7E-46B8-8555-AD33-26748CB1BBBE}"/>
              </a:ext>
            </a:extLst>
          </p:cNvPr>
          <p:cNvSpPr txBox="1"/>
          <p:nvPr/>
        </p:nvSpPr>
        <p:spPr>
          <a:xfrm>
            <a:off x="247545" y="3353138"/>
            <a:ext cx="8664066" cy="759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4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가지로 단순화 했지만 문법에서 배우는 내용이 대부분 여기에 포함됩니다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명사와 대명사는 다른 품사이지만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문장성분과 관련해서는 같은 역할을 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그래서 명사에 포함해도 문제가 없습니다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문법을 설명할 때는 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부사의 범위를 넓게 사용한다고 이해하면 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9986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Grammar: 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5193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Righteous"/>
              </a:rPr>
              <a:t>품사를 알면 문장구조가 보인다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5193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Righteous"/>
              </a:rPr>
              <a:t>.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5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가지 문장성분과 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4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가지 품사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486789"/>
            <a:ext cx="8664066" cy="75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문장성분은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5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가지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품사 역시 단순화 시키면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4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가지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이렇게 간략화 시켜서 보면 아래와 같은 관계가 성립합니다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4AEBB99-FF3F-4E81-A8B8-0CA85D42BDEF}"/>
              </a:ext>
            </a:extLst>
          </p:cNvPr>
          <p:cNvGrpSpPr/>
          <p:nvPr/>
        </p:nvGrpSpPr>
        <p:grpSpPr>
          <a:xfrm>
            <a:off x="8343693" y="377904"/>
            <a:ext cx="639505" cy="639505"/>
            <a:chOff x="8343693" y="377904"/>
            <a:chExt cx="639505" cy="639505"/>
          </a:xfrm>
        </p:grpSpPr>
        <p:sp>
          <p:nvSpPr>
            <p:cNvPr id="8" name="Google Shape;1750;p54">
              <a:extLst>
                <a:ext uri="{FF2B5EF4-FFF2-40B4-BE49-F238E27FC236}">
                  <a16:creationId xmlns:a16="http://schemas.microsoft.com/office/drawing/2014/main" id="{F3717191-5B52-4EAD-9755-FC412217120E}"/>
                </a:ext>
              </a:extLst>
            </p:cNvPr>
            <p:cNvSpPr/>
            <p:nvPr/>
          </p:nvSpPr>
          <p:spPr>
            <a:xfrm>
              <a:off x="8343693" y="377904"/>
              <a:ext cx="639505" cy="63950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B34E324-C924-4E81-B58B-E9C565E41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1271" y="475482"/>
              <a:ext cx="444348" cy="444348"/>
            </a:xfrm>
            <a:prstGeom prst="rect">
              <a:avLst/>
            </a:prstGeom>
          </p:spPr>
        </p:pic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2787C61-EB38-8FBE-C3AC-641A48C9A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446570"/>
              </p:ext>
            </p:extLst>
          </p:nvPr>
        </p:nvGraphicFramePr>
        <p:xfrm>
          <a:off x="454342" y="2393758"/>
          <a:ext cx="3857308" cy="1600200"/>
        </p:xfrm>
        <a:graphic>
          <a:graphicData uri="http://schemas.openxmlformats.org/drawingml/2006/table">
            <a:tbl>
              <a:tblPr/>
              <a:tblGrid>
                <a:gridCol w="1926908">
                  <a:extLst>
                    <a:ext uri="{9D8B030D-6E8A-4147-A177-3AD203B41FA5}">
                      <a16:colId xmlns:a16="http://schemas.microsoft.com/office/drawing/2014/main" val="2733413419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737865506"/>
                    </a:ext>
                  </a:extLst>
                </a:gridCol>
              </a:tblGrid>
              <a:tr h="15645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문장성분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품사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516413"/>
                  </a:ext>
                </a:extLst>
              </a:tr>
              <a:tr h="15645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주어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명사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007946"/>
                  </a:ext>
                </a:extLst>
              </a:tr>
              <a:tr h="15645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동사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동사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19174"/>
                  </a:ext>
                </a:extLst>
              </a:tr>
              <a:tr h="15645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목적어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명사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449198"/>
                  </a:ext>
                </a:extLst>
              </a:tr>
              <a:tr h="15645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보어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명사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형용사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397492"/>
                  </a:ext>
                </a:extLst>
              </a:tr>
              <a:tr h="15645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수식어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부사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형용사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405935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C7A5F93-B6F4-587E-F7A8-73A454B79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532865"/>
              </p:ext>
            </p:extLst>
          </p:nvPr>
        </p:nvGraphicFramePr>
        <p:xfrm>
          <a:off x="4689792" y="2393758"/>
          <a:ext cx="3863658" cy="1333500"/>
        </p:xfrm>
        <a:graphic>
          <a:graphicData uri="http://schemas.openxmlformats.org/drawingml/2006/table">
            <a:tbl>
              <a:tblPr/>
              <a:tblGrid>
                <a:gridCol w="1931829">
                  <a:extLst>
                    <a:ext uri="{9D8B030D-6E8A-4147-A177-3AD203B41FA5}">
                      <a16:colId xmlns:a16="http://schemas.microsoft.com/office/drawing/2014/main" val="4126951443"/>
                    </a:ext>
                  </a:extLst>
                </a:gridCol>
                <a:gridCol w="1931829">
                  <a:extLst>
                    <a:ext uri="{9D8B030D-6E8A-4147-A177-3AD203B41FA5}">
                      <a16:colId xmlns:a16="http://schemas.microsoft.com/office/drawing/2014/main" val="19196689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333333"/>
                          </a:solidFill>
                          <a:effectLst/>
                        </a:rPr>
                        <a:t>품사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333333"/>
                          </a:solidFill>
                          <a:effectLst/>
                        </a:rPr>
                        <a:t>문장성분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263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명사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주어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목적어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보어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524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동사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동사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119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형용사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보어</a:t>
                      </a:r>
                      <a:r>
                        <a:rPr lang="en-US" altLang="ko-KR" sz="1000" b="0">
                          <a:solidFill>
                            <a:srgbClr val="40404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수식어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515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404040"/>
                          </a:solidFill>
                          <a:effectLst/>
                        </a:rPr>
                        <a:t>부사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404040"/>
                          </a:solidFill>
                          <a:effectLst/>
                        </a:rPr>
                        <a:t>수식어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1639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EF6F8D2-0ED2-0D55-EFD7-CA0DFC8E1247}"/>
              </a:ext>
            </a:extLst>
          </p:cNvPr>
          <p:cNvSpPr txBox="1"/>
          <p:nvPr/>
        </p:nvSpPr>
        <p:spPr>
          <a:xfrm>
            <a:off x="247545" y="4121703"/>
            <a:ext cx="8664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부사는 수식어 밖에 될 수 없습니다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그래서 부사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 등이 긴 문장을 만들 때는 수식어 거품으로 처리하고 문장의 구조를 단순화 해서 파악합니다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14" name="그림 13">
            <a:hlinkClick r:id="rId3"/>
            <a:extLst>
              <a:ext uri="{FF2B5EF4-FFF2-40B4-BE49-F238E27FC236}">
                <a16:creationId xmlns:a16="http://schemas.microsoft.com/office/drawing/2014/main" id="{F587083B-E86A-A975-6CA6-04E05A140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362" y="4468453"/>
            <a:ext cx="1511939" cy="4389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CBD96A9-419E-20DC-8971-DED5A7BF628B}"/>
              </a:ext>
            </a:extLst>
          </p:cNvPr>
          <p:cNvSpPr txBox="1"/>
          <p:nvPr/>
        </p:nvSpPr>
        <p:spPr>
          <a:xfrm>
            <a:off x="5861049" y="4907403"/>
            <a:ext cx="32137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https://www.englishcube.net/grammar_exam.php?category2=154</a:t>
            </a:r>
          </a:p>
        </p:txBody>
      </p:sp>
    </p:spTree>
    <p:extLst>
      <p:ext uri="{BB962C8B-B14F-4D97-AF65-F5344CB8AC3E}">
        <p14:creationId xmlns:p14="http://schemas.microsoft.com/office/powerpoint/2010/main" val="1885364511"/>
      </p:ext>
    </p:extLst>
  </p:cSld>
  <p:clrMapOvr>
    <a:masterClrMapping/>
  </p:clrMapOvr>
</p:sld>
</file>

<file path=ppt/theme/theme1.xml><?xml version="1.0" encoding="utf-8"?>
<a:theme xmlns:a="http://schemas.openxmlformats.org/drawingml/2006/main" name="TOWN HALL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A3CAF7"/>
      </a:accent1>
      <a:accent2>
        <a:srgbClr val="EB573D"/>
      </a:accent2>
      <a:accent3>
        <a:srgbClr val="5FA4AB"/>
      </a:accent3>
      <a:accent4>
        <a:srgbClr val="051934"/>
      </a:accent4>
      <a:accent5>
        <a:srgbClr val="F8C379"/>
      </a:accent5>
      <a:accent6>
        <a:srgbClr val="FA977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8796</TotalTime>
  <Words>3067</Words>
  <Application>Microsoft Office PowerPoint</Application>
  <PresentationFormat>화면 슬라이드 쇼(16:9)</PresentationFormat>
  <Paragraphs>416</Paragraphs>
  <Slides>29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8" baseType="lpstr">
      <vt:lpstr>맑은 고딕</vt:lpstr>
      <vt:lpstr>Open Sans</vt:lpstr>
      <vt:lpstr>Symbol</vt:lpstr>
      <vt:lpstr>HY헤드라인M</vt:lpstr>
      <vt:lpstr>Wingdings</vt:lpstr>
      <vt:lpstr>Calibri</vt:lpstr>
      <vt:lpstr>Arial</vt:lpstr>
      <vt:lpstr>Righteous</vt:lpstr>
      <vt:lpstr>TOWN HALL BUSINESS PLAN</vt:lpstr>
      <vt:lpstr>외국어시험 대체 강좌 – 시사영어 </vt:lpstr>
      <vt:lpstr>Table of Contents</vt:lpstr>
      <vt:lpstr>정치 외교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2. Word List </vt:lpstr>
      <vt:lpstr>2. Word List </vt:lpstr>
      <vt:lpstr>2. Word List </vt:lpstr>
      <vt:lpstr>2. Word List </vt:lpstr>
      <vt:lpstr>2. Word List </vt:lpstr>
      <vt:lpstr>3.1 Grammar: 문장성분과 품사</vt:lpstr>
      <vt:lpstr>3.1 Grammar: 문장성분과 품사</vt:lpstr>
      <vt:lpstr>3.1 Grammar: 문장성분과 품사</vt:lpstr>
      <vt:lpstr>3.1 Grammar: 문장성분과 품사</vt:lpstr>
      <vt:lpstr>3.2 Grammar: 문장성분</vt:lpstr>
      <vt:lpstr>3.2 Grammar: 문장성분</vt:lpstr>
      <vt:lpstr>3.2 Grammar: 문장성분</vt:lpstr>
      <vt:lpstr>3.2 Grammar: 문장성분</vt:lpstr>
      <vt:lpstr>3.2 Grammar: 문장성분</vt:lpstr>
      <vt:lpstr>3.2 Grammar: 문장성분</vt:lpstr>
      <vt:lpstr>3.3 Grammar: 품사를 알면 문장구조가 보인다.</vt:lpstr>
      <vt:lpstr>3.3 Grammar: 품사를 알면 문장구조가 보인다.</vt:lpstr>
      <vt:lpstr>3.3 Grammar: 품사를 알면 문장구조가 보인다.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솔루션 소개 및 시연</dc:title>
  <dc:creator>Kyunghee</dc:creator>
  <cp:lastModifiedBy>Kyunghee Lee</cp:lastModifiedBy>
  <cp:revision>131</cp:revision>
  <dcterms:modified xsi:type="dcterms:W3CDTF">2024-01-04T11:12:48Z</dcterms:modified>
</cp:coreProperties>
</file>