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26"/>
  </p:notesMasterIdLst>
  <p:sldIdLst>
    <p:sldId id="256" r:id="rId2"/>
    <p:sldId id="279" r:id="rId3"/>
    <p:sldId id="261" r:id="rId4"/>
    <p:sldId id="378" r:id="rId5"/>
    <p:sldId id="482" r:id="rId6"/>
    <p:sldId id="483" r:id="rId7"/>
    <p:sldId id="484" r:id="rId8"/>
    <p:sldId id="475" r:id="rId9"/>
    <p:sldId id="485" r:id="rId10"/>
    <p:sldId id="486" r:id="rId11"/>
    <p:sldId id="487" r:id="rId12"/>
    <p:sldId id="488" r:id="rId13"/>
    <p:sldId id="489" r:id="rId14"/>
    <p:sldId id="490" r:id="rId15"/>
    <p:sldId id="434" r:id="rId16"/>
    <p:sldId id="503" r:id="rId17"/>
    <p:sldId id="505" r:id="rId18"/>
    <p:sldId id="506" r:id="rId19"/>
    <p:sldId id="497" r:id="rId20"/>
    <p:sldId id="498" r:id="rId21"/>
    <p:sldId id="499" r:id="rId22"/>
    <p:sldId id="500" r:id="rId23"/>
    <p:sldId id="501" r:id="rId24"/>
    <p:sldId id="502" r:id="rId25"/>
  </p:sldIdLst>
  <p:sldSz cx="9144000" cy="5143500" type="screen16x9"/>
  <p:notesSz cx="6797675" cy="9926638"/>
  <p:embeddedFontLst>
    <p:embeddedFont>
      <p:font typeface="HY헤드라인M" panose="02030600000101010101" pitchFamily="18" charset="-127"/>
      <p:regular r:id="rId27"/>
    </p:embeddedFont>
    <p:embeddedFont>
      <p:font typeface="Open Sans" panose="020B0606030504020204" pitchFamily="34" charset="0"/>
      <p:regular r:id="rId28"/>
      <p:bold r:id="rId29"/>
      <p:italic r:id="rId30"/>
      <p:boldItalic r:id="rId31"/>
    </p:embeddedFont>
    <p:embeddedFont>
      <p:font typeface="Righteous" panose="020B0600000101010101" charset="0"/>
      <p:regular r:id="rId32"/>
    </p:embeddedFont>
    <p:embeddedFont>
      <p:font typeface="맑은 고딕" panose="020B0503020000020004" pitchFamily="50" charset="-127"/>
      <p:regular r:id="rId33"/>
      <p:bold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DCAE"/>
    <a:srgbClr val="A3CAF7"/>
    <a:srgbClr val="F8C379"/>
    <a:srgbClr val="663DB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A76DC9-9F1E-41F9-AC6C-C94DD4396BF5}">
  <a:tblStyle styleId="{EAA76DC9-9F1E-41F9-AC6C-C94DD4396BF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2" autoAdjust="0"/>
    <p:restoredTop sz="94681" autoAdjust="0"/>
  </p:normalViewPr>
  <p:slideViewPr>
    <p:cSldViewPr snapToGrid="0">
      <p:cViewPr varScale="1">
        <p:scale>
          <a:sx n="137" d="100"/>
          <a:sy n="137" d="100"/>
        </p:scale>
        <p:origin x="53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p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g6b628f12ae_0_158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1" name="Google Shape;1781;g6b628f12ae_0_15816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70bcfaa05b_0_5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70bcfaa05b_0_508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626300" y="1288975"/>
            <a:ext cx="58914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823850" y="1953225"/>
            <a:ext cx="54963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-18775" y="-20375"/>
            <a:ext cx="2771700" cy="51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1176992" y="2560534"/>
            <a:ext cx="3537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1176992" y="945225"/>
            <a:ext cx="2511900" cy="7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1176992" y="3591825"/>
            <a:ext cx="31791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+mn-ea"/>
                <a:ea typeface="+mn-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TITLE_AND_TWO_COLUMNS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3775" y="1261200"/>
            <a:ext cx="2877625" cy="29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77800" lvl="0" indent="-177800" rtl="0">
              <a:spcBef>
                <a:spcPts val="0"/>
              </a:spcBef>
              <a:spcAft>
                <a:spcPts val="0"/>
              </a:spcAft>
              <a:buClr>
                <a:schemeClr val="accent4">
                  <a:lumMod val="50000"/>
                  <a:lumOff val="50000"/>
                </a:schemeClr>
              </a:buClr>
              <a:buSzPts val="1200"/>
              <a:buFont typeface="Wingdings" panose="05000000000000000000" pitchFamily="2" charset="2"/>
              <a:buChar char="§"/>
              <a:defRPr sz="1200">
                <a:latin typeface="+mn-ea"/>
                <a:ea typeface="+mn-ea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" name="Text Box 13">
            <a:extLst>
              <a:ext uri="{FF2B5EF4-FFF2-40B4-BE49-F238E27FC236}">
                <a16:creationId xmlns:a16="http://schemas.microsoft.com/office/drawing/2014/main" id="{601ED383-4240-451C-AF24-F5BEBCACFF7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53464" y="40307"/>
            <a:ext cx="1326408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951" tIns="41976" rIns="83951" bIns="41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Page No.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</a:t>
            </a:r>
            <a:fld id="{C1B2BC9E-BD5D-474B-A148-D311938ED256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 preserve="1">
  <p:cSld name="1_Title + Bullet Poin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3775" y="1261200"/>
            <a:ext cx="2877625" cy="29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77800" lvl="0" indent="-177800" rtl="0">
              <a:spcBef>
                <a:spcPts val="0"/>
              </a:spcBef>
              <a:spcAft>
                <a:spcPts val="0"/>
              </a:spcAft>
              <a:buClr>
                <a:schemeClr val="accent4">
                  <a:lumMod val="50000"/>
                  <a:lumOff val="50000"/>
                </a:schemeClr>
              </a:buClr>
              <a:buSzPts val="1200"/>
              <a:buFont typeface="Wingdings" panose="05000000000000000000" pitchFamily="2" charset="2"/>
              <a:buChar char="§"/>
              <a:defRPr sz="1200">
                <a:latin typeface="+mn-ea"/>
                <a:ea typeface="+mn-ea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90B2C87-6623-7087-CBE0-7109EC4CC4FE}"/>
              </a:ext>
            </a:extLst>
          </p:cNvPr>
          <p:cNvSpPr/>
          <p:nvPr userDrawn="1"/>
        </p:nvSpPr>
        <p:spPr>
          <a:xfrm>
            <a:off x="3758472" y="1320077"/>
            <a:ext cx="5159468" cy="2902423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 Box 13">
            <a:extLst>
              <a:ext uri="{FF2B5EF4-FFF2-40B4-BE49-F238E27FC236}">
                <a16:creationId xmlns:a16="http://schemas.microsoft.com/office/drawing/2014/main" id="{FA2A9844-F7AA-4437-8D4C-790546ED925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53464" y="40307"/>
            <a:ext cx="1326408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951" tIns="41976" rIns="83951" bIns="41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Page No.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</a:t>
            </a:r>
            <a:fld id="{C1B2BC9E-BD5D-474B-A148-D311938ED256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1922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 preserve="1">
  <p:cSld name="1_Title + Bullet Poin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3775" y="1261200"/>
            <a:ext cx="6856800" cy="29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+mn-ea"/>
                <a:ea typeface="+mn-ea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E15FA631-D0C2-45C4-B074-C5C35779E85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53464" y="40307"/>
            <a:ext cx="1326408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951" tIns="41976" rIns="83951" bIns="41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Page No.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</a:t>
            </a:r>
            <a:fld id="{C1B2BC9E-BD5D-474B-A148-D311938ED256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5319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3">
  <p:cSld name="SECTION_HEADER_1_1_1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/>
          <p:nvPr/>
        </p:nvSpPr>
        <p:spPr>
          <a:xfrm>
            <a:off x="-13350" y="1853400"/>
            <a:ext cx="9170700" cy="3345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title"/>
          </p:nvPr>
        </p:nvSpPr>
        <p:spPr>
          <a:xfrm>
            <a:off x="1165031" y="2560525"/>
            <a:ext cx="4387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 dirty="0"/>
          </a:p>
        </p:txBody>
      </p:sp>
      <p:sp>
        <p:nvSpPr>
          <p:cNvPr id="148" name="Google Shape;148;p23"/>
          <p:cNvSpPr txBox="1">
            <a:spLocks noGrp="1"/>
          </p:cNvSpPr>
          <p:nvPr>
            <p:ph type="title" idx="2" hasCustomPrompt="1"/>
          </p:nvPr>
        </p:nvSpPr>
        <p:spPr>
          <a:xfrm>
            <a:off x="1165031" y="945225"/>
            <a:ext cx="2511900" cy="7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49" name="Google Shape;149;p23"/>
          <p:cNvSpPr txBox="1">
            <a:spLocks noGrp="1"/>
          </p:cNvSpPr>
          <p:nvPr>
            <p:ph type="subTitle" idx="1"/>
          </p:nvPr>
        </p:nvSpPr>
        <p:spPr>
          <a:xfrm>
            <a:off x="1165031" y="3591825"/>
            <a:ext cx="31791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+mn-ea"/>
                <a:ea typeface="+mn-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Righteous"/>
              <a:buNone/>
              <a:defRPr sz="2800">
                <a:solidFill>
                  <a:schemeClr val="accent4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Open Sans"/>
              <a:buChar char="●"/>
              <a:defRPr sz="18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●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●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9" r:id="rId3"/>
    <p:sldLayoutId id="2147483680" r:id="rId4"/>
    <p:sldLayoutId id="2147483679" r:id="rId5"/>
    <p:sldLayoutId id="2147483669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+mn-ea"/>
          <a:ea typeface="+mn-ea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glishcube.net/grammar_exam.php?category2=94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2"/>
          <p:cNvSpPr txBox="1">
            <a:spLocks noGrp="1"/>
          </p:cNvSpPr>
          <p:nvPr>
            <p:ph type="ctrTitle"/>
          </p:nvPr>
        </p:nvSpPr>
        <p:spPr>
          <a:xfrm>
            <a:off x="783925" y="1288975"/>
            <a:ext cx="75762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0" b="1" dirty="0">
                <a:solidFill>
                  <a:srgbClr val="A3CAF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외국어시험 </a:t>
            </a:r>
            <a:r>
              <a:rPr lang="ko-KR" altLang="en-US" sz="3200" b="1">
                <a:solidFill>
                  <a:srgbClr val="A3CAF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대체 강좌</a:t>
            </a:r>
            <a:r>
              <a:rPr lang="en-US" altLang="ko-KR" sz="3200" b="1">
                <a:solidFill>
                  <a:srgbClr val="A3CAF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rgbClr val="A3CAF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3200" b="1" dirty="0">
                <a:solidFill>
                  <a:srgbClr val="A3CAF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시사영어 </a:t>
            </a:r>
            <a:endParaRPr sz="3200" b="1" dirty="0">
              <a:solidFill>
                <a:srgbClr val="A3CAF7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56" name="Google Shape;356;p32"/>
          <p:cNvSpPr txBox="1">
            <a:spLocks noGrp="1"/>
          </p:cNvSpPr>
          <p:nvPr>
            <p:ph type="subTitle" idx="1"/>
          </p:nvPr>
        </p:nvSpPr>
        <p:spPr>
          <a:xfrm>
            <a:off x="1639637" y="2081574"/>
            <a:ext cx="5496300" cy="9803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Current English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p55"/>
          <p:cNvSpPr txBox="1">
            <a:spLocks noGrp="1"/>
          </p:cNvSpPr>
          <p:nvPr>
            <p:ph type="title" idx="2"/>
          </p:nvPr>
        </p:nvSpPr>
        <p:spPr>
          <a:xfrm>
            <a:off x="338557" y="945225"/>
            <a:ext cx="4559285" cy="7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Table of Contents</a:t>
            </a:r>
            <a:endParaRPr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6960D9-03BA-60D3-95A2-F3D5083B510D}"/>
              </a:ext>
            </a:extLst>
          </p:cNvPr>
          <p:cNvSpPr txBox="1"/>
          <p:nvPr/>
        </p:nvSpPr>
        <p:spPr>
          <a:xfrm>
            <a:off x="905047" y="1940420"/>
            <a:ext cx="47488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chemeClr val="accent5">
                    <a:lumMod val="50000"/>
                  </a:schemeClr>
                </a:solidFill>
              </a:rPr>
              <a:t>문화 과학</a:t>
            </a:r>
            <a:endParaRPr lang="en-US" altLang="ko-KR" sz="1600" b="1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ko-KR" altLang="en-US" b="1" dirty="0"/>
              <a:t>연예인</a:t>
            </a:r>
            <a:r>
              <a:rPr lang="en-US" altLang="ko-KR" b="1" dirty="0"/>
              <a:t>/ SNS</a:t>
            </a:r>
            <a:r>
              <a:rPr lang="ko-KR" altLang="en-US" b="1" dirty="0"/>
              <a:t> </a:t>
            </a:r>
            <a:r>
              <a:rPr lang="en-US" altLang="ko-KR" b="1" dirty="0"/>
              <a:t>/ </a:t>
            </a:r>
            <a:r>
              <a:rPr lang="ko-KR" altLang="en-US" b="1" dirty="0"/>
              <a:t>자율주행차</a:t>
            </a:r>
            <a:r>
              <a:rPr lang="en-US" altLang="ko-KR" b="1" dirty="0"/>
              <a:t>/</a:t>
            </a:r>
            <a:r>
              <a:rPr lang="ko-KR" altLang="en-US" b="1" dirty="0"/>
              <a:t>생명과학</a:t>
            </a:r>
            <a:r>
              <a:rPr lang="en-US" altLang="ko-KR" b="1" dirty="0"/>
              <a:t>/</a:t>
            </a:r>
            <a:r>
              <a:rPr lang="ko-KR" altLang="en-US" b="1" dirty="0"/>
              <a:t>인공지능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C3B164-1416-E22A-B07D-4ECB67E734D7}"/>
              </a:ext>
            </a:extLst>
          </p:cNvPr>
          <p:cNvSpPr txBox="1"/>
          <p:nvPr/>
        </p:nvSpPr>
        <p:spPr>
          <a:xfrm>
            <a:off x="292156" y="2517335"/>
            <a:ext cx="4089070" cy="1170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Expressions</a:t>
            </a:r>
          </a:p>
          <a:p>
            <a:pPr marL="180975" indent="-180975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Wordlist</a:t>
            </a:r>
          </a:p>
          <a:p>
            <a:pPr marL="180975" indent="-180975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Grammar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3.1 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부정 대명사 </a:t>
            </a: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Some, any</a:t>
            </a:r>
          </a:p>
        </p:txBody>
      </p:sp>
      <p:sp>
        <p:nvSpPr>
          <p:cNvPr id="9" name="Google Shape;1750;p54">
            <a:extLst>
              <a:ext uri="{FF2B5EF4-FFF2-40B4-BE49-F238E27FC236}">
                <a16:creationId xmlns:a16="http://schemas.microsoft.com/office/drawing/2014/main" id="{F4A99721-B933-49C0-A7D7-C66E2C6BD1BF}"/>
              </a:ext>
            </a:extLst>
          </p:cNvPr>
          <p:cNvSpPr/>
          <p:nvPr/>
        </p:nvSpPr>
        <p:spPr>
          <a:xfrm>
            <a:off x="211075" y="1897666"/>
            <a:ext cx="639505" cy="639505"/>
          </a:xfrm>
          <a:prstGeom prst="ellipse">
            <a:avLst/>
          </a:prstGeom>
          <a:solidFill>
            <a:srgbClr val="FDDCA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FD8B811-C804-4ECD-B30E-8433762C7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850" y="1994778"/>
            <a:ext cx="403953" cy="4039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1750;p54">
            <a:extLst>
              <a:ext uri="{FF2B5EF4-FFF2-40B4-BE49-F238E27FC236}">
                <a16:creationId xmlns:a16="http://schemas.microsoft.com/office/drawing/2014/main" id="{B59FF772-E584-79B9-ECAB-9369D6249537}"/>
              </a:ext>
            </a:extLst>
          </p:cNvPr>
          <p:cNvSpPr/>
          <p:nvPr/>
        </p:nvSpPr>
        <p:spPr>
          <a:xfrm>
            <a:off x="4999220" y="1102495"/>
            <a:ext cx="2938510" cy="293851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37"/>
          <p:cNvSpPr txBox="1">
            <a:spLocks noGrp="1"/>
          </p:cNvSpPr>
          <p:nvPr>
            <p:ph type="title"/>
          </p:nvPr>
        </p:nvSpPr>
        <p:spPr>
          <a:xfrm>
            <a:off x="1177000" y="2560525"/>
            <a:ext cx="3873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+mj-ea"/>
                <a:ea typeface="+mj-ea"/>
              </a:rPr>
              <a:t>문화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과학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730" name="Google Shape;730;p37"/>
          <p:cNvSpPr txBox="1">
            <a:spLocks noGrp="1"/>
          </p:cNvSpPr>
          <p:nvPr>
            <p:ph type="subTitle" idx="1"/>
          </p:nvPr>
        </p:nvSpPr>
        <p:spPr>
          <a:xfrm>
            <a:off x="132623" y="3591825"/>
            <a:ext cx="4802345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연예인</a:t>
            </a:r>
            <a:r>
              <a:rPr lang="en-US" altLang="ko-KR" dirty="0"/>
              <a:t>/ SNS / </a:t>
            </a:r>
            <a:r>
              <a:rPr lang="ko-KR" altLang="en-US" dirty="0"/>
              <a:t>자율주행차</a:t>
            </a:r>
            <a:r>
              <a:rPr lang="en-US" altLang="ko-KR" dirty="0"/>
              <a:t>/</a:t>
            </a:r>
            <a:r>
              <a:rPr lang="ko-KR" altLang="en-US" dirty="0"/>
              <a:t>생명과학</a:t>
            </a:r>
            <a:r>
              <a:rPr lang="en-US" altLang="ko-KR" dirty="0"/>
              <a:t>/</a:t>
            </a:r>
            <a:r>
              <a:rPr lang="ko-KR" altLang="en-US" dirty="0"/>
              <a:t>인공지능</a:t>
            </a:r>
          </a:p>
        </p:txBody>
      </p:sp>
      <p:sp>
        <p:nvSpPr>
          <p:cNvPr id="21" name="제목 2">
            <a:extLst>
              <a:ext uri="{FF2B5EF4-FFF2-40B4-BE49-F238E27FC236}">
                <a16:creationId xmlns:a16="http://schemas.microsoft.com/office/drawing/2014/main" id="{B8CC920F-C452-0ABE-B7D2-CF578CEADACC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1176992" y="945225"/>
            <a:ext cx="2511900" cy="789300"/>
          </a:xfrm>
        </p:spPr>
        <p:txBody>
          <a:bodyPr/>
          <a:lstStyle/>
          <a:p>
            <a:r>
              <a:rPr lang="en-US" altLang="ko-KR" sz="4400" dirty="0"/>
              <a:t>15</a:t>
            </a:r>
            <a:endParaRPr lang="ko-KR" altLang="en-US" sz="44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880B359-9817-41EC-81F1-D42180CDF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258" y="1577098"/>
            <a:ext cx="1856154" cy="18561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F474CDB-9205-9F5F-577C-61A0A37F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07420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940069C-F7C3-4F96-9764-C222DA00B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483313"/>
              </p:ext>
            </p:extLst>
          </p:nvPr>
        </p:nvGraphicFramePr>
        <p:xfrm>
          <a:off x="367145" y="1149041"/>
          <a:ext cx="8333511" cy="37338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187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Kim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was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caught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drunk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driving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again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and now it’s all over the media.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Celebrities are always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in the public eye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 They have to learn how to behave, or face the consequences. 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대중의 시선을 받는다고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public always pay attention to celebrities.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Celebrities are always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in the public eye. </a:t>
                      </a:r>
                      <a:endParaRPr lang="ko-KR" altLang="en-US" sz="1000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188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What do you think about celebrities who are outspoken on political issues?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 think they have to be careful as their voices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carry more weight</a:t>
                      </a:r>
                      <a:r>
                        <a:rPr lang="en-US" altLang="ko-KR" sz="1000" dirty="0"/>
                        <a:t>. Young fans can be easily swayed by the opinions of their idols.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더 큰 영향력을 발휘한다고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Voices of celebrities can be more influential.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Voices of celebrities can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carry more weight. </a:t>
                      </a:r>
                      <a:endParaRPr lang="ko-KR" altLang="en-US" sz="1000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7717195-D66E-8CE2-7520-0565B0A5E722}"/>
              </a:ext>
            </a:extLst>
          </p:cNvPr>
          <p:cNvSpPr txBox="1"/>
          <p:nvPr/>
        </p:nvSpPr>
        <p:spPr>
          <a:xfrm>
            <a:off x="3950763" y="621234"/>
            <a:ext cx="1831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연예인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sp>
        <p:nvSpPr>
          <p:cNvPr id="7" name="Google Shape;1750;p54">
            <a:extLst>
              <a:ext uri="{FF2B5EF4-FFF2-40B4-BE49-F238E27FC236}">
                <a16:creationId xmlns:a16="http://schemas.microsoft.com/office/drawing/2014/main" id="{4B604909-6D3B-44ED-9A51-917E7C1FEEA7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CFC31DD-B7D0-41E2-86A7-CE2AD18C5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376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F474CDB-9205-9F5F-577C-61A0A37F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07420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940069C-F7C3-4F96-9764-C222DA00B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8744339"/>
              </p:ext>
            </p:extLst>
          </p:nvPr>
        </p:nvGraphicFramePr>
        <p:xfrm>
          <a:off x="367145" y="1149041"/>
          <a:ext cx="8333511" cy="37084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189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If you were to become a celebrity, would you try to be neutral on social issues or rather be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politically involved</a:t>
                      </a:r>
                      <a:r>
                        <a:rPr lang="en-US" altLang="ko-KR" sz="1000" dirty="0"/>
                        <a:t>?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I’d be politically involved, for sure. Entertainers have the right to say what they think is right or wrong.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정치적으로 행동한다고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Would you try to be neutral on social issues or rather be actively interested in politics?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Would you try to be neutral on social issues or rather be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politically involved</a:t>
                      </a:r>
                      <a:r>
                        <a:rPr lang="en-US" altLang="ko-KR" sz="1000" dirty="0"/>
                        <a:t>?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190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 suspect that 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some</a:t>
                      </a:r>
                      <a:r>
                        <a:rPr lang="en-US" altLang="ko-KR" sz="1000" dirty="0"/>
                        <a:t> celebrities want to be socially aware simply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to keep the spotlight on themselves</a:t>
                      </a:r>
                      <a:r>
                        <a:rPr lang="en-US" altLang="ko-KR" sz="1000" dirty="0"/>
                        <a:t>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Wouldn’t it be easier for them to stay neutral than to speak out? Let’s give them the benefit of the doubt.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주목을 받는다고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Some</a:t>
                      </a:r>
                      <a:r>
                        <a:rPr lang="en-US" altLang="ko-KR" sz="1000" dirty="0"/>
                        <a:t> celebrities want to be socially aware simply to receive public attention.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Some</a:t>
                      </a:r>
                      <a:r>
                        <a:rPr lang="en-US" altLang="ko-KR" sz="1000" dirty="0"/>
                        <a:t> celebrities want to be socially aware simply to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keep the spotlight on themselves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7717195-D66E-8CE2-7520-0565B0A5E722}"/>
              </a:ext>
            </a:extLst>
          </p:cNvPr>
          <p:cNvSpPr txBox="1"/>
          <p:nvPr/>
        </p:nvSpPr>
        <p:spPr>
          <a:xfrm>
            <a:off x="3950763" y="621234"/>
            <a:ext cx="1831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[</a:t>
            </a:r>
            <a:r>
              <a: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연예인</a:t>
            </a: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]</a:t>
            </a:r>
            <a:endParaRPr kumimoji="0" lang="ko-KR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Google Shape;1750;p54">
            <a:extLst>
              <a:ext uri="{FF2B5EF4-FFF2-40B4-BE49-F238E27FC236}">
                <a16:creationId xmlns:a16="http://schemas.microsoft.com/office/drawing/2014/main" id="{4B604909-6D3B-44ED-9A51-917E7C1FEEA7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CFC31DD-B7D0-41E2-86A7-CE2AD18C5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408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F474CDB-9205-9F5F-577C-61A0A37F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07420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940069C-F7C3-4F96-9764-C222DA00B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521354"/>
              </p:ext>
            </p:extLst>
          </p:nvPr>
        </p:nvGraphicFramePr>
        <p:xfrm>
          <a:off x="367145" y="1149041"/>
          <a:ext cx="8333511" cy="37084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191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I can’t understand Kim. He doesn’t seem to discern when to come forth and when to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lay low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Yeah, his arguments never sound well-thought-out. He just ends up sounding shallow. 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나서지 않는다고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Simple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He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doesn’t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know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when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come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forth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and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when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to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be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quiet.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Upgrade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He doesn’t know when to come forth and when to be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lay low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192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Don’t celebrities have an obligation to serve as an example to their young fans?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It’s hard to find a celebrity who’s both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artistically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inclined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and well-behaved. 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예술가적 기질을 타고 났다고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Simple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It’s hard to find a celebrity who has a natural ability for art and is well-behaved.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Upgrade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It’s hard to find a celebrity who’s both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artistically inclined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and well-behaved. 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7717195-D66E-8CE2-7520-0565B0A5E722}"/>
              </a:ext>
            </a:extLst>
          </p:cNvPr>
          <p:cNvSpPr txBox="1"/>
          <p:nvPr/>
        </p:nvSpPr>
        <p:spPr>
          <a:xfrm>
            <a:off x="3950763" y="621234"/>
            <a:ext cx="1831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[</a:t>
            </a:r>
            <a:r>
              <a: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연예인</a:t>
            </a: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]</a:t>
            </a:r>
            <a:endParaRPr kumimoji="0" lang="ko-KR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Google Shape;1750;p54">
            <a:extLst>
              <a:ext uri="{FF2B5EF4-FFF2-40B4-BE49-F238E27FC236}">
                <a16:creationId xmlns:a16="http://schemas.microsoft.com/office/drawing/2014/main" id="{4B604909-6D3B-44ED-9A51-917E7C1FEEA7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CFC31DD-B7D0-41E2-86A7-CE2AD18C5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C39CB2-F1D5-AB69-F8D5-1FFD95ACA652}"/>
              </a:ext>
            </a:extLst>
          </p:cNvPr>
          <p:cNvSpPr txBox="1"/>
          <p:nvPr/>
        </p:nvSpPr>
        <p:spPr>
          <a:xfrm>
            <a:off x="367145" y="4879128"/>
            <a:ext cx="84097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* lie low </a:t>
            </a:r>
            <a:r>
              <a:rPr lang="ko-KR" altLang="en-US" sz="800" dirty="0"/>
              <a:t>낮은 상태로 있다</a:t>
            </a:r>
            <a:r>
              <a:rPr lang="en-US" altLang="ko-KR" sz="800" dirty="0"/>
              <a:t>. </a:t>
            </a:r>
            <a:r>
              <a:rPr lang="ko-KR" altLang="en-US" sz="800" dirty="0"/>
              <a:t>나서지 않고 조용히 지내는 모습을 표현 </a:t>
            </a:r>
            <a:r>
              <a:rPr lang="en-US" altLang="ko-KR" sz="800" dirty="0"/>
              <a:t>(</a:t>
            </a:r>
            <a:r>
              <a:rPr lang="ko-KR" altLang="en-US" sz="800" dirty="0"/>
              <a:t>원래 </a:t>
            </a:r>
            <a:r>
              <a:rPr lang="en-US" altLang="ko-KR" sz="800" dirty="0"/>
              <a:t>lie low</a:t>
            </a:r>
            <a:r>
              <a:rPr lang="ko-KR" altLang="en-US" sz="800" dirty="0"/>
              <a:t>라고 해야 옳지만 </a:t>
            </a:r>
            <a:r>
              <a:rPr lang="en-US" altLang="ko-KR" sz="800" dirty="0"/>
              <a:t>lie</a:t>
            </a:r>
            <a:r>
              <a:rPr lang="ko-KR" altLang="en-US" sz="800" dirty="0"/>
              <a:t>와 </a:t>
            </a:r>
            <a:r>
              <a:rPr lang="en-US" altLang="ko-KR" sz="800" dirty="0"/>
              <a:t>lay</a:t>
            </a:r>
            <a:r>
              <a:rPr lang="ko-KR" altLang="en-US" sz="800" dirty="0"/>
              <a:t>를 구분하지 않은 원어민들도 많아 </a:t>
            </a:r>
            <a:r>
              <a:rPr lang="en-US" altLang="ko-KR" sz="800" dirty="0"/>
              <a:t>lay low</a:t>
            </a:r>
            <a:r>
              <a:rPr lang="ko-KR" altLang="en-US" sz="800" dirty="0"/>
              <a:t>라고 쓰기도 함</a:t>
            </a:r>
            <a:r>
              <a:rPr lang="en-US" altLang="ko-KR" sz="800" dirty="0"/>
              <a:t>)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910537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F474CDB-9205-9F5F-577C-61A0A37F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07420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940069C-F7C3-4F96-9764-C222DA00B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055643"/>
              </p:ext>
            </p:extLst>
          </p:nvPr>
        </p:nvGraphicFramePr>
        <p:xfrm>
          <a:off x="367145" y="1149041"/>
          <a:ext cx="8333511" cy="37084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193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To avoid having my personal information seen by the world, I often clear my browsing history.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I’m afraid that doesn’t erase your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digital footprint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since it’s more complicated than that.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인터넷에서 남긴 기록을 없앤다고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Simple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I’m afraid that doesn’t erase your trace on the Internet.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Upgrade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I’m afraid that doesn’t erase your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digital footprint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194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These days, I get information more from Facebook than 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any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other media outlet.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Much of the information on Facebook is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sensationalized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beyond reality. You have to be careful. 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과장되어 있다고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Simple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Much of the information on Facebook is exaggerated.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Upgrade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Much of the information on Facebook is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sensationalized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7717195-D66E-8CE2-7520-0565B0A5E722}"/>
              </a:ext>
            </a:extLst>
          </p:cNvPr>
          <p:cNvSpPr txBox="1"/>
          <p:nvPr/>
        </p:nvSpPr>
        <p:spPr>
          <a:xfrm>
            <a:off x="3950763" y="621234"/>
            <a:ext cx="1831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[SNS]</a:t>
            </a:r>
            <a:endParaRPr kumimoji="0" lang="ko-KR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Google Shape;1750;p54">
            <a:extLst>
              <a:ext uri="{FF2B5EF4-FFF2-40B4-BE49-F238E27FC236}">
                <a16:creationId xmlns:a16="http://schemas.microsoft.com/office/drawing/2014/main" id="{4B604909-6D3B-44ED-9A51-917E7C1FEEA7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CFC31DD-B7D0-41E2-86A7-CE2AD18C5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000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929196"/>
              </p:ext>
            </p:extLst>
          </p:nvPr>
        </p:nvGraphicFramePr>
        <p:xfrm>
          <a:off x="367145" y="1149041"/>
          <a:ext cx="8333511" cy="18542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195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penetration rate of Cocoa Talk in the Korean market is over 90 percent. How can you not use it?</a:t>
                      </a:r>
                      <a:endParaRPr lang="ko-KR" altLang="en-US" sz="1000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See. That’s a sign that we’re living in an era of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oversharing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 I have no problem not using it. 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정보를 지나치게 공유한다고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We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share too much of our information with each other.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We’re living in an era of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oversharing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3" y="621234"/>
            <a:ext cx="2228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[SNS]</a:t>
            </a:r>
            <a:endParaRPr lang="ko-KR" altLang="en-US" sz="1600" dirty="0"/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BB6BA8BE-A480-405E-A2CC-C32E36641633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83314D5-FDC2-4FE2-9944-03A9BF03A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663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F474CDB-9205-9F5F-577C-61A0A37F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07420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940069C-F7C3-4F96-9764-C222DA00B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526702"/>
              </p:ext>
            </p:extLst>
          </p:nvPr>
        </p:nvGraphicFramePr>
        <p:xfrm>
          <a:off x="367145" y="1149041"/>
          <a:ext cx="8333511" cy="37338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196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People say that self-driving cars will be in high demand, but I’m too afraid to entrust my safety to them.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Regardless of what kind of concerns you have, I think the day of humans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taking their hands off the steering wheel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will eventually come. 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인간이 자동차를 운전하지 않는다고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Simple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The day of humans not driving cars will eventually come. 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Upgrade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The day of humans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taking their hands off the steering wheel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will eventually come. 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197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Do you think the era is just around the corner when humans don’t drive cars 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any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more?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Because of a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liability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issue about accidents, I don’t think the technology will be fully commercialized 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any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time soon. 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사고의 법적인 책임을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Simple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Because of a responsibility issue about accidents, the technology won’t be fully commercialized. 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Upgrade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Because of a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liability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issue about accidents, the technology won’t be fully commercialized.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7717195-D66E-8CE2-7520-0565B0A5E722}"/>
              </a:ext>
            </a:extLst>
          </p:cNvPr>
          <p:cNvSpPr txBox="1"/>
          <p:nvPr/>
        </p:nvSpPr>
        <p:spPr>
          <a:xfrm>
            <a:off x="3950763" y="621234"/>
            <a:ext cx="1831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[</a:t>
            </a:r>
            <a:r>
              <a: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자율주행차</a:t>
            </a: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]</a:t>
            </a:r>
            <a:endParaRPr kumimoji="0" lang="ko-KR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Google Shape;1750;p54">
            <a:extLst>
              <a:ext uri="{FF2B5EF4-FFF2-40B4-BE49-F238E27FC236}">
                <a16:creationId xmlns:a16="http://schemas.microsoft.com/office/drawing/2014/main" id="{4B604909-6D3B-44ED-9A51-917E7C1FEEA7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CFC31DD-B7D0-41E2-86A7-CE2AD18C5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618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F474CDB-9205-9F5F-577C-61A0A37F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07420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940069C-F7C3-4F96-9764-C222DA00B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8850984"/>
              </p:ext>
            </p:extLst>
          </p:nvPr>
        </p:nvGraphicFramePr>
        <p:xfrm>
          <a:off x="367145" y="1149041"/>
          <a:ext cx="8333511" cy="18796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198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Do you think the day will really come when a driver leaves everything to the car and safely goes to sleep behind the wheel?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Even if that’s possible technologically, I don’t think m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any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people would want it. The driver and the computer should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share control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over the vehicle.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차를 같이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콘트롤한다고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Simple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The driver and the computer should control the vehicle together. 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Upgrade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The driver and the computer should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share control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over the vehicle. 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7717195-D66E-8CE2-7520-0565B0A5E722}"/>
              </a:ext>
            </a:extLst>
          </p:cNvPr>
          <p:cNvSpPr txBox="1"/>
          <p:nvPr/>
        </p:nvSpPr>
        <p:spPr>
          <a:xfrm>
            <a:off x="3950763" y="621234"/>
            <a:ext cx="1831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[</a:t>
            </a:r>
            <a:r>
              <a: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자율주행차</a:t>
            </a: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]</a:t>
            </a:r>
            <a:endParaRPr kumimoji="0" lang="ko-KR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Google Shape;1750;p54">
            <a:extLst>
              <a:ext uri="{FF2B5EF4-FFF2-40B4-BE49-F238E27FC236}">
                <a16:creationId xmlns:a16="http://schemas.microsoft.com/office/drawing/2014/main" id="{4B604909-6D3B-44ED-9A51-917E7C1FEEA7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CFC31DD-B7D0-41E2-86A7-CE2AD18C5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343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F474CDB-9205-9F5F-577C-61A0A37F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07420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940069C-F7C3-4F96-9764-C222DA00B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020686"/>
              </p:ext>
            </p:extLst>
          </p:nvPr>
        </p:nvGraphicFramePr>
        <p:xfrm>
          <a:off x="367145" y="1149041"/>
          <a:ext cx="8333511" cy="37338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199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I strongly support biotechnology, including even human cloning. New advances will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open many doors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for patients suffering from chronic or incurable diseases.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I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know these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patients have high hopes, but we need to think about the ethical aspects of biotech.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많은 치료 기회를 제공한다고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Simple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New advances will provide many opportunities for patients.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Upgrade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New advances will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open many doors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for patients.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The day may come when a new form of genetically modified animal is born in a lab.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That’s why 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some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fear that scientists are trying too hard to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play God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신의 영역을 침범한다고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Simple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That’s why some fear that scientists are trying too hard to imitate the role of God.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Upgrade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That’s why some fear that scientists are trying too hard to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play God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7717195-D66E-8CE2-7520-0565B0A5E722}"/>
              </a:ext>
            </a:extLst>
          </p:cNvPr>
          <p:cNvSpPr txBox="1"/>
          <p:nvPr/>
        </p:nvSpPr>
        <p:spPr>
          <a:xfrm>
            <a:off x="3950763" y="621234"/>
            <a:ext cx="1831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[</a:t>
            </a:r>
            <a:r>
              <a: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생명과학</a:t>
            </a: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]</a:t>
            </a:r>
            <a:endParaRPr kumimoji="0" lang="ko-KR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Google Shape;1750;p54">
            <a:extLst>
              <a:ext uri="{FF2B5EF4-FFF2-40B4-BE49-F238E27FC236}">
                <a16:creationId xmlns:a16="http://schemas.microsoft.com/office/drawing/2014/main" id="{4B604909-6D3B-44ED-9A51-917E7C1FEEA7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CFC31DD-B7D0-41E2-86A7-CE2AD18C5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984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F474CDB-9205-9F5F-577C-61A0A37F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07420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940069C-F7C3-4F96-9764-C222DA00B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126521"/>
              </p:ext>
            </p:extLst>
          </p:nvPr>
        </p:nvGraphicFramePr>
        <p:xfrm>
          <a:off x="367145" y="1149041"/>
          <a:ext cx="8333511" cy="18542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201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Terminally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and chronically ill patients will be the main beneficiaries of advancing biotechnologies.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I hope those benefits are not dominated by the rich and powerful.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말기 환자를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Simple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Patients with incurable diseases will be the main beneficiaries of advancing biotechnologies.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Upgrade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Terminally ill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patients will be the main beneficiaries of advancing biotechnologies.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7717195-D66E-8CE2-7520-0565B0A5E722}"/>
              </a:ext>
            </a:extLst>
          </p:cNvPr>
          <p:cNvSpPr txBox="1"/>
          <p:nvPr/>
        </p:nvSpPr>
        <p:spPr>
          <a:xfrm>
            <a:off x="3950763" y="621234"/>
            <a:ext cx="1831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[</a:t>
            </a:r>
            <a:r>
              <a: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생명과학</a:t>
            </a: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]</a:t>
            </a:r>
            <a:endParaRPr kumimoji="0" lang="ko-KR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Google Shape;1750;p54">
            <a:extLst>
              <a:ext uri="{FF2B5EF4-FFF2-40B4-BE49-F238E27FC236}">
                <a16:creationId xmlns:a16="http://schemas.microsoft.com/office/drawing/2014/main" id="{4B604909-6D3B-44ED-9A51-917E7C1FEEA7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CFC31DD-B7D0-41E2-86A7-CE2AD18C5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819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F474CDB-9205-9F5F-577C-61A0A37F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07420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940069C-F7C3-4F96-9764-C222DA00B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942515"/>
              </p:ext>
            </p:extLst>
          </p:nvPr>
        </p:nvGraphicFramePr>
        <p:xfrm>
          <a:off x="367145" y="1149041"/>
          <a:ext cx="8333511" cy="37084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202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We should consider how the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breakthrough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of AI might bring about different ethical issues in our society.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We don’t know yet what kind of unethical behavior could be committed by AI technologies.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획기적인 발전을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Simple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We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should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consider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how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advancement of AI might bring about different ethical issues.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Upgrade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We should consider how the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breakthrough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of AI might bring about different ethical issues.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203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One of these days, I believe robots will enslave humans and rule the world.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That sounds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straight out of a sci-fi movie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because you’re clearly not being realistic. 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실현 가능성이 없다고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Simple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That sounds unrealistic.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Upgrade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That sounds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straight out of a sci-fi movie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7717195-D66E-8CE2-7520-0565B0A5E722}"/>
              </a:ext>
            </a:extLst>
          </p:cNvPr>
          <p:cNvSpPr txBox="1"/>
          <p:nvPr/>
        </p:nvSpPr>
        <p:spPr>
          <a:xfrm>
            <a:off x="3950763" y="621234"/>
            <a:ext cx="1831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[</a:t>
            </a:r>
            <a:r>
              <a: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인공지능</a:t>
            </a: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]</a:t>
            </a:r>
            <a:endParaRPr kumimoji="0" lang="ko-KR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Google Shape;1750;p54">
            <a:extLst>
              <a:ext uri="{FF2B5EF4-FFF2-40B4-BE49-F238E27FC236}">
                <a16:creationId xmlns:a16="http://schemas.microsoft.com/office/drawing/2014/main" id="{4B604909-6D3B-44ED-9A51-917E7C1FEEA7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CFC31DD-B7D0-41E2-86A7-CE2AD18C5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700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F474CDB-9205-9F5F-577C-61A0A37F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07420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940069C-F7C3-4F96-9764-C222DA00B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626589"/>
              </p:ext>
            </p:extLst>
          </p:nvPr>
        </p:nvGraphicFramePr>
        <p:xfrm>
          <a:off x="367145" y="1149041"/>
          <a:ext cx="8333511" cy="18796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204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AI has more pros than cons. It will definitely make our lives easier and smoother.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But what if the technology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ends up in the wrong hands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? It may bring destructive results. Machines should be programmed to act as human-like as possible.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나쁜 목적으로 활용된다고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Simple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If the technology is used by bad people, it may bring destructive results. 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Upgrade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If the technology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ends up in the wrong hands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it may bring destructive results.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7717195-D66E-8CE2-7520-0565B0A5E722}"/>
              </a:ext>
            </a:extLst>
          </p:cNvPr>
          <p:cNvSpPr txBox="1"/>
          <p:nvPr/>
        </p:nvSpPr>
        <p:spPr>
          <a:xfrm>
            <a:off x="3950763" y="621234"/>
            <a:ext cx="1831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[</a:t>
            </a:r>
            <a:r>
              <a: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인공지능</a:t>
            </a: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]</a:t>
            </a:r>
            <a:endParaRPr kumimoji="0" lang="ko-KR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Google Shape;1750;p54">
            <a:extLst>
              <a:ext uri="{FF2B5EF4-FFF2-40B4-BE49-F238E27FC236}">
                <a16:creationId xmlns:a16="http://schemas.microsoft.com/office/drawing/2014/main" id="{4B604909-6D3B-44ED-9A51-917E7C1FEEA7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CFC31DD-B7D0-41E2-86A7-CE2AD18C5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5954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BCE0C26-348A-1EDA-5A80-66D668C8F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sp>
        <p:nvSpPr>
          <p:cNvPr id="9" name="Google Shape;1750;p54">
            <a:extLst>
              <a:ext uri="{FF2B5EF4-FFF2-40B4-BE49-F238E27FC236}">
                <a16:creationId xmlns:a16="http://schemas.microsoft.com/office/drawing/2014/main" id="{A0F5263D-0DBF-4364-BB8F-3379A600C685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6B8471E-6887-49FD-A161-93F1B284C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E1DD9C8-1E88-F557-4584-0B91004D32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843"/>
          <a:stretch/>
        </p:blipFill>
        <p:spPr>
          <a:xfrm>
            <a:off x="187886" y="1083972"/>
            <a:ext cx="3240359" cy="33710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4CE4500-F0A1-4803-5D6F-4D364CEC81A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8159"/>
          <a:stretch/>
        </p:blipFill>
        <p:spPr>
          <a:xfrm>
            <a:off x="5248151" y="1090952"/>
            <a:ext cx="2952464" cy="351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8634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46043-1E0F-D494-F8F0-1261B4A4B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E159BF1-39CB-E339-D846-99C1A0B6D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sp>
        <p:nvSpPr>
          <p:cNvPr id="9" name="Google Shape;1750;p54">
            <a:extLst>
              <a:ext uri="{FF2B5EF4-FFF2-40B4-BE49-F238E27FC236}">
                <a16:creationId xmlns:a16="http://schemas.microsoft.com/office/drawing/2014/main" id="{40F0771A-0B57-0122-B37D-D1F5D7A84E82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F16A4B5-FC11-FD4A-0D7A-CC804DF2B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66D5E59-2CDA-073C-4F54-CCBE9ADF35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7385"/>
          <a:stretch/>
        </p:blipFill>
        <p:spPr>
          <a:xfrm>
            <a:off x="157471" y="1062477"/>
            <a:ext cx="3566078" cy="386438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157EFA6-E91B-214D-8469-15C7F9683B3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5142"/>
          <a:stretch/>
        </p:blipFill>
        <p:spPr>
          <a:xfrm>
            <a:off x="5277614" y="1104357"/>
            <a:ext cx="2876914" cy="40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574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29074-1EBA-3BB2-89D3-BC0DC3B31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F81F56-C11B-F987-6A8A-DF7287CAD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sp>
        <p:nvSpPr>
          <p:cNvPr id="9" name="Google Shape;1750;p54">
            <a:extLst>
              <a:ext uri="{FF2B5EF4-FFF2-40B4-BE49-F238E27FC236}">
                <a16:creationId xmlns:a16="http://schemas.microsoft.com/office/drawing/2014/main" id="{521C6277-CADC-1D25-933B-D1C1CAED3035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B9D1C10-2EC9-2865-7670-BB885EAA0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70E9F92-19BB-182F-11D9-77B914706B5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/>
          <a:stretch/>
        </p:blipFill>
        <p:spPr>
          <a:xfrm>
            <a:off x="220749" y="1106826"/>
            <a:ext cx="2787120" cy="386438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30CD8AC-A5BB-E26A-7E6D-22290807640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000"/>
          <a:stretch/>
        </p:blipFill>
        <p:spPr>
          <a:xfrm>
            <a:off x="5213628" y="1087260"/>
            <a:ext cx="2844000" cy="3988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465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8A96C-5338-7A0C-7EA7-FB6452FB3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D656C1E-0812-3C05-C43F-A5A74284A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sp>
        <p:nvSpPr>
          <p:cNvPr id="9" name="Google Shape;1750;p54">
            <a:extLst>
              <a:ext uri="{FF2B5EF4-FFF2-40B4-BE49-F238E27FC236}">
                <a16:creationId xmlns:a16="http://schemas.microsoft.com/office/drawing/2014/main" id="{13A07E5B-5939-31BB-3944-6C24FCE0F5A9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00F090A-A892-3528-42B5-1D7FC53E6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1B0FB1A-ECC9-A121-F336-2251620F29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/>
          <a:stretch/>
        </p:blipFill>
        <p:spPr>
          <a:xfrm>
            <a:off x="206401" y="1098238"/>
            <a:ext cx="3152778" cy="287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6374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부정대명사 </a:t>
            </a:r>
            <a:r>
              <a:rPr lang="en-US" altLang="ko-KR" dirty="0">
                <a:latin typeface="+mj-ea"/>
                <a:ea typeface="+mj-ea"/>
              </a:rPr>
              <a:t>Some, Any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88D052A-0B33-4569-9CAF-1A06647A2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246466-80C3-2F0B-76FE-7AF5B524D6FB}"/>
              </a:ext>
            </a:extLst>
          </p:cNvPr>
          <p:cNvSpPr txBox="1"/>
          <p:nvPr/>
        </p:nvSpPr>
        <p:spPr>
          <a:xfrm>
            <a:off x="258381" y="1115258"/>
            <a:ext cx="8638073" cy="3668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부정대명사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(Indefinite Pronouns)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란 어떤 특정한 사람이나 사물을 가리키지 않고 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막연한 대상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을 가리킵니다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(Indefinite):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정해지지 않은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분명히 규정되지 않은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막연한</a:t>
            </a:r>
          </a:p>
          <a:p>
            <a:pPr algn="l">
              <a:lnSpc>
                <a:spcPct val="150000"/>
              </a:lnSpc>
            </a:pPr>
            <a:endParaRPr lang="en-US" altLang="ko-KR" sz="400" b="1" i="0" dirty="0">
              <a:solidFill>
                <a:srgbClr val="8B451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Lucy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gave me this book.</a:t>
            </a:r>
            <a:r>
              <a:rPr lang="ko-KR" altLang="en-US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루시가 이 책을 줬다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책을 준 사람은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Lucy  </a:t>
            </a:r>
            <a:r>
              <a:rPr lang="ko-KR" altLang="en-US" sz="10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명확하다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(definite)</a:t>
            </a:r>
          </a:p>
          <a:p>
            <a:pPr algn="l">
              <a:lnSpc>
                <a:spcPct val="150000"/>
              </a:lnSpc>
            </a:pPr>
            <a:endParaRPr lang="en-US" altLang="ko-KR" sz="400" b="1" i="0" dirty="0">
              <a:solidFill>
                <a:srgbClr val="8B451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Someone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gave me this book.</a:t>
            </a:r>
            <a:r>
              <a:rPr lang="ko-KR" altLang="en-US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누군가 이 책을 줬다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책을 준 사람은 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Someone </a:t>
            </a:r>
            <a:r>
              <a:rPr lang="ko-KR" altLang="en-US" sz="10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명확하지 않다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(indefinite) </a:t>
            </a:r>
            <a:r>
              <a:rPr lang="ko-KR" altLang="en-US" sz="10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부정대명사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(Indefinite Pronouns)</a:t>
            </a:r>
          </a:p>
          <a:p>
            <a:pPr algn="l">
              <a:lnSpc>
                <a:spcPct val="150000"/>
              </a:lnSpc>
            </a:pPr>
            <a:endParaRPr lang="en-US" altLang="ko-KR" sz="4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부정대명사는 아래와 같이 아주 다양합니다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All, another, any, anybody/anyone, anything, each, everybody/everyone, everything, few, many, nobody, none, one, several, some, somebody/someone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 중 상당수는 부정대명사로 쓸 수도 있고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부정형용사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한정사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로 쓸 수도 있습니다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의미는 동일하므로 부정대명사와 부정형용사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한정사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구분 없이 설명하도록 하겠습니다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 was just about to make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some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coffee.</a:t>
            </a:r>
            <a:r>
              <a:rPr lang="ko-KR" altLang="en-US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나는 방금 막 커피 좀 끓이려고 했어요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Some: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부정형용사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한정사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(coffee)</a:t>
            </a:r>
          </a:p>
          <a:p>
            <a:pPr algn="l">
              <a:lnSpc>
                <a:spcPct val="150000"/>
              </a:lnSpc>
            </a:pPr>
            <a:endParaRPr lang="en-US" altLang="ko-KR" sz="400" b="1" i="0" dirty="0">
              <a:solidFill>
                <a:srgbClr val="8B451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Some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arrived at the camp.</a:t>
            </a:r>
            <a:r>
              <a:rPr lang="ko-KR" altLang="en-US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일부는 캠프에 도착했다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Some: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부정대명사</a:t>
            </a:r>
          </a:p>
        </p:txBody>
      </p:sp>
    </p:spTree>
    <p:extLst>
      <p:ext uri="{BB962C8B-B14F-4D97-AF65-F5344CB8AC3E}">
        <p14:creationId xmlns:p14="http://schemas.microsoft.com/office/powerpoint/2010/main" val="20633327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부정대명사 </a:t>
            </a:r>
            <a:r>
              <a:rPr lang="en-US" altLang="ko-KR" dirty="0">
                <a:latin typeface="+mj-ea"/>
                <a:ea typeface="+mj-ea"/>
              </a:rPr>
              <a:t>Some, Any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49562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some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과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any</a:t>
            </a:r>
            <a:endParaRPr kumimoji="0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F8C379">
                  <a:lumMod val="50000"/>
                </a:srgbClr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  <a:sym typeface="Arial"/>
            </a:endParaRP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88D052A-0B33-4569-9CAF-1A06647A2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246466-80C3-2F0B-76FE-7AF5B524D6FB}"/>
              </a:ext>
            </a:extLst>
          </p:cNvPr>
          <p:cNvSpPr txBox="1"/>
          <p:nvPr/>
        </p:nvSpPr>
        <p:spPr>
          <a:xfrm>
            <a:off x="258381" y="1554763"/>
            <a:ext cx="8638073" cy="13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some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any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의 기본적인 의미는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"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조금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약간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"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입니다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적다는 </a:t>
            </a:r>
            <a:r>
              <a:rPr lang="ko-KR" altLang="en-US" sz="1100" b="0" i="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의미라기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 보다는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불확실하다는 의미에 가깝습니다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비슷하지만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some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은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"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조금 있다는 것을 가정할 때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"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사용되며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any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는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"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있는지 없는지 확실하지 않을 때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"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사용됩니다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some: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긍정적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존재할 때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any: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부정적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존재하지 않거나 모를 때</a:t>
            </a: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그래서 보통 긍정문에서는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some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을 사용하고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부정문이나 의문문에서는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any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를 사용합니다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41015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부정대명사 </a:t>
            </a:r>
            <a:r>
              <a:rPr lang="en-US" altLang="ko-KR" dirty="0">
                <a:latin typeface="+mj-ea"/>
                <a:ea typeface="+mj-ea"/>
              </a:rPr>
              <a:t>Some, Any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49562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긍정문</a:t>
            </a: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88D052A-0B33-4569-9CAF-1A06647A2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246466-80C3-2F0B-76FE-7AF5B524D6FB}"/>
              </a:ext>
            </a:extLst>
          </p:cNvPr>
          <p:cNvSpPr txBox="1"/>
          <p:nvPr/>
        </p:nvSpPr>
        <p:spPr>
          <a:xfrm>
            <a:off x="258381" y="1517893"/>
            <a:ext cx="8638073" cy="3180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긍정문에서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"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조금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약간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"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을 나타낼 때는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some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을 사용합니다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 have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some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money.</a:t>
            </a:r>
            <a:r>
              <a:rPr lang="ko-KR" altLang="en-US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난 돈이 좀 있다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some: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조금 있을 때</a:t>
            </a:r>
          </a:p>
          <a:p>
            <a:pPr algn="l">
              <a:lnSpc>
                <a:spcPct val="150000"/>
              </a:lnSpc>
            </a:pPr>
            <a:endParaRPr lang="en-US" altLang="ko-KR" sz="4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 need to buy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some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groceries before the store closes.</a:t>
            </a:r>
            <a:r>
              <a:rPr lang="ko-KR" altLang="en-US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가게가 문을 닫기 전에 식료품을 좀 사야 한다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some: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조금 사야 할 때</a:t>
            </a:r>
          </a:p>
          <a:p>
            <a:pPr algn="l">
              <a:lnSpc>
                <a:spcPct val="150000"/>
              </a:lnSpc>
            </a:pPr>
            <a:endParaRPr lang="en-US" altLang="ko-KR" sz="4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긍정문에서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"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조금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약간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"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을 나타낼 때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any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를 사용할 수는 없습니다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긍정문에서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any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를 사용하면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"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조금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"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이라는 의미가 아닌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"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어떤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것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이라도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"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를 나타냅니다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Any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book will do.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어떤 책이라도 좋다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Any: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어떤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~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이라도</a:t>
            </a:r>
          </a:p>
          <a:p>
            <a:pPr algn="l">
              <a:lnSpc>
                <a:spcPct val="150000"/>
              </a:lnSpc>
            </a:pPr>
            <a:endParaRPr lang="en-US" altLang="ko-KR" sz="4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You can choose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any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you like.</a:t>
            </a:r>
            <a:r>
              <a:rPr lang="ko-KR" altLang="en-US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네가 좋아하는 어떤 것이라도 선택할 수 있다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any: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어떤 것이라도 </a:t>
            </a:r>
          </a:p>
        </p:txBody>
      </p:sp>
    </p:spTree>
    <p:extLst>
      <p:ext uri="{BB962C8B-B14F-4D97-AF65-F5344CB8AC3E}">
        <p14:creationId xmlns:p14="http://schemas.microsoft.com/office/powerpoint/2010/main" val="35091055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부정대명사 </a:t>
            </a:r>
            <a:r>
              <a:rPr lang="en-US" altLang="ko-KR" dirty="0">
                <a:latin typeface="+mj-ea"/>
                <a:ea typeface="+mj-ea"/>
              </a:rPr>
              <a:t>Some, Any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49562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부정문</a:t>
            </a: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88D052A-0B33-4569-9CAF-1A06647A2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246466-80C3-2F0B-76FE-7AF5B524D6FB}"/>
              </a:ext>
            </a:extLst>
          </p:cNvPr>
          <p:cNvSpPr txBox="1"/>
          <p:nvPr/>
        </p:nvSpPr>
        <p:spPr>
          <a:xfrm>
            <a:off x="258381" y="1554763"/>
            <a:ext cx="8638073" cy="3111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부정문에서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"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조금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약간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"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을 나타낼 때는 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any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를 사용해서 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"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조금의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~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도 없다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"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는 의미를 나타냅니다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 couldn't find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any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r>
              <a:rPr lang="en-US" altLang="ko-KR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나는 어떤 것도 찾을 수 없었다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any: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조금의 것도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어떤 것도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 don't have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any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money.</a:t>
            </a:r>
            <a:r>
              <a:rPr lang="en-US" altLang="ko-KR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난 돈이 하나도 없다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any money: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조금의 돈도</a:t>
            </a: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 didn't eat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any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food.</a:t>
            </a:r>
            <a:r>
              <a:rPr lang="en-US" altLang="ko-KR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나는 음식을 조금도 먹지 않았다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any food: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조금의 음식도</a:t>
            </a: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We should not make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any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noise in the library.</a:t>
            </a:r>
            <a:r>
              <a:rPr lang="en-US" altLang="ko-KR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우리는 도서관에서 조금의 소음도 내지 말아야 한다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any noise: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조금의 소음도</a:t>
            </a:r>
          </a:p>
        </p:txBody>
      </p:sp>
    </p:spTree>
    <p:extLst>
      <p:ext uri="{BB962C8B-B14F-4D97-AF65-F5344CB8AC3E}">
        <p14:creationId xmlns:p14="http://schemas.microsoft.com/office/powerpoint/2010/main" val="12974901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부정대명사 </a:t>
            </a:r>
            <a:r>
              <a:rPr lang="en-US" altLang="ko-KR" dirty="0">
                <a:latin typeface="+mj-ea"/>
                <a:ea typeface="+mj-ea"/>
              </a:rPr>
              <a:t>Some, Any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49562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의문문</a:t>
            </a: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88D052A-0B33-4569-9CAF-1A06647A2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246466-80C3-2F0B-76FE-7AF5B524D6FB}"/>
              </a:ext>
            </a:extLst>
          </p:cNvPr>
          <p:cNvSpPr txBox="1"/>
          <p:nvPr/>
        </p:nvSpPr>
        <p:spPr>
          <a:xfrm>
            <a:off x="258381" y="1554763"/>
            <a:ext cx="8638073" cy="3365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있는지 없는지 확실하지 않을 때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any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를 사용된다고 했으니 의문문에서는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any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를 사용합니다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Are there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any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eggs?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달걀이 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조금이라도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남아 있습니까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?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있는지 없는지 확실하지 않을 때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</a:t>
            </a:r>
            <a:r>
              <a:rPr lang="ko-KR" altLang="en-US" sz="11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any</a:t>
            </a: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Did you buy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any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clothes in the shop?</a:t>
            </a:r>
            <a:r>
              <a:rPr lang="ko-KR" altLang="en-US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가게에서 옷 좀 샀어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?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있는지 없는지 확실하지 않을 때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</a:t>
            </a:r>
            <a:r>
              <a:rPr lang="ko-KR" altLang="en-US" sz="11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 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any</a:t>
            </a: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실제로 궁금해서 질문하는 것이 아니고 권유나 부탁할 때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긍정적인 답변을 예상하거나 기대할 때는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some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을 사용합니다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Would you like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some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coffee?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커피 좀 </a:t>
            </a:r>
            <a:r>
              <a:rPr lang="ko-KR" altLang="en-US" sz="1100" b="0" i="0" dirty="0" err="1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드시겠습니까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?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권유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</a:t>
            </a:r>
            <a:r>
              <a:rPr lang="ko-KR" altLang="en-US" sz="11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긍정적 답변 기대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</a:t>
            </a:r>
            <a:r>
              <a:rPr lang="ko-KR" altLang="en-US" sz="11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 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some</a:t>
            </a: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Can you give me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some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sugar for my coffee?</a:t>
            </a:r>
            <a:r>
              <a:rPr lang="ko-KR" altLang="en-US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제 커피에 설탕을 좀 </a:t>
            </a:r>
            <a:r>
              <a:rPr lang="ko-KR" altLang="en-US" sz="1100" b="0" i="0" dirty="0" err="1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주시겠어요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?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부탁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</a:t>
            </a:r>
            <a:r>
              <a:rPr lang="ko-KR" altLang="en-US" sz="11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긍정적 답변 기대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</a:t>
            </a:r>
            <a:r>
              <a:rPr lang="ko-KR" altLang="en-US" sz="11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 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some</a:t>
            </a:r>
          </a:p>
        </p:txBody>
      </p:sp>
    </p:spTree>
    <p:extLst>
      <p:ext uri="{BB962C8B-B14F-4D97-AF65-F5344CB8AC3E}">
        <p14:creationId xmlns:p14="http://schemas.microsoft.com/office/powerpoint/2010/main" val="5566670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부정대명사 </a:t>
            </a:r>
            <a:r>
              <a:rPr lang="en-US" altLang="ko-KR" dirty="0">
                <a:latin typeface="+mj-ea"/>
                <a:ea typeface="+mj-ea"/>
              </a:rPr>
              <a:t>Some, Any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49562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8C379">
                    <a:lumMod val="50000"/>
                  </a:srgbClr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조건문</a:t>
            </a: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88D052A-0B33-4569-9CAF-1A06647A2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246466-80C3-2F0B-76FE-7AF5B524D6FB}"/>
              </a:ext>
            </a:extLst>
          </p:cNvPr>
          <p:cNvSpPr txBox="1"/>
          <p:nvPr/>
        </p:nvSpPr>
        <p:spPr>
          <a:xfrm>
            <a:off x="258381" y="1554763"/>
            <a:ext cx="8638073" cy="184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조건문인 경우에도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"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조금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"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을 나타낼 때는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some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보다는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any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를 더 자주 씁니다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"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만약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~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이라면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"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의 의미이기에 통상적으로는 없을 가능성이 높기 때문입니다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Let me know if there are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any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changes.</a:t>
            </a:r>
            <a:r>
              <a:rPr lang="ko-KR" altLang="en-US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변경 사항이 있으면 알려주십시오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만약 변경이 있다면 </a:t>
            </a:r>
            <a:r>
              <a:rPr lang="ko-KR" altLang="en-US" sz="11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통상적으로는 없을 가능성이 더 많음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</a:t>
            </a:r>
            <a:r>
              <a:rPr lang="ko-KR" altLang="en-US" sz="11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 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any</a:t>
            </a: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 they need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any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help, tell them to call me.</a:t>
            </a:r>
            <a:r>
              <a:rPr lang="ko-KR" altLang="en-US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만약 그들이 도움이 필요하면 저에게 전화하라고 말해 주세요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만약 도움이 필요하다면 </a:t>
            </a:r>
            <a:r>
              <a:rPr lang="ko-KR" altLang="en-US" sz="11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통상적으로는 없을 가능성이 더 많음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</a:t>
            </a:r>
            <a:r>
              <a:rPr lang="ko-KR" altLang="en-US" sz="11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 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any</a:t>
            </a:r>
          </a:p>
        </p:txBody>
      </p:sp>
      <p:pic>
        <p:nvPicPr>
          <p:cNvPr id="2" name="그림 1">
            <a:hlinkClick r:id="rId3"/>
            <a:extLst>
              <a:ext uri="{FF2B5EF4-FFF2-40B4-BE49-F238E27FC236}">
                <a16:creationId xmlns:a16="http://schemas.microsoft.com/office/drawing/2014/main" id="{5F7420CF-15EE-E9FA-AD8A-C96DD0CA27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2362" y="4680967"/>
            <a:ext cx="1511939" cy="4389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D67651-8BC7-393A-A050-8EA7F873DDC6}"/>
              </a:ext>
            </a:extLst>
          </p:cNvPr>
          <p:cNvSpPr txBox="1"/>
          <p:nvPr/>
        </p:nvSpPr>
        <p:spPr>
          <a:xfrm>
            <a:off x="6017342" y="4900442"/>
            <a:ext cx="31266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/>
              <a:t>https://www.englishcube.net/grammar_exam.php?category2=94</a:t>
            </a:r>
          </a:p>
        </p:txBody>
      </p:sp>
    </p:spTree>
    <p:extLst>
      <p:ext uri="{BB962C8B-B14F-4D97-AF65-F5344CB8AC3E}">
        <p14:creationId xmlns:p14="http://schemas.microsoft.com/office/powerpoint/2010/main" val="3485305328"/>
      </p:ext>
    </p:extLst>
  </p:cSld>
  <p:clrMapOvr>
    <a:masterClrMapping/>
  </p:clrMapOvr>
</p:sld>
</file>

<file path=ppt/theme/theme1.xml><?xml version="1.0" encoding="utf-8"?>
<a:theme xmlns:a="http://schemas.openxmlformats.org/drawingml/2006/main" name="TOWN HALL BUSINESS PLAN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A3CAF7"/>
      </a:accent1>
      <a:accent2>
        <a:srgbClr val="EB573D"/>
      </a:accent2>
      <a:accent3>
        <a:srgbClr val="5FA4AB"/>
      </a:accent3>
      <a:accent4>
        <a:srgbClr val="051934"/>
      </a:accent4>
      <a:accent5>
        <a:srgbClr val="F8C379"/>
      </a:accent5>
      <a:accent6>
        <a:srgbClr val="FA9778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27781</TotalTime>
  <Words>2227</Words>
  <Application>Microsoft Office PowerPoint</Application>
  <PresentationFormat>화면 슬라이드 쇼(16:9)</PresentationFormat>
  <Paragraphs>300</Paragraphs>
  <Slides>24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2" baseType="lpstr">
      <vt:lpstr>Calibri</vt:lpstr>
      <vt:lpstr>Open Sans</vt:lpstr>
      <vt:lpstr>Arial</vt:lpstr>
      <vt:lpstr>HY헤드라인M</vt:lpstr>
      <vt:lpstr>Righteous</vt:lpstr>
      <vt:lpstr>맑은 고딕</vt:lpstr>
      <vt:lpstr>Wingdings</vt:lpstr>
      <vt:lpstr>TOWN HALL BUSINESS PLAN</vt:lpstr>
      <vt:lpstr>외국어시험 대체 강좌 – 시사영어 </vt:lpstr>
      <vt:lpstr>Table of Contents</vt:lpstr>
      <vt:lpstr>문화, 과학</vt:lpstr>
      <vt:lpstr>1. Key Expressions </vt:lpstr>
      <vt:lpstr>1. Key Expressions </vt:lpstr>
      <vt:lpstr>1. Key Expressions </vt:lpstr>
      <vt:lpstr>1. Key Expressions </vt:lpstr>
      <vt:lpstr>1. Key Expressions </vt:lpstr>
      <vt:lpstr>1. Key Expressions </vt:lpstr>
      <vt:lpstr>1. Key Expressions </vt:lpstr>
      <vt:lpstr>1. Key Expressions </vt:lpstr>
      <vt:lpstr>1. Key Expressions </vt:lpstr>
      <vt:lpstr>1. Key Expressions </vt:lpstr>
      <vt:lpstr>1. Key Expressions </vt:lpstr>
      <vt:lpstr>2. Word List </vt:lpstr>
      <vt:lpstr>2. Word List </vt:lpstr>
      <vt:lpstr>2. Word List </vt:lpstr>
      <vt:lpstr>2. Word List </vt:lpstr>
      <vt:lpstr>3.1 Grammar: 부정대명사 Some, Any</vt:lpstr>
      <vt:lpstr>3.1 Grammar: 부정대명사 Some, Any</vt:lpstr>
      <vt:lpstr>3.1 Grammar: 부정대명사 Some, Any</vt:lpstr>
      <vt:lpstr>3.1 Grammar: 부정대명사 Some, Any</vt:lpstr>
      <vt:lpstr>3.1 Grammar: 부정대명사 Some, Any</vt:lpstr>
      <vt:lpstr>3.1 Grammar: 부정대명사 Some, Any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솔루션 소개 및 시연</dc:title>
  <dc:creator>Kyunghee</dc:creator>
  <cp:lastModifiedBy>Kyunghee Lee</cp:lastModifiedBy>
  <cp:revision>233</cp:revision>
  <dcterms:modified xsi:type="dcterms:W3CDTF">2024-05-28T09:30:29Z</dcterms:modified>
</cp:coreProperties>
</file>