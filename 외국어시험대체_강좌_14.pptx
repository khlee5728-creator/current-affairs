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2"/>
  </p:notesMasterIdLst>
  <p:sldIdLst>
    <p:sldId id="256" r:id="rId2"/>
    <p:sldId id="279" r:id="rId3"/>
    <p:sldId id="261" r:id="rId4"/>
    <p:sldId id="503" r:id="rId5"/>
    <p:sldId id="438" r:id="rId6"/>
    <p:sldId id="504" r:id="rId7"/>
    <p:sldId id="476" r:id="rId8"/>
    <p:sldId id="478" r:id="rId9"/>
    <p:sldId id="479" r:id="rId10"/>
    <p:sldId id="477" r:id="rId11"/>
    <p:sldId id="485" r:id="rId12"/>
    <p:sldId id="434" r:id="rId13"/>
    <p:sldId id="309" r:id="rId14"/>
    <p:sldId id="451" r:id="rId15"/>
    <p:sldId id="469" r:id="rId16"/>
    <p:sldId id="470" r:id="rId17"/>
    <p:sldId id="471" r:id="rId18"/>
    <p:sldId id="472" r:id="rId19"/>
    <p:sldId id="481" r:id="rId20"/>
    <p:sldId id="473" r:id="rId21"/>
  </p:sldIdLst>
  <p:sldSz cx="9144000" cy="5143500" type="screen16x9"/>
  <p:notesSz cx="6797675" cy="9926638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HY헤드라인M" panose="02030600000101010101" pitchFamily="18" charset="-127"/>
      <p:regular r:id="rId27"/>
    </p:embeddedFont>
    <p:embeddedFont>
      <p:font typeface="Open Sans" panose="020B0600000101010101" charset="0"/>
      <p:regular r:id="rId28"/>
      <p:bold r:id="rId29"/>
      <p:italic r:id="rId30"/>
      <p:boldItalic r:id="rId31"/>
    </p:embeddedFont>
    <p:embeddedFont>
      <p:font typeface="Righteous" panose="020B0600000101010101" charset="0"/>
      <p:regular r:id="rId32"/>
    </p:embeddedFont>
    <p:embeddedFont>
      <p:font typeface="Tahoma" panose="020B0604030504040204" pitchFamily="34" charset="0"/>
      <p:regular r:id="rId33"/>
      <p:bold r:id="rId34"/>
    </p:embeddedFont>
    <p:embeddedFont>
      <p:font typeface="맑은 고딕" panose="020B0503020000020004" pitchFamily="50" charset="-127"/>
      <p:regular r:id="rId35"/>
      <p:bold r:id="rId3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DCAE"/>
    <a:srgbClr val="A3CAF7"/>
    <a:srgbClr val="F8C379"/>
    <a:srgbClr val="663DBE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AA76DC9-9F1E-41F9-AC6C-C94DD4396BF5}">
  <a:tblStyle styleId="{EAA76DC9-9F1E-41F9-AC6C-C94DD4396BF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32" autoAdjust="0"/>
    <p:restoredTop sz="94681" autoAdjust="0"/>
  </p:normalViewPr>
  <p:slideViewPr>
    <p:cSldViewPr snapToGrid="0">
      <p:cViewPr varScale="1">
        <p:scale>
          <a:sx n="137" d="100"/>
          <a:sy n="137" d="100"/>
        </p:scale>
        <p:origin x="534" y="11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p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0" name="Google Shape;1780;g6b628f12ae_0_158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1" name="Google Shape;1781;g6b628f12ae_0_15816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70bcfaa05b_0_5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70bcfaa05b_0_508:notes"/>
          <p:cNvSpPr txBox="1">
            <a:spLocks noGrp="1"/>
          </p:cNvSpPr>
          <p:nvPr>
            <p:ph type="body" idx="1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1492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626300" y="1288975"/>
            <a:ext cx="58914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823850" y="1953225"/>
            <a:ext cx="54963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-18775" y="-20375"/>
            <a:ext cx="2771700" cy="51639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1176992" y="2560534"/>
            <a:ext cx="3537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title" idx="2" hasCustomPrompt="1"/>
          </p:nvPr>
        </p:nvSpPr>
        <p:spPr>
          <a:xfrm>
            <a:off x="1176992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>
            <a:spLocks noGrp="1"/>
          </p:cNvSpPr>
          <p:nvPr>
            <p:ph type="subTitle" idx="1"/>
          </p:nvPr>
        </p:nvSpPr>
        <p:spPr>
          <a:xfrm>
            <a:off x="1176992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>
  <p:cSld name="TITLE_AND_TWO_COLUMNS_1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" name="Text Box 13">
            <a:extLst>
              <a:ext uri="{FF2B5EF4-FFF2-40B4-BE49-F238E27FC236}">
                <a16:creationId xmlns:a16="http://schemas.microsoft.com/office/drawing/2014/main" id="{601ED383-4240-451C-AF24-F5BEBCACFF7B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2877625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177800" lvl="0" indent="-177800" rtl="0">
              <a:spcBef>
                <a:spcPts val="0"/>
              </a:spcBef>
              <a:spcAft>
                <a:spcPts val="0"/>
              </a:spcAft>
              <a:buClr>
                <a:schemeClr val="accent4">
                  <a:lumMod val="50000"/>
                  <a:lumOff val="50000"/>
                </a:schemeClr>
              </a:buClr>
              <a:buSzPts val="1200"/>
              <a:buFont typeface="Wingdings" panose="05000000000000000000" pitchFamily="2" charset="2"/>
              <a:buChar char="§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 dirty="0"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0B2C87-6623-7087-CBE0-7109EC4CC4FE}"/>
              </a:ext>
            </a:extLst>
          </p:cNvPr>
          <p:cNvSpPr/>
          <p:nvPr userDrawn="1"/>
        </p:nvSpPr>
        <p:spPr>
          <a:xfrm>
            <a:off x="3758472" y="1320077"/>
            <a:ext cx="5159468" cy="2902423"/>
          </a:xfrm>
          <a:prstGeom prst="rect">
            <a:avLst/>
          </a:prstGeom>
          <a:solidFill>
            <a:schemeClr val="bg1">
              <a:alpha val="80000"/>
            </a:schemeClr>
          </a:solidFill>
          <a:ln w="635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 Box 13">
            <a:extLst>
              <a:ext uri="{FF2B5EF4-FFF2-40B4-BE49-F238E27FC236}">
                <a16:creationId xmlns:a16="http://schemas.microsoft.com/office/drawing/2014/main" id="{FA2A9844-F7AA-4437-8D4C-790546ED9255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319224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Bullet Points" preserve="1">
  <p:cSld name="1_Title + Bullet Points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703775" y="1261200"/>
            <a:ext cx="6856800" cy="2961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>
                <a:latin typeface="+mn-ea"/>
                <a:ea typeface="+mn-ea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53" name="Google Shape;53;p13"/>
          <p:cNvSpPr/>
          <p:nvPr/>
        </p:nvSpPr>
        <p:spPr>
          <a:xfrm>
            <a:off x="0" y="0"/>
            <a:ext cx="9144000" cy="781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680525" y="445025"/>
            <a:ext cx="7066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6" name="Text Box 13">
            <a:extLst>
              <a:ext uri="{FF2B5EF4-FFF2-40B4-BE49-F238E27FC236}">
                <a16:creationId xmlns:a16="http://schemas.microsoft.com/office/drawing/2014/main" id="{E15FA631-D0C2-45C4-B074-C5C35779E854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7753464" y="40307"/>
            <a:ext cx="1326408" cy="207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3951" tIns="41976" rIns="83951" bIns="41976">
            <a:spAutoFit/>
          </a:bodyPr>
          <a:lstStyle>
            <a:lvl1pPr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1pPr>
            <a:lvl2pPr marL="742950" indent="-28575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11430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3pPr>
            <a:lvl4pPr marL="16002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4pPr>
            <a:lvl5pPr marL="2057400" indent="-228600"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맑은 고딕" pitchFamily="50" charset="-127"/>
                <a:ea typeface="맑은 고딕" pitchFamily="50" charset="-127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Tahoma" pitchFamily="34" charset="0"/>
              </a:rPr>
              <a:t>Page No.</a:t>
            </a:r>
            <a:r>
              <a:rPr kumimoji="0" lang="en-US" altLang="ko-KR" sz="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  </a:t>
            </a:r>
            <a:fld id="{C1B2BC9E-BD5D-474B-A148-D311938ED256}" type="slidenum">
              <a:rPr kumimoji="0" lang="en-US" altLang="ko-KR" sz="8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ko-KR" sz="3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itchFamily="50" charset="-127"/>
              <a:ea typeface="맑은 고딕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253193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3">
  <p:cSld name="SECTION_HEADER_1_1_1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3"/>
          <p:cNvSpPr/>
          <p:nvPr/>
        </p:nvSpPr>
        <p:spPr>
          <a:xfrm>
            <a:off x="-13350" y="1853400"/>
            <a:ext cx="9170700" cy="3345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23"/>
          <p:cNvSpPr txBox="1">
            <a:spLocks noGrp="1"/>
          </p:cNvSpPr>
          <p:nvPr>
            <p:ph type="title"/>
          </p:nvPr>
        </p:nvSpPr>
        <p:spPr>
          <a:xfrm>
            <a:off x="1165031" y="2560525"/>
            <a:ext cx="43872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 dirty="0"/>
          </a:p>
        </p:txBody>
      </p:sp>
      <p:sp>
        <p:nvSpPr>
          <p:cNvPr id="148" name="Google Shape;148;p23"/>
          <p:cNvSpPr txBox="1">
            <a:spLocks noGrp="1"/>
          </p:cNvSpPr>
          <p:nvPr>
            <p:ph type="title" idx="2" hasCustomPrompt="1"/>
          </p:nvPr>
        </p:nvSpPr>
        <p:spPr>
          <a:xfrm>
            <a:off x="1165031" y="945225"/>
            <a:ext cx="2511900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r>
              <a:t>xx%</a:t>
            </a:r>
          </a:p>
        </p:txBody>
      </p:sp>
      <p:sp>
        <p:nvSpPr>
          <p:cNvPr id="149" name="Google Shape;149;p23"/>
          <p:cNvSpPr txBox="1">
            <a:spLocks noGrp="1"/>
          </p:cNvSpPr>
          <p:nvPr>
            <p:ph type="subTitle" idx="1"/>
          </p:nvPr>
        </p:nvSpPr>
        <p:spPr>
          <a:xfrm>
            <a:off x="1165031" y="3591825"/>
            <a:ext cx="3179100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latin typeface="+mn-ea"/>
                <a:ea typeface="+mn-e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Font typeface="Righteous"/>
              <a:buNone/>
              <a:defRPr sz="2800">
                <a:solidFill>
                  <a:schemeClr val="accent4"/>
                </a:solidFill>
                <a:latin typeface="Righteous"/>
                <a:ea typeface="Righteous"/>
                <a:cs typeface="Righteous"/>
                <a:sym typeface="Righteous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2800"/>
              <a:buNone/>
              <a:defRPr sz="2800">
                <a:solidFill>
                  <a:schemeClr val="accent4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800"/>
              <a:buFont typeface="Open Sans"/>
              <a:buChar char="●"/>
              <a:defRPr sz="1800"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●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accent4"/>
              </a:buClr>
              <a:buSzPts val="1400"/>
              <a:buFont typeface="Open Sans"/>
              <a:buChar char="○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accent4"/>
              </a:buClr>
              <a:buSzPts val="1400"/>
              <a:buFont typeface="Open Sans"/>
              <a:buChar char="■"/>
              <a:defRPr>
                <a:solidFill>
                  <a:schemeClr val="accent4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9" r:id="rId3"/>
    <p:sldLayoutId id="2147483680" r:id="rId4"/>
    <p:sldLayoutId id="2147483679" r:id="rId5"/>
    <p:sldLayoutId id="2147483669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+mn-ea"/>
          <a:ea typeface="+mn-ea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103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107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www.englishcube.net/grammar_view.php?category2=217" TargetMode="Externa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glishcube.net/grammar_view.php?category2=130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png"/><Relationship Id="rId4" Type="http://schemas.openxmlformats.org/officeDocument/2006/relationships/hyperlink" Target="https://www.englishcube.net/grammar_exam.php?category2=147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32"/>
          <p:cNvSpPr txBox="1">
            <a:spLocks noGrp="1"/>
          </p:cNvSpPr>
          <p:nvPr>
            <p:ph type="ctrTitle"/>
          </p:nvPr>
        </p:nvSpPr>
        <p:spPr>
          <a:xfrm>
            <a:off x="783925" y="1288975"/>
            <a:ext cx="75762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3200" b="1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외국어시험대체 강좌</a:t>
            </a:r>
            <a:r>
              <a:rPr lang="en-US" altLang="ko-KR" sz="3200" b="1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</a:t>
            </a:r>
            <a:r>
              <a:rPr lang="en-US" altLang="ko-KR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– </a:t>
            </a:r>
            <a:r>
              <a:rPr lang="ko-KR" altLang="en-US" sz="3200" b="1" dirty="0">
                <a:solidFill>
                  <a:srgbClr val="A3CAF7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시사영어 </a:t>
            </a:r>
            <a:endParaRPr sz="3200" b="1" dirty="0">
              <a:solidFill>
                <a:srgbClr val="A3CAF7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356" name="Google Shape;356;p32"/>
          <p:cNvSpPr txBox="1">
            <a:spLocks noGrp="1"/>
          </p:cNvSpPr>
          <p:nvPr>
            <p:ph type="subTitle" idx="1"/>
          </p:nvPr>
        </p:nvSpPr>
        <p:spPr>
          <a:xfrm>
            <a:off x="1639637" y="2081574"/>
            <a:ext cx="5496300" cy="98035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Current English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dirty="0"/>
              <a:t>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4" name="Google Shape;1784;p55"/>
          <p:cNvSpPr txBox="1">
            <a:spLocks noGrp="1"/>
          </p:cNvSpPr>
          <p:nvPr>
            <p:ph type="title" idx="2"/>
          </p:nvPr>
        </p:nvSpPr>
        <p:spPr>
          <a:xfrm>
            <a:off x="338557" y="945225"/>
            <a:ext cx="4559285" cy="789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/>
              <a:t>Table of Contents</a:t>
            </a:r>
            <a:endParaRPr sz="3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6960D9-03BA-60D3-95A2-F3D5083B510D}"/>
              </a:ext>
            </a:extLst>
          </p:cNvPr>
          <p:cNvSpPr txBox="1"/>
          <p:nvPr/>
        </p:nvSpPr>
        <p:spPr>
          <a:xfrm>
            <a:off x="905047" y="1940420"/>
            <a:ext cx="4748877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b="1" dirty="0">
                <a:solidFill>
                  <a:schemeClr val="accent5">
                    <a:lumMod val="50000"/>
                  </a:schemeClr>
                </a:solidFill>
              </a:rPr>
              <a:t>문화 과학</a:t>
            </a:r>
            <a:endParaRPr lang="en-US" altLang="ko-KR" sz="16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US" altLang="ko-KR" b="1" dirty="0"/>
              <a:t>K-pop / </a:t>
            </a:r>
            <a:r>
              <a:rPr lang="ko-KR" altLang="en-US" b="1" dirty="0"/>
              <a:t>오디션 프로그램 </a:t>
            </a:r>
            <a:r>
              <a:rPr lang="en-US" altLang="ko-KR" b="1" dirty="0"/>
              <a:t>/ </a:t>
            </a:r>
            <a:r>
              <a:rPr lang="ko-KR" altLang="en-US" b="1" dirty="0"/>
              <a:t>지상파 방송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0C3B164-1416-E22A-B07D-4ECB67E734D7}"/>
              </a:ext>
            </a:extLst>
          </p:cNvPr>
          <p:cNvSpPr txBox="1"/>
          <p:nvPr/>
        </p:nvSpPr>
        <p:spPr>
          <a:xfrm>
            <a:off x="292156" y="2517335"/>
            <a:ext cx="4089070" cy="117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Expressions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Wordlist</a:t>
            </a:r>
          </a:p>
          <a:p>
            <a:pPr marL="180975" indent="-180975">
              <a:lnSpc>
                <a:spcPct val="150000"/>
              </a:lnSpc>
              <a:buAutoNum type="arabicPeriod"/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Grammar </a:t>
            </a:r>
          </a:p>
          <a:p>
            <a:pPr>
              <a:lnSpc>
                <a:spcPct val="150000"/>
              </a:lnSpc>
            </a:pPr>
            <a:r>
              <a:rPr lang="en-US" altLang="ko-KR" sz="1200" dirty="0">
                <a:latin typeface="Calibri" panose="020F0502020204030204" pitchFamily="34" charset="0"/>
                <a:cs typeface="Calibri" panose="020F0502020204030204" pitchFamily="34" charset="0"/>
              </a:rPr>
              <a:t>3</a:t>
            </a:r>
            <a:r>
              <a:rPr lang="en-US" altLang="ko-KR" sz="1200">
                <a:latin typeface="Calibri" panose="020F0502020204030204" pitchFamily="34" charset="0"/>
                <a:cs typeface="Calibri" panose="020F0502020204030204" pitchFamily="34" charset="0"/>
              </a:rPr>
              <a:t>.1 </a:t>
            </a:r>
            <a:r>
              <a:rPr lang="ko-KR" altLang="en-US" sz="1200" dirty="0">
                <a:latin typeface="Calibri" panose="020F0502020204030204" pitchFamily="34" charset="0"/>
                <a:cs typeface="Calibri" panose="020F0502020204030204" pitchFamily="34" charset="0"/>
              </a:rPr>
              <a:t>부사절을 이끄는 종속 접속사</a:t>
            </a:r>
            <a:endParaRPr lang="en-US" altLang="ko-KR" sz="1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F4A99721-B933-49C0-A7D7-C66E2C6BD1BF}"/>
              </a:ext>
            </a:extLst>
          </p:cNvPr>
          <p:cNvSpPr/>
          <p:nvPr/>
        </p:nvSpPr>
        <p:spPr>
          <a:xfrm>
            <a:off x="211075" y="1897666"/>
            <a:ext cx="639505" cy="639505"/>
          </a:xfrm>
          <a:prstGeom prst="ellipse">
            <a:avLst/>
          </a:prstGeom>
          <a:solidFill>
            <a:srgbClr val="FDDCA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FD8B811-C804-4ECD-B30E-8433762C76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850" y="1994778"/>
            <a:ext cx="403953" cy="403953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1750;p54">
            <a:extLst>
              <a:ext uri="{FF2B5EF4-FFF2-40B4-BE49-F238E27FC236}">
                <a16:creationId xmlns:a16="http://schemas.microsoft.com/office/drawing/2014/main" id="{B59FF772-E584-79B9-ECAB-9369D6249537}"/>
              </a:ext>
            </a:extLst>
          </p:cNvPr>
          <p:cNvSpPr/>
          <p:nvPr/>
        </p:nvSpPr>
        <p:spPr>
          <a:xfrm>
            <a:off x="4999220" y="1102495"/>
            <a:ext cx="2938510" cy="293851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37"/>
          <p:cNvSpPr txBox="1">
            <a:spLocks noGrp="1"/>
          </p:cNvSpPr>
          <p:nvPr>
            <p:ph type="title"/>
          </p:nvPr>
        </p:nvSpPr>
        <p:spPr>
          <a:xfrm>
            <a:off x="1177000" y="2560525"/>
            <a:ext cx="38739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dirty="0">
                <a:latin typeface="+mj-ea"/>
                <a:ea typeface="+mj-ea"/>
              </a:rPr>
              <a:t>문화</a:t>
            </a:r>
            <a:r>
              <a:rPr lang="en-US" altLang="ko-KR" dirty="0">
                <a:latin typeface="+mj-ea"/>
                <a:ea typeface="+mj-ea"/>
              </a:rPr>
              <a:t>, </a:t>
            </a:r>
            <a:r>
              <a:rPr lang="ko-KR" altLang="en-US" dirty="0">
                <a:latin typeface="+mj-ea"/>
                <a:ea typeface="+mj-ea"/>
              </a:rPr>
              <a:t>과학</a:t>
            </a:r>
            <a:endParaRPr dirty="0">
              <a:latin typeface="+mj-ea"/>
              <a:ea typeface="+mj-ea"/>
            </a:endParaRPr>
          </a:p>
        </p:txBody>
      </p:sp>
      <p:sp>
        <p:nvSpPr>
          <p:cNvPr id="730" name="Google Shape;730;p37"/>
          <p:cNvSpPr txBox="1">
            <a:spLocks noGrp="1"/>
          </p:cNvSpPr>
          <p:nvPr>
            <p:ph type="subTitle" idx="1"/>
          </p:nvPr>
        </p:nvSpPr>
        <p:spPr>
          <a:xfrm>
            <a:off x="132623" y="3591825"/>
            <a:ext cx="4802345" cy="53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dirty="0"/>
              <a:t>K-pop / </a:t>
            </a:r>
            <a:r>
              <a:rPr lang="ko-KR" altLang="en-US" dirty="0"/>
              <a:t>오디션 프로그램</a:t>
            </a:r>
            <a:r>
              <a:rPr lang="en-US" altLang="ko-KR" dirty="0"/>
              <a:t> / </a:t>
            </a:r>
            <a:r>
              <a:rPr lang="ko-KR" altLang="en-US" dirty="0"/>
              <a:t>지상파 방송 </a:t>
            </a:r>
          </a:p>
        </p:txBody>
      </p:sp>
      <p:sp>
        <p:nvSpPr>
          <p:cNvPr id="21" name="제목 2">
            <a:extLst>
              <a:ext uri="{FF2B5EF4-FFF2-40B4-BE49-F238E27FC236}">
                <a16:creationId xmlns:a16="http://schemas.microsoft.com/office/drawing/2014/main" id="{B8CC920F-C452-0ABE-B7D2-CF578CEADACC}"/>
              </a:ext>
            </a:extLst>
          </p:cNvPr>
          <p:cNvSpPr>
            <a:spLocks noGrp="1"/>
          </p:cNvSpPr>
          <p:nvPr>
            <p:ph type="title" idx="2"/>
          </p:nvPr>
        </p:nvSpPr>
        <p:spPr>
          <a:xfrm>
            <a:off x="1176992" y="945225"/>
            <a:ext cx="2511900" cy="789300"/>
          </a:xfrm>
        </p:spPr>
        <p:txBody>
          <a:bodyPr/>
          <a:lstStyle/>
          <a:p>
            <a:r>
              <a:rPr lang="en-US" altLang="ko-KR" sz="4400" dirty="0"/>
              <a:t>14</a:t>
            </a:r>
            <a:endParaRPr lang="ko-KR" altLang="en-US" sz="4400" dirty="0"/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A880B359-9817-41EC-81F1-D42180CDF4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59258" y="1577098"/>
            <a:ext cx="1856154" cy="18561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07420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8" name="표 7">
            <a:extLst>
              <a:ext uri="{FF2B5EF4-FFF2-40B4-BE49-F238E27FC236}">
                <a16:creationId xmlns:a16="http://schemas.microsoft.com/office/drawing/2014/main" id="{5940069C-F7C3-4F96-9764-C222DA00BB70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Wave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swept across </a:t>
                      </a:r>
                      <a:r>
                        <a:rPr lang="en-US" altLang="ko-KR" sz="1000" dirty="0"/>
                        <a:t>Asia and later in South America and Europe.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I’m especially proud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when a Korean singer’s popularity rises in America, the very home of popular music. 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한류가 인기가 높다고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Wave became very popular across Asia.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Korean Wave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swept across </a:t>
                      </a:r>
                      <a:r>
                        <a:rPr lang="en-US" altLang="ko-KR" sz="1000" dirty="0"/>
                        <a:t>Asia.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YouTube has contributed greatly to the success of the Korean Wave. 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That’s right. Many Korean artists’ videos became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viral</a:t>
                      </a:r>
                      <a:r>
                        <a:rPr lang="en-US" altLang="ko-KR" sz="1000" dirty="0"/>
                        <a:t> there, and that’s how people became interested in K-pop.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널리 퍼진다고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Many Korean artists’ video spread out very quickly on YouTube.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Many Korean artists’ video became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viral</a:t>
                      </a:r>
                      <a:r>
                        <a:rPr lang="en-US" altLang="ko-KR" sz="1000" dirty="0"/>
                        <a:t> on YouTube.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E7717195-D66E-8CE2-7520-0565B0A5E722}"/>
              </a:ext>
            </a:extLst>
          </p:cNvPr>
          <p:cNvSpPr txBox="1"/>
          <p:nvPr/>
        </p:nvSpPr>
        <p:spPr>
          <a:xfrm>
            <a:off x="3950763" y="621234"/>
            <a:ext cx="18316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[K-pop]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4B604909-6D3B-44ED-9A51-917E7C1FEEA7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CFC31DD-B7D0-41E2-86A7-CE2AD18C5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131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If K-pop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stars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want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break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into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international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mainstream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pop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culture,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they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add more depth and variety </a:t>
                      </a:r>
                      <a:r>
                        <a:rPr lang="en-US" altLang="ko-KR" sz="1000" dirty="0"/>
                        <a:t>to what they do.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couldn’t agree more. The life span of a cultural product is very short nowadays.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더 많은 것을 보여줘야 한다고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K-pop stars should do more than what they do.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K-pop stars should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add more depth and variety </a:t>
                      </a:r>
                      <a:r>
                        <a:rPr lang="en-US" altLang="ko-KR" sz="1000" dirty="0"/>
                        <a:t>to what they do.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There are concerns about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downside</a:t>
                      </a:r>
                      <a:r>
                        <a:rPr lang="en-US" altLang="ko-KR" sz="1000" dirty="0"/>
                        <a:t> of the K-pop craze.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Yes. Some skeptics even say that its popularity has already hit its peak.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케이팝의</a:t>
                      </a:r>
                      <a:r>
                        <a:rPr lang="ko-KR" altLang="en-US" sz="1000" dirty="0"/>
                        <a:t> 문제점을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There are concerns about the negative aspects of the K-pop craze.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There are concerns about the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downside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to the K-pop craze.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[K-pop]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3874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19050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176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Critics say that most K-pop stars look the same and their songs sound very similar. So they’re sometimes called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“cookie-cutter stars.”</a:t>
                      </a:r>
                      <a:endParaRPr lang="ko-KR" altLang="en-US" sz="1000" dirty="0">
                        <a:solidFill>
                          <a:schemeClr val="accent2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think many of them and their agencies are simply hungry for quick success and resort to copying instead of creating their own style and music.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천편일률적인 연예인을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Some K-pop stars are criticized for looking all the same.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Some K-pop stars are called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cookie-cutter stars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[K-pop]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86436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178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What happened to the winner of that reality show? I think he’s been pretty much forgotten.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I guess he just had his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fifteen minutes of fame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and fade away.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잠시 유명세를 탄다고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became famous for a short period of time and faded away.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He just had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his fifteen minutes of fame </a:t>
                      </a:r>
                      <a:r>
                        <a:rPr lang="en-US" altLang="ko-KR" sz="1000" dirty="0"/>
                        <a:t>and faded away.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179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He was a practically unknown musician a few months ago, but his video went viral on YouTube and he’s become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household name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That’s another example of how powerful social media can be in this day and age.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널리 알려진 사람이라고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became very famous.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He became a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household name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lang="ko-KR" altLang="en-US" sz="1600" dirty="0"/>
              <a:t>오디션 프로그램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12858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084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180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reality show had its final round and James became the most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coveted</a:t>
                      </a:r>
                      <a:r>
                        <a:rPr lang="en-US" altLang="ko-KR" sz="1000" dirty="0"/>
                        <a:t> winner of the singing competition.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He really deserves it. I hope a promising future is ahead of him.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모두가 부러워하는 우승자가 되었다고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Kim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became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most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desired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winner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singing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competition.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Kim became the most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coveted</a:t>
                      </a:r>
                      <a:r>
                        <a:rPr lang="en-US" altLang="ko-KR" sz="1000" dirty="0"/>
                        <a:t> winner of the singing competition.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181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don’t like those reality show. They simply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commercialize</a:t>
                      </a:r>
                      <a:r>
                        <a:rPr lang="en-US" altLang="ko-KR" sz="1000" dirty="0"/>
                        <a:t> the dreams of ordinary people.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Even so, every year we see many talented people making a debut through those programs.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오디션 프로그램을 부정적으로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Reality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shows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simply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take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advantage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dreams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of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ordinary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people.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Reality shows simply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commercialize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the dreams of ordinary people.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오디션 프로그램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46560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338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182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Once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reality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show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becomes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a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hit,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it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seems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you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can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suddenly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find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them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everywhere.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Copycat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 shows are inevitable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when you consider how much the networks make on successes.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다른 프로그램을 베낀다고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Similar shows are inevitable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when you consider how much the networks make on successes.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Copycat</a:t>
                      </a:r>
                      <a:r>
                        <a:rPr lang="en-US" altLang="ko-KR" sz="1000" dirty="0"/>
                        <a:t> shows are inevitable </a:t>
                      </a:r>
                      <a:r>
                        <a:rPr lang="en-US" altLang="ko-KR" sz="1000" dirty="0">
                          <a:solidFill>
                            <a:schemeClr val="accent1">
                              <a:lumMod val="75000"/>
                            </a:schemeClr>
                          </a:solidFill>
                        </a:rPr>
                        <a:t>when you consider how much the networks make on successes.</a:t>
                      </a:r>
                      <a:endParaRPr lang="ko-KR" altLang="en-US" sz="1000" dirty="0">
                        <a:solidFill>
                          <a:schemeClr val="accent1">
                            <a:lumMod val="75000"/>
                          </a:schemeClr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183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winner of the reality show released just one album, only to return to his previous job.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We’re living in a world of instant gratification and short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attention spans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It’s hard to turn fifteen minutes of fame into a lasting career.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대중은 오래 기억하지 않는다고 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We’re living in a world where attention lasts only for a short period time.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We’re living in a world of short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attention spans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lang="ko-KR" altLang="en-US" sz="1600" dirty="0"/>
              <a:t>오디션 프로그램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73480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1AC30CE6-FB5C-4136-3FF8-7C6C6A21F7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0525" y="445025"/>
            <a:ext cx="3270241" cy="572700"/>
          </a:xfrm>
        </p:spPr>
        <p:txBody>
          <a:bodyPr/>
          <a:lstStyle/>
          <a:p>
            <a:r>
              <a:rPr lang="en-US" altLang="ko-KR" dirty="0"/>
              <a:t>1. Key Expressions </a:t>
            </a:r>
            <a:endParaRPr lang="ko-KR" altLang="en-US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A98455DA-9448-D899-F1EA-EE4F3A4E3BE1}"/>
              </a:ext>
            </a:extLst>
          </p:cNvPr>
          <p:cNvGraphicFramePr>
            <a:graphicFrameLocks noGrp="1"/>
          </p:cNvGraphicFramePr>
          <p:nvPr/>
        </p:nvGraphicFramePr>
        <p:xfrm>
          <a:off x="367145" y="1149041"/>
          <a:ext cx="8333511" cy="3759200"/>
        </p:xfrm>
        <a:graphic>
          <a:graphicData uri="http://schemas.openxmlformats.org/drawingml/2006/table">
            <a:tbl>
              <a:tblPr firstRow="1" bandRow="1">
                <a:tableStyleId>{EAA76DC9-9F1E-41F9-AC6C-C94DD4396BF5}</a:tableStyleId>
              </a:tblPr>
              <a:tblGrid>
                <a:gridCol w="394171">
                  <a:extLst>
                    <a:ext uri="{9D8B030D-6E8A-4147-A177-3AD203B41FA5}">
                      <a16:colId xmlns:a16="http://schemas.microsoft.com/office/drawing/2014/main" val="3416198613"/>
                    </a:ext>
                  </a:extLst>
                </a:gridCol>
                <a:gridCol w="691003">
                  <a:extLst>
                    <a:ext uri="{9D8B030D-6E8A-4147-A177-3AD203B41FA5}">
                      <a16:colId xmlns:a16="http://schemas.microsoft.com/office/drawing/2014/main" val="1709996876"/>
                    </a:ext>
                  </a:extLst>
                </a:gridCol>
                <a:gridCol w="7248337">
                  <a:extLst>
                    <a:ext uri="{9D8B030D-6E8A-4147-A177-3AD203B41FA5}">
                      <a16:colId xmlns:a16="http://schemas.microsoft.com/office/drawing/2014/main" val="3233971951"/>
                    </a:ext>
                  </a:extLst>
                </a:gridCol>
              </a:tblGrid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184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I wonder if I’m getting old. I’ve been watching TV less and less these days.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428822022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So have I. There isn’t anything worth watching, to be honest. The airwaves used by TV stations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part of our national assets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. The broadcasters are wasting our resources, so to speak!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852122254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전파는 국가 자산이라고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9084218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Our</a:t>
                      </a:r>
                      <a:r>
                        <a:rPr lang="ko-KR" altLang="en-US" sz="1000" dirty="0"/>
                        <a:t> </a:t>
                      </a:r>
                      <a:r>
                        <a:rPr lang="en-US" altLang="ko-KR" sz="1000" dirty="0"/>
                        <a:t>nation owns the airwaves used by TV stations.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38090396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 airwaves used by TV stations are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part of our national assets</a:t>
                      </a:r>
                      <a:r>
                        <a:rPr lang="en-US" altLang="ko-KR" sz="1000" dirty="0"/>
                        <a:t>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218225643"/>
                  </a:ext>
                </a:extLst>
              </a:tr>
              <a:tr h="370840">
                <a:tc rowSpan="5"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185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F8C379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A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These days, there’s a lot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sexually suggestive </a:t>
                      </a:r>
                      <a:r>
                        <a:rPr lang="en-US" altLang="ko-KR" sz="1000" dirty="0"/>
                        <a:t>content on TV. I’m afraid of watching anything with my children. 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96840410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B</a:t>
                      </a:r>
                      <a:endParaRPr lang="ko-KR" altLang="en-US" sz="10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Yeah, some programs are really inappropriate. There’s no need to be so careful, though. Your kids may already know more than you think.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664380787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선정적인 내용을 말할 때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811320871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Simple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There’s a lot of sexual content on TV.</a:t>
                      </a:r>
                      <a:endParaRPr lang="ko-KR" altLang="en-US" sz="1000" dirty="0"/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4106526039"/>
                  </a:ext>
                </a:extLst>
              </a:tr>
              <a:tr h="37084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Upgrade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There’s a lot of </a:t>
                      </a:r>
                      <a:r>
                        <a:rPr lang="en-US" altLang="ko-KR" sz="1000" dirty="0">
                          <a:solidFill>
                            <a:schemeClr val="accent2"/>
                          </a:solidFill>
                        </a:rPr>
                        <a:t>sexually suggestive </a:t>
                      </a:r>
                      <a:r>
                        <a:rPr lang="en-US" altLang="ko-KR" sz="1000" dirty="0">
                          <a:solidFill>
                            <a:schemeClr val="tx1"/>
                          </a:solidFill>
                        </a:rPr>
                        <a:t>content on TV. </a:t>
                      </a:r>
                      <a:endParaRPr lang="ko-KR" alt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352493642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5C1F28E6-0FF6-69E4-2086-CC583D24FDF2}"/>
              </a:ext>
            </a:extLst>
          </p:cNvPr>
          <p:cNvSpPr txBox="1"/>
          <p:nvPr/>
        </p:nvSpPr>
        <p:spPr>
          <a:xfrm>
            <a:off x="3950763" y="621234"/>
            <a:ext cx="222836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[</a:t>
            </a:r>
            <a:r>
              <a:rPr kumimoji="0" lang="ko-KR" altLang="en-US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지상파 방송</a:t>
            </a:r>
            <a:r>
              <a:rPr kumimoji="0" lang="en-US" altLang="ko-KR" sz="16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]</a:t>
            </a:r>
            <a:endParaRPr kumimoji="0" lang="ko-KR" altLang="en-US" sz="16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BB6BA8BE-A480-405E-A2CC-C32E36641633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83314D5-FDC2-4FE2-9944-03A9BF03AE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50068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7735CE3-3951-F1D9-BDDF-49741BAC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67C8965-A726-9057-EEAF-415CAC3864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451407" y="1094653"/>
            <a:ext cx="3159495" cy="3778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0419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BCE0C26-348A-1EDA-5A80-66D668C8F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9" name="Google Shape;1750;p54">
            <a:extLst>
              <a:ext uri="{FF2B5EF4-FFF2-40B4-BE49-F238E27FC236}">
                <a16:creationId xmlns:a16="http://schemas.microsoft.com/office/drawing/2014/main" id="{A0F5263D-0DBF-4364-BB8F-3379A600C685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6B8471E-6887-49FD-A161-93F1B284C0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D96E4F5-B1A5-106A-7106-9ECB57DF595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39628" y="1072655"/>
            <a:ext cx="3132336" cy="386438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EF8D51F2-65B5-EA06-8349-020751BBCE5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4767096" y="1074642"/>
            <a:ext cx="3487252" cy="3817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8634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4F474CDB-9205-9F5F-577C-61A0A37FB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sp>
        <p:nvSpPr>
          <p:cNvPr id="7" name="Google Shape;1750;p54">
            <a:extLst>
              <a:ext uri="{FF2B5EF4-FFF2-40B4-BE49-F238E27FC236}">
                <a16:creationId xmlns:a16="http://schemas.microsoft.com/office/drawing/2014/main" id="{F772D4A2-52C0-45CF-B0D8-D7B75537912A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FAC07E7-C4CC-4716-A693-7BCFE9FF38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6C510B81-D48F-0A98-6A0F-C097AD0AD498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r="50000"/>
          <a:stretch/>
        </p:blipFill>
        <p:spPr>
          <a:xfrm>
            <a:off x="328050" y="1081622"/>
            <a:ext cx="3487252" cy="3739153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8F8D9C2C-24D3-6DFF-87E6-C41EF1E869F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50000"/>
          <a:stretch/>
        </p:blipFill>
        <p:spPr>
          <a:xfrm>
            <a:off x="4989793" y="1074281"/>
            <a:ext cx="3163073" cy="2003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22140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77735CE3-3951-F1D9-BDDF-49741BAC29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2. Word List 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C304735-2747-3D01-F2EF-F3376E2DE7B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000"/>
          <a:stretch/>
        </p:blipFill>
        <p:spPr>
          <a:xfrm>
            <a:off x="281716" y="1091133"/>
            <a:ext cx="3853295" cy="377536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904DF6-9611-76F7-3E79-A94772D848E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0000"/>
          <a:stretch/>
        </p:blipFill>
        <p:spPr>
          <a:xfrm>
            <a:off x="4827286" y="1089127"/>
            <a:ext cx="3483316" cy="3747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268448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부사절을 이끄는 종속접속사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017297"/>
            <a:ext cx="863807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종속접속사는 종속절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형용사절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을 이끄는데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 중 가장 큰 비중을 차지하는 것은 부사절을 이끄는 </a:t>
            </a:r>
            <a:r>
              <a:rPr lang="ko-KR" altLang="en-US" sz="1000" b="0" i="0" dirty="0" err="1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종속접속사입니다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/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/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부사절은 문장에서 부사 역할을 하는 부사 상당어구 중 하나입니다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부사절이 아무리 길어도 주절 입장에서 보면 부사 상당어구일 뿐입니다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85030F-5B6F-8477-C4A1-1E7EC8086960}"/>
              </a:ext>
            </a:extLst>
          </p:cNvPr>
          <p:cNvSpPr txBox="1"/>
          <p:nvPr/>
        </p:nvSpPr>
        <p:spPr>
          <a:xfrm>
            <a:off x="247545" y="1852046"/>
            <a:ext cx="8638073" cy="18435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I'll call you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when I get home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집에 가면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전화할</a:t>
            </a:r>
            <a:r>
              <a:rPr lang="ko-KR" altLang="en-US" sz="1100" dirty="0" err="1">
                <a:solidFill>
                  <a:srgbClr val="999999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(will call)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(when I get home)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I'll call you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at 10 tomorrow morning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en-US" altLang="ko-KR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내일 아침 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10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시에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전화할게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(will call)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 10 tomorrow morning)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(when I get home)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이든 부사구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 10 tomorrow morning)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이든 주절 입장에서는 시간을 나타내는 부사라는 점은 동일합니다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222733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부사절을 이끄는 종속접속사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6586271D-5DCB-21BB-1EE2-9CC28DA42A50}"/>
              </a:ext>
            </a:extLst>
          </p:cNvPr>
          <p:cNvGraphicFramePr>
            <a:graphicFrameLocks noGrp="1"/>
          </p:cNvGraphicFramePr>
          <p:nvPr/>
        </p:nvGraphicFramePr>
        <p:xfrm>
          <a:off x="594075" y="1248552"/>
          <a:ext cx="7749618" cy="3749236"/>
        </p:xfrm>
        <a:graphic>
          <a:graphicData uri="http://schemas.openxmlformats.org/drawingml/2006/table">
            <a:tbl>
              <a:tblPr/>
              <a:tblGrid>
                <a:gridCol w="3113970">
                  <a:extLst>
                    <a:ext uri="{9D8B030D-6E8A-4147-A177-3AD203B41FA5}">
                      <a16:colId xmlns:a16="http://schemas.microsoft.com/office/drawing/2014/main" val="662430947"/>
                    </a:ext>
                  </a:extLst>
                </a:gridCol>
                <a:gridCol w="4635648">
                  <a:extLst>
                    <a:ext uri="{9D8B030D-6E8A-4147-A177-3AD203B41FA5}">
                      <a16:colId xmlns:a16="http://schemas.microsoft.com/office/drawing/2014/main" val="1638190237"/>
                    </a:ext>
                  </a:extLst>
                </a:gridCol>
              </a:tblGrid>
              <a:tr h="183654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1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시간</a:t>
                      </a:r>
                    </a:p>
                  </a:txBody>
                  <a:tcPr marL="83155" marR="83155" marT="60634" marB="4331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when: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할 때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while: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하는 동안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since: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한 이후로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until: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까지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as: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할 때</a:t>
                      </a: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하는 동안에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as soon as: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하자마자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before: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전에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after 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후에</a:t>
                      </a:r>
                    </a:p>
                  </a:txBody>
                  <a:tcPr marL="69296" marR="43310" marT="60634" marB="4331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3488746"/>
                  </a:ext>
                </a:extLst>
              </a:tr>
              <a:tr h="7363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원인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/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이유</a:t>
                      </a:r>
                    </a:p>
                  </a:txBody>
                  <a:tcPr marL="83155" marR="83155" marT="60634" marB="4331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because: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왜냐하면</a:t>
                      </a: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~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때문에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as: ~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때문에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since: ~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때문에</a:t>
                      </a:r>
                    </a:p>
                  </a:txBody>
                  <a:tcPr marL="69296" marR="43310" marT="60634" marB="4331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891558"/>
                  </a:ext>
                </a:extLst>
              </a:tr>
              <a:tr h="1176396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기타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조건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양보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목적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결과</a:t>
                      </a:r>
                      <a:r>
                        <a:rPr lang="en-US" altLang="ko-KR" sz="1100" b="1" baseline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)</a:t>
                      </a:r>
                    </a:p>
                  </a:txBody>
                  <a:tcPr marL="83155" marR="83155" marT="60634" marB="4331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if: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만약 </a:t>
                      </a: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라면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so that: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하기 위해서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in order that: 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하기 위해서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though: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비록 </a:t>
                      </a: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일지라도</a:t>
                      </a:r>
                    </a:p>
                    <a:p>
                      <a:pPr algn="l">
                        <a:lnSpc>
                          <a:spcPct val="100000"/>
                        </a:lnSpc>
                        <a:buFont typeface="Arial" panose="020B0604020202020204" pitchFamily="34" charset="0"/>
                        <a:buChar char="•"/>
                      </a:pPr>
                      <a:r>
                        <a:rPr 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although: 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비록 </a:t>
                      </a:r>
                      <a:r>
                        <a:rPr lang="en-US" altLang="ko-KR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~</a:t>
                      </a:r>
                      <a:r>
                        <a:rPr lang="ko-KR" altLang="en-US" sz="1100" b="0" baseline="0" dirty="0">
                          <a:solidFill>
                            <a:srgbClr val="333333"/>
                          </a:solidFill>
                          <a:effectLst/>
                          <a:latin typeface="Calibri" panose="020F0502020204030204" pitchFamily="34" charset="0"/>
                          <a:ea typeface="맑은 고딕" panose="020B0503020000020004" pitchFamily="50" charset="-127"/>
                        </a:rPr>
                        <a:t>일지라도</a:t>
                      </a:r>
                    </a:p>
                  </a:txBody>
                  <a:tcPr marL="69296" marR="43310" marT="60634" marB="43310"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1485874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1859B399-2044-CB5C-F324-85531F9F7BD6}"/>
              </a:ext>
            </a:extLst>
          </p:cNvPr>
          <p:cNvSpPr txBox="1"/>
          <p:nvPr/>
        </p:nvSpPr>
        <p:spPr>
          <a:xfrm>
            <a:off x="642786" y="917346"/>
            <a:ext cx="7858428" cy="2980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부사절을 이끄는 종속접속사는 부사절의 의미에 따라 시간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원인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/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조건 등으로 나눌 수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713429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부사절을 이끄는 종속접속사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부사절의 위치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547782"/>
            <a:ext cx="8638073" cy="3365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부사절은 부사와 마찬가지로 위치가 자유롭습니다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문장의 처음에 올 수도 있고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중간에 올 수도 있고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마지막에 올 수도 있습니다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부사절이 문장의 처음에 올 때는 부사절임을 명확하게 하기 위해서 보통 부사절 다음에 콤마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(,)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 like,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can go by taxi.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원하신다면 택시를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타셔도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됩니다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(If you like),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(can go)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(by taxi)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부사절이 문장의 중간에 오는 경우는 부사절 앞 뒤로 콤마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(,)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넣어서 구분해 줍니다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realized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 after I left my house,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that I left the light on.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집을 나서고 나서야 불을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켜둔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채로 두었다는 것을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깨달았다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(can go) + ,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(If you like), 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목적어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(that I left the light on)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부사절이 문장의 마지막에 오는 경우는 콤마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(,)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사용할 필요 없습니다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You can go by taxi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if you like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원하신다면 택시를 </a:t>
            </a:r>
            <a:r>
              <a:rPr lang="ko-KR" altLang="en-US" sz="1100" b="0" i="0" dirty="0" err="1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타셔도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 됩니다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(you)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(can go)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(by taxi) + 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(If you like)</a:t>
            </a:r>
          </a:p>
        </p:txBody>
      </p:sp>
    </p:spTree>
    <p:extLst>
      <p:ext uri="{BB962C8B-B14F-4D97-AF65-F5344CB8AC3E}">
        <p14:creationId xmlns:p14="http://schemas.microsoft.com/office/powerpoint/2010/main" val="24092226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부사절을 이끄는 종속접속사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부사절 접속사와 전치사의 구분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484962"/>
            <a:ext cx="8638073" cy="3113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부사절은 절이기 때문에 반드시 주어와 동사가 있어야 합니다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즉 부사절 접속사 다음에 주어와 동사가 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반면 전치사 다음에는 명사구가 옵니다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접속사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 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명사구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1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3"/>
              </a:rPr>
              <a:t> 전치사란 무엇인가</a:t>
            </a:r>
            <a:r>
              <a:rPr lang="en-US" altLang="ko-KR" sz="11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3"/>
              </a:rPr>
              <a:t>?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 postponed our picnic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because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it was raining.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우리는 비가 와서 피크닉을 연기했다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접속사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(because)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(it)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(was raining)</a:t>
            </a:r>
          </a:p>
          <a:p>
            <a:pPr algn="l">
              <a:lnSpc>
                <a:spcPct val="150000"/>
              </a:lnSpc>
            </a:pPr>
            <a:endParaRPr lang="en-US" altLang="ko-KR" sz="11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We postponed our picnic </a:t>
            </a:r>
            <a:r>
              <a:rPr lang="en-US" altLang="ko-KR" sz="11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because of</a:t>
            </a:r>
            <a:r>
              <a:rPr lang="ko-KR" altLang="en-US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1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rain.</a:t>
            </a:r>
            <a:r>
              <a:rPr lang="ko-KR" altLang="en-US" sz="11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우리는 비 때문에 피크닉을 연기했다</a:t>
            </a:r>
            <a:r>
              <a:rPr lang="en-US" altLang="ko-KR" sz="11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(because of) + </a:t>
            </a:r>
            <a:r>
              <a:rPr lang="ko-KR" altLang="en-US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명사구</a:t>
            </a:r>
            <a:r>
              <a:rPr lang="en-US" altLang="ko-KR" sz="11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rain)</a:t>
            </a:r>
          </a:p>
          <a:p>
            <a:pPr algn="l">
              <a:lnSpc>
                <a:spcPct val="150000"/>
              </a:lnSpc>
            </a:pPr>
            <a:endParaRPr lang="ko-KR" altLang="en-US" sz="11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5453425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부사절을 이끄는 종속접속사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부사절 접속사와 전치사의 구분</a:t>
            </a: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28246466-80C3-2F0B-76FE-7AF5B524D6FB}"/>
              </a:ext>
            </a:extLst>
          </p:cNvPr>
          <p:cNvSpPr txBox="1"/>
          <p:nvPr/>
        </p:nvSpPr>
        <p:spPr>
          <a:xfrm>
            <a:off x="258381" y="1436102"/>
            <a:ext cx="8638073" cy="3529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still didn't pass the exam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although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she studied very hard.</a:t>
            </a:r>
            <a:b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She still didn't pass the exam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though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she studied very hard.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열심히 공부했지만 여전히 시험에 통과하지 못했다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(although, though)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(studied)</a:t>
            </a:r>
          </a:p>
          <a:p>
            <a:pPr algn="l">
              <a:lnSpc>
                <a:spcPct val="150000"/>
              </a:lnSpc>
            </a:pPr>
            <a:endParaRPr lang="en-US" altLang="ko-KR" sz="1000" b="1" i="0" dirty="0">
              <a:solidFill>
                <a:srgbClr val="8B451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Despite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the fact that she studied very hard, she still didn't pass the exam.</a:t>
            </a:r>
            <a:b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In spite of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the fact that she studied very hard, she still didn't pass the exam.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그녀는 열심히 공부했음에도 불구하고 여전히 시험에 통과하지 못했다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(Despite, In spite of)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(the fact)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the fact = that she studied very hard(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동격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, </a:t>
            </a:r>
            <a:r>
              <a:rPr lang="ko-KR" altLang="en-US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3"/>
              </a:rPr>
              <a:t> 명사절을 이끄는 접속사 </a:t>
            </a:r>
            <a:r>
              <a:rPr lang="en-US" altLang="ko-KR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3"/>
              </a:rPr>
              <a:t>that, if, whether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)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enjoyed watching football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while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I ate pizza.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피자를 먹으면서 축구를 보는 것을 즐겼다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sym typeface="Symbol" panose="05050102010706020507" pitchFamily="18" charset="2"/>
              </a:rPr>
              <a:t>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(while)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(ate)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654321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I enjoyed watching football </a:t>
            </a: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during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eating pizza.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나는 피자를 먹으면서 축구를 보는 것을 즐겼다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전치사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(during) 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명사 상당어구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(eating)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4"/>
              </a:rPr>
              <a:t>명사 상당어구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178550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A2F1B8D8-9AEE-4761-AD61-084941AB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3.1 Grammar: </a:t>
            </a:r>
            <a:r>
              <a:rPr lang="ko-KR" altLang="en-US" dirty="0">
                <a:latin typeface="+mj-ea"/>
                <a:ea typeface="+mj-ea"/>
              </a:rPr>
              <a:t>부사절을 이끄는 종속접속사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81A2501-43D9-7DC9-F4B9-8032D0FAED17}"/>
              </a:ext>
            </a:extLst>
          </p:cNvPr>
          <p:cNvSpPr/>
          <p:nvPr/>
        </p:nvSpPr>
        <p:spPr>
          <a:xfrm>
            <a:off x="247545" y="1128621"/>
            <a:ext cx="8664066" cy="307777"/>
          </a:xfrm>
          <a:prstGeom prst="rect">
            <a:avLst/>
          </a:prstGeom>
          <a:solidFill>
            <a:srgbClr val="FDDCA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부사절 접속사 특수 구문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(</a:t>
            </a:r>
            <a:r>
              <a:rPr lang="ko-KR" altLang="en-US" b="1" dirty="0">
                <a:solidFill>
                  <a:schemeClr val="accent5">
                    <a:lumMod val="50000"/>
                  </a:schemeClr>
                </a:solidFill>
              </a:rPr>
              <a:t>분사구문</a:t>
            </a:r>
            <a:r>
              <a:rPr lang="en-US" altLang="ko-KR" b="1" dirty="0">
                <a:solidFill>
                  <a:schemeClr val="accent5">
                    <a:lumMod val="50000"/>
                  </a:schemeClr>
                </a:solidFill>
              </a:rPr>
              <a:t>)</a:t>
            </a:r>
            <a:endParaRPr lang="ko-KR" altLang="en-US" b="1" dirty="0">
              <a:solidFill>
                <a:schemeClr val="accent5">
                  <a:lumMod val="50000"/>
                </a:schemeClr>
              </a:solidFill>
            </a:endParaRPr>
          </a:p>
        </p:txBody>
      </p:sp>
      <p:sp>
        <p:nvSpPr>
          <p:cNvPr id="8" name="Google Shape;1750;p54">
            <a:extLst>
              <a:ext uri="{FF2B5EF4-FFF2-40B4-BE49-F238E27FC236}">
                <a16:creationId xmlns:a16="http://schemas.microsoft.com/office/drawing/2014/main" id="{5EFC9552-1E21-4B17-A336-736421E0D8BC}"/>
              </a:ext>
            </a:extLst>
          </p:cNvPr>
          <p:cNvSpPr/>
          <p:nvPr/>
        </p:nvSpPr>
        <p:spPr>
          <a:xfrm>
            <a:off x="8343693" y="377904"/>
            <a:ext cx="639505" cy="63950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88D052A-0B33-4569-9CAF-1A06647A2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1271" y="466303"/>
            <a:ext cx="444348" cy="44434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BF094F4-BA30-ABDB-C66B-6221FEA4E316}"/>
              </a:ext>
            </a:extLst>
          </p:cNvPr>
          <p:cNvSpPr txBox="1"/>
          <p:nvPr/>
        </p:nvSpPr>
        <p:spPr>
          <a:xfrm>
            <a:off x="258381" y="1464022"/>
            <a:ext cx="8638073" cy="30680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부사절을 축약해서 부사구로 만든 것을 분사구문이라고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000" b="0" i="0" u="none" strike="noStrike" dirty="0">
                <a:solidFill>
                  <a:srgbClr val="3366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  <a:hlinkClick r:id="rId3"/>
              </a:rPr>
              <a:t> 분사구문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When I arrived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home, I saw a box on my porch.</a:t>
            </a:r>
            <a:b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</a:b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Arriving</a:t>
            </a:r>
            <a:r>
              <a:rPr lang="ko-KR" altLang="en-US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home, I saw a box on my porch.</a:t>
            </a:r>
            <a:r>
              <a:rPr lang="ko-KR" altLang="en-US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집에 도착했을 때 현관에 있는 상자를 보았다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When I arrived home =</a:t>
            </a:r>
            <a:r>
              <a:rPr lang="ko-KR" altLang="en-US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Arriving home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(When)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와 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(I)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생략 후 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(arrived)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현재분사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(Arriving)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변경</a:t>
            </a:r>
          </a:p>
          <a:p>
            <a:pPr algn="l">
              <a:lnSpc>
                <a:spcPct val="150000"/>
              </a:lnSpc>
            </a:pP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보통 접속사와 주어를 모두 생략하지만 접속사를 남겨두는 경우도 있습니다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그럼 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접속사 </a:t>
            </a:r>
            <a:r>
              <a:rPr lang="en-US" altLang="ko-KR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000" b="1" i="0" dirty="0">
                <a:solidFill>
                  <a:srgbClr val="2B394A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분사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패턴이 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</a:p>
          <a:p>
            <a:pPr algn="l">
              <a:lnSpc>
                <a:spcPct val="150000"/>
              </a:lnSpc>
            </a:pPr>
            <a:r>
              <a:rPr lang="en-US" altLang="ko-KR" sz="1000" b="1" i="0" dirty="0">
                <a:solidFill>
                  <a:srgbClr val="8B451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While</a:t>
            </a:r>
            <a:r>
              <a:rPr lang="en-US" altLang="ko-KR" sz="1000" b="0" i="0" dirty="0">
                <a:solidFill>
                  <a:srgbClr val="654321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playing tennis, she felt a slight pain in her shoulder.</a:t>
            </a:r>
            <a:r>
              <a:rPr lang="en-US" altLang="ko-KR" sz="1000" dirty="0">
                <a:solidFill>
                  <a:srgbClr val="333333"/>
                </a:solidFill>
                <a:latin typeface="Calibri" panose="020F0502020204030204" pitchFamily="34" charset="0"/>
                <a:ea typeface="맑은 고딕" panose="020B0503020000020004" pitchFamily="50" charset="-127"/>
              </a:rPr>
              <a:t>  </a:t>
            </a:r>
            <a:r>
              <a:rPr lang="ko-KR" altLang="en-US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테니스를 하는 중에 그녀는 어깨에 약간의 통증을 느꼈다</a:t>
            </a:r>
            <a:r>
              <a:rPr lang="en-US" altLang="ko-KR" sz="1000" b="0" i="0" dirty="0">
                <a:solidFill>
                  <a:srgbClr val="999999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</a:t>
            </a:r>
            <a:endParaRPr lang="ko-KR" altLang="en-US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While she played tennis =</a:t>
            </a:r>
            <a:r>
              <a:rPr lang="en-US" altLang="ko-KR" sz="1000" b="1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 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While playing tennis</a:t>
            </a: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부사절 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(While)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는 남겨두고 주어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(she)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생략 후 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(played)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를 현재분사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(playing)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로 변경</a:t>
            </a:r>
            <a:endParaRPr lang="en-US" altLang="ko-KR" sz="1000" b="0" i="0" dirty="0">
              <a:solidFill>
                <a:srgbClr val="333333"/>
              </a:solidFill>
              <a:effectLst/>
              <a:latin typeface="Calibri" panose="020F0502020204030204" pitchFamily="34" charset="0"/>
              <a:ea typeface="맑은 고딕" panose="020B0503020000020004" pitchFamily="50" charset="-127"/>
            </a:endParaRPr>
          </a:p>
          <a:p>
            <a:pPr marL="171450" indent="-171450" algn="l">
              <a:lnSpc>
                <a:spcPct val="150000"/>
              </a:lnSpc>
              <a:buFont typeface="Symbol" panose="05050102010706020507" pitchFamily="18" charset="2"/>
              <a:buChar char="®"/>
            </a:pP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이런 경우는 부사절 접속사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(While)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다음에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[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주어 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+ 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동사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]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아닌 분사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(playing)</a:t>
            </a:r>
            <a:r>
              <a:rPr lang="ko-KR" altLang="en-US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가 바로 온다는 점에 유의해야 합니다</a:t>
            </a:r>
            <a:r>
              <a:rPr lang="en-US" altLang="ko-KR" sz="1000" b="0" i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맑은 고딕" panose="020B0503020000020004" pitchFamily="50" charset="-127"/>
              </a:rPr>
              <a:t>. </a:t>
            </a:r>
          </a:p>
        </p:txBody>
      </p:sp>
      <p:pic>
        <p:nvPicPr>
          <p:cNvPr id="12" name="그림 11">
            <a:hlinkClick r:id="rId4"/>
            <a:extLst>
              <a:ext uri="{FF2B5EF4-FFF2-40B4-BE49-F238E27FC236}">
                <a16:creationId xmlns:a16="http://schemas.microsoft.com/office/drawing/2014/main" id="{25820F63-2CEC-2C03-ED2C-DECD91B9076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2362" y="4680967"/>
            <a:ext cx="1511939" cy="4389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E68B3972-0D78-DBBF-E715-AB4CAFECBF0F}"/>
              </a:ext>
            </a:extLst>
          </p:cNvPr>
          <p:cNvSpPr txBox="1"/>
          <p:nvPr/>
        </p:nvSpPr>
        <p:spPr>
          <a:xfrm>
            <a:off x="5933129" y="4861035"/>
            <a:ext cx="314606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800" dirty="0"/>
              <a:t>https://www.englishcube.net/grammar_exam.php?category2=147</a:t>
            </a:r>
          </a:p>
        </p:txBody>
      </p:sp>
    </p:spTree>
    <p:extLst>
      <p:ext uri="{BB962C8B-B14F-4D97-AF65-F5344CB8AC3E}">
        <p14:creationId xmlns:p14="http://schemas.microsoft.com/office/powerpoint/2010/main" val="3223973744"/>
      </p:ext>
    </p:extLst>
  </p:cSld>
  <p:clrMapOvr>
    <a:masterClrMapping/>
  </p:clrMapOvr>
</p:sld>
</file>

<file path=ppt/theme/theme1.xml><?xml version="1.0" encoding="utf-8"?>
<a:theme xmlns:a="http://schemas.openxmlformats.org/drawingml/2006/main" name="TOWN HALL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A3CAF7"/>
      </a:accent1>
      <a:accent2>
        <a:srgbClr val="EB573D"/>
      </a:accent2>
      <a:accent3>
        <a:srgbClr val="5FA4AB"/>
      </a:accent3>
      <a:accent4>
        <a:srgbClr val="051934"/>
      </a:accent4>
      <a:accent5>
        <a:srgbClr val="F8C379"/>
      </a:accent5>
      <a:accent6>
        <a:srgbClr val="FA9778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20488</TotalTime>
  <Words>2047</Words>
  <Application>Microsoft Office PowerPoint</Application>
  <PresentationFormat>화면 슬라이드 쇼(16:9)</PresentationFormat>
  <Paragraphs>250</Paragraphs>
  <Slides>20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30" baseType="lpstr">
      <vt:lpstr>맑은 고딕</vt:lpstr>
      <vt:lpstr>HY헤드라인M</vt:lpstr>
      <vt:lpstr>Righteous</vt:lpstr>
      <vt:lpstr>Tahoma</vt:lpstr>
      <vt:lpstr>Wingdings</vt:lpstr>
      <vt:lpstr>Symbol</vt:lpstr>
      <vt:lpstr>Open Sans</vt:lpstr>
      <vt:lpstr>Calibri</vt:lpstr>
      <vt:lpstr>Arial</vt:lpstr>
      <vt:lpstr>TOWN HALL BUSINESS PLAN</vt:lpstr>
      <vt:lpstr>외국어시험대체 강좌 – 시사영어 </vt:lpstr>
      <vt:lpstr>Table of Contents</vt:lpstr>
      <vt:lpstr>문화, 과학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1. Key Expressions </vt:lpstr>
      <vt:lpstr>2. Word List </vt:lpstr>
      <vt:lpstr>2. Word List </vt:lpstr>
      <vt:lpstr>2. Word List </vt:lpstr>
      <vt:lpstr>2. Word List </vt:lpstr>
      <vt:lpstr>3.1 Grammar: 부사절을 이끄는 종속접속사</vt:lpstr>
      <vt:lpstr>3.1 Grammar: 부사절을 이끄는 종속접속사</vt:lpstr>
      <vt:lpstr>3.1 Grammar: 부사절을 이끄는 종속접속사</vt:lpstr>
      <vt:lpstr>3.1 Grammar: 부사절을 이끄는 종속접속사</vt:lpstr>
      <vt:lpstr>3.1 Grammar: 부사절을 이끄는 종속접속사</vt:lpstr>
      <vt:lpstr>3.1 Grammar: 부사절을 이끄는 종속접속사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솔루션 소개 및 시연</dc:title>
  <dc:creator>Kyunghee</dc:creator>
  <cp:lastModifiedBy>user</cp:lastModifiedBy>
  <cp:revision>228</cp:revision>
  <dcterms:modified xsi:type="dcterms:W3CDTF">2024-02-14T00:17:42Z</dcterms:modified>
</cp:coreProperties>
</file>